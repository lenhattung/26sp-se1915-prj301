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embeddedFontLst>
    <p:embeddedFont>
      <p:font typeface="Calibri" panose="020F0502020204030204" pitchFamily="34" charset="0"/>
      <p:regular r:id="rId43"/>
      <p:bold r:id="rId44"/>
      <p:italic r:id="rId45"/>
      <p:boldItalic r:id="rId46"/>
    </p:embeddedFont>
    <p:embeddedFont>
      <p:font typeface="Tahoma" panose="020B0604030504040204" pitchFamily="34" charset="0"/>
      <p:regular r:id="rId47"/>
      <p:bold r:id="rId48"/>
    </p:embeddedFont>
    <p:embeddedFont>
      <p:font typeface="Libre Franklin" panose="020B0604020202020204" charset="0"/>
      <p:regular r:id="rId49"/>
      <p:bold r:id="rId50"/>
      <p:italic r:id="rId51"/>
      <p:boldItalic r:id="rId52"/>
    </p:embeddedFont>
    <p:embeddedFont>
      <p:font typeface="Libre Baskerville" panose="020B0604020202020204" charset="0"/>
      <p:regular r:id="rId53"/>
      <p:bold r:id="rId54"/>
      <p: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urX3nIvATbfAMExOCRjbhoPXc/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0BC2B2-E8F3-4348-8BA1-EDFF65460300}">
  <a:tblStyle styleId="{810BC2B2-E8F3-4348-8BA1-EDFF65460300}" styleName="Table_0">
    <a:wholeTbl>
      <a:tcTxStyle b="off" i="off">
        <a:font>
          <a:latin typeface="Perpetua"/>
          <a:ea typeface="Perpetua"/>
          <a:cs typeface="Perpetu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a:tcStyle>
        <a:tcBdr/>
        <a:fill>
          <a:solidFill>
            <a:srgbClr val="EFCECA"/>
          </a:solidFill>
        </a:fill>
      </a:tcStyle>
    </a:band1H>
    <a:band2H>
      <a:tcTxStyle/>
      <a:tcStyle>
        <a:tcBdr/>
      </a:tcStyle>
    </a:band2H>
    <a:band1V>
      <a:tcTxStyle/>
      <a:tcStyle>
        <a:tcBdr/>
        <a:fill>
          <a:solidFill>
            <a:srgbClr val="EFCECA"/>
          </a:solidFill>
        </a:fill>
      </a:tcStyle>
    </a:band1V>
    <a:band2V>
      <a:tcTxStyle/>
      <a:tcStyle>
        <a:tcBdr/>
      </a:tcStyle>
    </a:band2V>
    <a:lastCol>
      <a:tcTxStyle b="on" i="off">
        <a:font>
          <a:latin typeface="Perpetua"/>
          <a:ea typeface="Perpetua"/>
          <a:cs typeface="Perpetua"/>
        </a:font>
        <a:schemeClr val="lt1"/>
      </a:tcTxStyle>
      <a:tcStyle>
        <a:tcBdr/>
        <a:fill>
          <a:solidFill>
            <a:schemeClr val="accent1"/>
          </a:solidFill>
        </a:fill>
      </a:tcStyle>
    </a:lastCol>
    <a:firstCol>
      <a:tcTxStyle b="on" i="off">
        <a:font>
          <a:latin typeface="Perpetua"/>
          <a:ea typeface="Perpetua"/>
          <a:cs typeface="Perpetua"/>
        </a:font>
        <a:schemeClr val="lt1"/>
      </a:tcTxStyle>
      <a:tcStyle>
        <a:tcBdr/>
        <a:fill>
          <a:solidFill>
            <a:schemeClr val="accent1"/>
          </a:solidFill>
        </a:fill>
      </a:tcStyle>
    </a:firstCol>
    <a:lastRow>
      <a:tcTxStyle b="on" i="off">
        <a:font>
          <a:latin typeface="Perpetua"/>
          <a:ea typeface="Perpetua"/>
          <a:cs typeface="Perpetu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Perpetua"/>
          <a:ea typeface="Perpetua"/>
          <a:cs typeface="Perpetu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68" d="100"/>
          <a:sy n="68" d="100"/>
        </p:scale>
        <p:origin x="1240"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65" name="Google Shape;265;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Proprietary: độc quyền/ giữ bản quyền</a:t>
            </a:r>
            <a:endParaRPr/>
          </a:p>
        </p:txBody>
      </p:sp>
      <p:sp>
        <p:nvSpPr>
          <p:cNvPr id="266" name="Google Shape;266;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Đang update</a:t>
            </a:r>
            <a:endParaRPr/>
          </a:p>
        </p:txBody>
      </p:sp>
      <p:sp>
        <p:nvSpPr>
          <p:cNvPr id="359" name="Google Shape;359;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update</a:t>
            </a:r>
            <a:endParaRPr/>
          </a:p>
        </p:txBody>
      </p:sp>
      <p:sp>
        <p:nvSpPr>
          <p:cNvPr id="370" name="Google Shape;370;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rotWithShape="1">
          <a:blip r:embed="rId2">
            <a:alphaModFix/>
          </a:blip>
          <a:tile tx="0" ty="0" sx="55000" sy="55000" flip="none" algn="tl"/>
        </a:blipFill>
        <a:effectLst/>
      </p:bgPr>
    </p:bg>
    <p:spTree>
      <p:nvGrpSpPr>
        <p:cNvPr id="1" name="Shape 19"/>
        <p:cNvGrpSpPr/>
        <p:nvPr/>
      </p:nvGrpSpPr>
      <p:grpSpPr>
        <a:xfrm>
          <a:off x="0" y="0"/>
          <a:ext cx="0" cy="0"/>
          <a:chOff x="0" y="0"/>
          <a:chExt cx="0" cy="0"/>
        </a:xfrm>
      </p:grpSpPr>
      <p:sp>
        <p:nvSpPr>
          <p:cNvPr id="20" name="Google Shape;20;p42"/>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1" name="Google Shape;21;p42"/>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2" name="Google Shape;22;p42"/>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a:endParaRPr/>
          </a:p>
        </p:txBody>
      </p:sp>
      <p:sp>
        <p:nvSpPr>
          <p:cNvPr id="23" name="Google Shape;23;p4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2"/>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sz="1400" b="0" i="0" u="none" strike="noStrike" cap="none">
                <a:solidFill>
                  <a:srgbClr val="FFFFFF"/>
                </a:solidFill>
                <a:latin typeface="Libre Franklin"/>
                <a:ea typeface="Libre Franklin"/>
                <a:cs typeface="Libre Franklin"/>
                <a:sym typeface="Libre Franklin"/>
              </a:defRPr>
            </a:lvl1pPr>
            <a:lvl2pPr marL="0" lvl="1" indent="0" algn="ctr">
              <a:spcBef>
                <a:spcPts val="0"/>
              </a:spcBef>
              <a:buNone/>
              <a:defRPr sz="1400" b="0" i="0" u="none" strike="noStrike" cap="none">
                <a:solidFill>
                  <a:srgbClr val="FFFFFF"/>
                </a:solidFill>
                <a:latin typeface="Libre Franklin"/>
                <a:ea typeface="Libre Franklin"/>
                <a:cs typeface="Libre Franklin"/>
                <a:sym typeface="Libre Franklin"/>
              </a:defRPr>
            </a:lvl2pPr>
            <a:lvl3pPr marL="0" lvl="2" indent="0" algn="ctr">
              <a:spcBef>
                <a:spcPts val="0"/>
              </a:spcBef>
              <a:buNone/>
              <a:defRPr sz="1400" b="0" i="0" u="none" strike="noStrike" cap="none">
                <a:solidFill>
                  <a:srgbClr val="FFFFFF"/>
                </a:solidFill>
                <a:latin typeface="Libre Franklin"/>
                <a:ea typeface="Libre Franklin"/>
                <a:cs typeface="Libre Franklin"/>
                <a:sym typeface="Libre Franklin"/>
              </a:defRPr>
            </a:lvl3pPr>
            <a:lvl4pPr marL="0" lvl="3" indent="0" algn="ctr">
              <a:spcBef>
                <a:spcPts val="0"/>
              </a:spcBef>
              <a:buNone/>
              <a:defRPr sz="1400" b="0" i="0" u="none" strike="noStrike" cap="none">
                <a:solidFill>
                  <a:srgbClr val="FFFFFF"/>
                </a:solidFill>
                <a:latin typeface="Libre Franklin"/>
                <a:ea typeface="Libre Franklin"/>
                <a:cs typeface="Libre Franklin"/>
                <a:sym typeface="Libre Franklin"/>
              </a:defRPr>
            </a:lvl4pPr>
            <a:lvl5pPr marL="0" lvl="4" indent="0" algn="ctr">
              <a:spcBef>
                <a:spcPts val="0"/>
              </a:spcBef>
              <a:buNone/>
              <a:defRPr sz="1400" b="0" i="0" u="none" strike="noStrike" cap="none">
                <a:solidFill>
                  <a:srgbClr val="FFFFFF"/>
                </a:solidFill>
                <a:latin typeface="Libre Franklin"/>
                <a:ea typeface="Libre Franklin"/>
                <a:cs typeface="Libre Franklin"/>
                <a:sym typeface="Libre Franklin"/>
              </a:defRPr>
            </a:lvl5pPr>
            <a:lvl6pPr marL="0" lvl="5" indent="0" algn="ctr">
              <a:spcBef>
                <a:spcPts val="0"/>
              </a:spcBef>
              <a:buNone/>
              <a:defRPr sz="1400" b="0" i="0" u="none" strike="noStrike" cap="none">
                <a:solidFill>
                  <a:srgbClr val="FFFFFF"/>
                </a:solidFill>
                <a:latin typeface="Libre Franklin"/>
                <a:ea typeface="Libre Franklin"/>
                <a:cs typeface="Libre Franklin"/>
                <a:sym typeface="Libre Franklin"/>
              </a:defRPr>
            </a:lvl6pPr>
            <a:lvl7pPr marL="0" lvl="6" indent="0" algn="ctr">
              <a:spcBef>
                <a:spcPts val="0"/>
              </a:spcBef>
              <a:buNone/>
              <a:defRPr sz="1400" b="0" i="0" u="none" strike="noStrike" cap="none">
                <a:solidFill>
                  <a:srgbClr val="FFFFFF"/>
                </a:solidFill>
                <a:latin typeface="Libre Franklin"/>
                <a:ea typeface="Libre Franklin"/>
                <a:cs typeface="Libre Franklin"/>
                <a:sym typeface="Libre Franklin"/>
              </a:defRPr>
            </a:lvl7pPr>
            <a:lvl8pPr marL="0" lvl="7" indent="0" algn="ctr">
              <a:spcBef>
                <a:spcPts val="0"/>
              </a:spcBef>
              <a:buNone/>
              <a:defRPr sz="1400" b="0" i="0" u="none" strike="noStrike" cap="none">
                <a:solidFill>
                  <a:srgbClr val="FFFFFF"/>
                </a:solidFill>
                <a:latin typeface="Libre Franklin"/>
                <a:ea typeface="Libre Franklin"/>
                <a:cs typeface="Libre Franklin"/>
                <a:sym typeface="Libre Franklin"/>
              </a:defRPr>
            </a:lvl8pPr>
            <a:lvl9pPr marL="0" lvl="8" indent="0" algn="ctr">
              <a:spcBef>
                <a:spcPts val="0"/>
              </a:spcBef>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26" name="Google Shape;26;p42"/>
          <p:cNvSpPr/>
          <p:nvPr/>
        </p:nvSpPr>
        <p:spPr>
          <a:xfrm>
            <a:off x="62931" y="1449303"/>
            <a:ext cx="9021537" cy="152734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7" name="Google Shape;27;p42"/>
          <p:cNvSpPr/>
          <p:nvPr/>
        </p:nvSpPr>
        <p:spPr>
          <a:xfrm>
            <a:off x="62931" y="1396720"/>
            <a:ext cx="9021537" cy="120580"/>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8" name="Google Shape;28;p42"/>
          <p:cNvSpPr/>
          <p:nvPr/>
        </p:nvSpPr>
        <p:spPr>
          <a:xfrm>
            <a:off x="62931" y="2976649"/>
            <a:ext cx="9021537" cy="11053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9" name="Google Shape;29;p42"/>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rmAutofit/>
          </a:bodyPr>
          <a:lstStyle>
            <a:lvl1pPr lvl="0" algn="ctr">
              <a:spcBef>
                <a:spcPts val="0"/>
              </a:spcBef>
              <a:spcAft>
                <a:spcPts val="0"/>
              </a:spcAft>
              <a:buClr>
                <a:srgbClr val="FFFFFF"/>
              </a:buClr>
              <a:buSzPts val="3600"/>
              <a:buFont typeface="Arial"/>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0" name="Google Shape;30;p42" descr="Java"/>
          <p:cNvPicPr preferRelativeResize="0"/>
          <p:nvPr/>
        </p:nvPicPr>
        <p:blipFill rotWithShape="1">
          <a:blip r:embed="rId3">
            <a:alphaModFix/>
          </a:blip>
          <a:srcRect/>
          <a:stretch/>
        </p:blipFill>
        <p:spPr>
          <a:xfrm>
            <a:off x="8610600" y="0"/>
            <a:ext cx="495300" cy="838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43"/>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lvl1pPr lvl="0" algn="r">
              <a:spcBef>
                <a:spcPts val="0"/>
              </a:spcBef>
              <a:spcAft>
                <a:spcPts val="0"/>
              </a:spcAft>
              <a:buClr>
                <a:srgbClr val="0000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3"/>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7" name="Google Shape;37;p4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pic>
        <p:nvPicPr>
          <p:cNvPr id="38" name="Google Shape;38;p43" descr="Java"/>
          <p:cNvPicPr preferRelativeResize="0"/>
          <p:nvPr/>
        </p:nvPicPr>
        <p:blipFill rotWithShape="1">
          <a:blip r:embed="rId2">
            <a:alphaModFix/>
          </a:blip>
          <a:srcRect/>
          <a:stretch/>
        </p:blipFill>
        <p:spPr>
          <a:xfrm>
            <a:off x="8610600" y="0"/>
            <a:ext cx="495300" cy="838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55000" sy="55000" flip="none" algn="tl"/>
        </a:blipFill>
        <a:effectLst/>
      </p:bgPr>
    </p:bg>
    <p:spTree>
      <p:nvGrpSpPr>
        <p:cNvPr id="1" name="Shape 39"/>
        <p:cNvGrpSpPr/>
        <p:nvPr/>
      </p:nvGrpSpPr>
      <p:grpSpPr>
        <a:xfrm>
          <a:off x="0" y="0"/>
          <a:ext cx="0" cy="0"/>
          <a:chOff x="0" y="0"/>
          <a:chExt cx="0" cy="0"/>
        </a:xfrm>
      </p:grpSpPr>
      <p:sp>
        <p:nvSpPr>
          <p:cNvPr id="40" name="Google Shape;40;p44"/>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1" name="Google Shape;41;p44"/>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2" name="Google Shape;42;p44"/>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rgbClr val="0000FF"/>
              </a:buClr>
              <a:buSzPts val="4000"/>
              <a:buFont typeface="Arial"/>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4"/>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2040"/>
              <a:buNone/>
              <a:defRPr sz="2400">
                <a:solidFill>
                  <a:srgbClr val="888888"/>
                </a:solidFill>
              </a:defRPr>
            </a:lvl1pPr>
            <a:lvl2pPr marL="914400" lvl="1" indent="-228600" algn="l">
              <a:spcBef>
                <a:spcPts val="370"/>
              </a:spcBef>
              <a:spcAft>
                <a:spcPts val="0"/>
              </a:spcAft>
              <a:buSzPts val="1530"/>
              <a:buNone/>
              <a:defRPr sz="1800">
                <a:solidFill>
                  <a:srgbClr val="888888"/>
                </a:solidFill>
              </a:defRPr>
            </a:lvl2pPr>
            <a:lvl3pPr marL="1371600" lvl="2" indent="-228600" algn="l">
              <a:spcBef>
                <a:spcPts val="370"/>
              </a:spcBef>
              <a:spcAft>
                <a:spcPts val="0"/>
              </a:spcAft>
              <a:buSzPts val="1360"/>
              <a:buNone/>
              <a:defRPr sz="1600">
                <a:solidFill>
                  <a:srgbClr val="888888"/>
                </a:solidFill>
              </a:defRPr>
            </a:lvl3pPr>
            <a:lvl4pPr marL="1828800" lvl="3" indent="-228600" algn="l">
              <a:spcBef>
                <a:spcPts val="370"/>
              </a:spcBef>
              <a:spcAft>
                <a:spcPts val="0"/>
              </a:spcAft>
              <a:buSzPts val="1120"/>
              <a:buNone/>
              <a:defRPr sz="1400">
                <a:solidFill>
                  <a:srgbClr val="888888"/>
                </a:solidFill>
              </a:defRPr>
            </a:lvl4pPr>
            <a:lvl5pPr marL="2286000" lvl="4" indent="-228600" algn="l">
              <a:spcBef>
                <a:spcPts val="370"/>
              </a:spcBef>
              <a:spcAft>
                <a:spcPts val="0"/>
              </a:spcAft>
              <a:buSzPts val="1400"/>
              <a:buFont typeface="Arial"/>
              <a:buNone/>
              <a:defRPr sz="1400">
                <a:solidFill>
                  <a:srgbClr val="888888"/>
                </a:solidFill>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44" name="Google Shape;44;p4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4"/>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4"/>
          <p:cNvSpPr/>
          <p:nvPr/>
        </p:nvSpPr>
        <p:spPr>
          <a:xfrm rot="10800000" flipH="1">
            <a:off x="69412" y="2376830"/>
            <a:ext cx="9013515"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7" name="Google Shape;47;p44"/>
          <p:cNvSpPr/>
          <p:nvPr/>
        </p:nvSpPr>
        <p:spPr>
          <a:xfrm>
            <a:off x="69146" y="2341475"/>
            <a:ext cx="9013781"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8" name="Google Shape;48;p44"/>
          <p:cNvSpPr/>
          <p:nvPr/>
        </p:nvSpPr>
        <p:spPr>
          <a:xfrm>
            <a:off x="68306" y="2468880"/>
            <a:ext cx="9014621" cy="4572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9" name="Google Shape;49;p44"/>
          <p:cNvSpPr>
            <a:spLocks noGrp="1"/>
          </p:cNvSpPr>
          <p:nvPr>
            <p:ph type="sldNum" idx="12"/>
          </p:nvPr>
        </p:nvSpPr>
        <p:spPr>
          <a:xfrm>
            <a:off x="146304" y="6208776"/>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pic>
        <p:nvPicPr>
          <p:cNvPr id="50" name="Google Shape;50;p44" descr="Java"/>
          <p:cNvPicPr preferRelativeResize="0"/>
          <p:nvPr/>
        </p:nvPicPr>
        <p:blipFill rotWithShape="1">
          <a:blip r:embed="rId3">
            <a:alphaModFix/>
          </a:blip>
          <a:srcRect/>
          <a:stretch/>
        </p:blipFill>
        <p:spPr>
          <a:xfrm>
            <a:off x="8610600" y="0"/>
            <a:ext cx="495300" cy="838200"/>
          </a:xfrm>
          <a:prstGeom prst="rect">
            <a:avLst/>
          </a:prstGeom>
          <a:noFill/>
          <a:ln>
            <a:noFill/>
          </a:ln>
        </p:spPr>
      </p:pic>
      <p:pic>
        <p:nvPicPr>
          <p:cNvPr id="51" name="Google Shape;51;p44"/>
          <p:cNvPicPr preferRelativeResize="0"/>
          <p:nvPr/>
        </p:nvPicPr>
        <p:blipFill rotWithShape="1">
          <a:blip r:embed="rId4">
            <a:alphaModFix/>
          </a:blip>
          <a:srcRect/>
          <a:stretch/>
        </p:blipFill>
        <p:spPr>
          <a:xfrm>
            <a:off x="0" y="0"/>
            <a:ext cx="2133600" cy="5905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2"/>
        <p:cNvGrpSpPr/>
        <p:nvPr/>
      </p:nvGrpSpPr>
      <p:grpSpPr>
        <a:xfrm>
          <a:off x="0" y="0"/>
          <a:ext cx="0" cy="0"/>
          <a:chOff x="0" y="0"/>
          <a:chExt cx="0" cy="0"/>
        </a:xfrm>
      </p:grpSpPr>
      <p:sp>
        <p:nvSpPr>
          <p:cNvPr id="53" name="Google Shape;53;p45"/>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lvl1pPr lvl="0" algn="r">
              <a:spcBef>
                <a:spcPts val="0"/>
              </a:spcBef>
              <a:spcAft>
                <a:spcPts val="0"/>
              </a:spcAft>
              <a:buClr>
                <a:srgbClr val="0000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4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5"/>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57" name="Google Shape;57;p45"/>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8" name="Google Shape;58;p45"/>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pic>
        <p:nvPicPr>
          <p:cNvPr id="59" name="Google Shape;59;p45" descr="Java"/>
          <p:cNvPicPr preferRelativeResize="0"/>
          <p:nvPr/>
        </p:nvPicPr>
        <p:blipFill rotWithShape="1">
          <a:blip r:embed="rId2">
            <a:alphaModFix/>
          </a:blip>
          <a:srcRect/>
          <a:stretch/>
        </p:blipFill>
        <p:spPr>
          <a:xfrm>
            <a:off x="8610600" y="0"/>
            <a:ext cx="495300" cy="8382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0"/>
        <p:cNvGrpSpPr/>
        <p:nvPr/>
      </p:nvGrpSpPr>
      <p:grpSpPr>
        <a:xfrm>
          <a:off x="0" y="0"/>
          <a:ext cx="0" cy="0"/>
          <a:chOff x="0" y="0"/>
          <a:chExt cx="0" cy="0"/>
        </a:xfrm>
      </p:grpSpPr>
      <p:sp>
        <p:nvSpPr>
          <p:cNvPr id="61" name="Google Shape;61;p46"/>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r">
              <a:spcBef>
                <a:spcPts val="0"/>
              </a:spcBef>
              <a:spcAft>
                <a:spcPts val="0"/>
              </a:spcAft>
              <a:buClr>
                <a:srgbClr val="0000FF"/>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46"/>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Arial"/>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3" name="Google Shape;63;p46"/>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Arial"/>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4" name="Google Shape;64;p4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6"/>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67" name="Google Shape;67;p46"/>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8" name="Google Shape;68;p46"/>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9"/>
        <p:cNvGrpSpPr/>
        <p:nvPr/>
      </p:nvGrpSpPr>
      <p:grpSpPr>
        <a:xfrm>
          <a:off x="0" y="0"/>
          <a:ext cx="0" cy="0"/>
          <a:chOff x="0" y="0"/>
          <a:chExt cx="0" cy="0"/>
        </a:xfrm>
      </p:grpSpPr>
      <p:sp>
        <p:nvSpPr>
          <p:cNvPr id="70" name="Google Shape;70;p47"/>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lvl1pPr lvl="0" algn="r">
              <a:spcBef>
                <a:spcPts val="0"/>
              </a:spcBef>
              <a:spcAft>
                <a:spcPts val="0"/>
              </a:spcAft>
              <a:buClr>
                <a:srgbClr val="0000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4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7"/>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4"/>
        <p:cNvGrpSpPr/>
        <p:nvPr/>
      </p:nvGrpSpPr>
      <p:grpSpPr>
        <a:xfrm>
          <a:off x="0" y="0"/>
          <a:ext cx="0" cy="0"/>
          <a:chOff x="0" y="0"/>
          <a:chExt cx="0" cy="0"/>
        </a:xfrm>
      </p:grpSpPr>
      <p:sp>
        <p:nvSpPr>
          <p:cNvPr id="75" name="Google Shape;75;p4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8"/>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49"/>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0" name="Google Shape;80;p49"/>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1" name="Google Shape;81;p49"/>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rgbClr val="0000FF"/>
              </a:buClr>
              <a:buSzPts val="4000"/>
              <a:buFont typeface="Arial"/>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49"/>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530"/>
              <a:buNone/>
              <a:defRPr sz="1800"/>
            </a:lvl1pPr>
            <a:lvl2pPr marL="914400" lvl="1" indent="-228600" algn="l">
              <a:spcBef>
                <a:spcPts val="370"/>
              </a:spcBef>
              <a:spcAft>
                <a:spcPts val="0"/>
              </a:spcAft>
              <a:buSzPts val="1020"/>
              <a:buNone/>
              <a:defRPr sz="1200"/>
            </a:lvl2pPr>
            <a:lvl3pPr marL="1371600" lvl="2" indent="-228600" algn="l">
              <a:spcBef>
                <a:spcPts val="370"/>
              </a:spcBef>
              <a:spcAft>
                <a:spcPts val="0"/>
              </a:spcAft>
              <a:buSzPts val="850"/>
              <a:buNone/>
              <a:defRPr sz="1000"/>
            </a:lvl3pPr>
            <a:lvl4pPr marL="1828800" lvl="3" indent="-228600" algn="l">
              <a:spcBef>
                <a:spcPts val="370"/>
              </a:spcBef>
              <a:spcAft>
                <a:spcPts val="0"/>
              </a:spcAft>
              <a:buSzPts val="720"/>
              <a:buNone/>
              <a:defRPr sz="900"/>
            </a:lvl4pPr>
            <a:lvl5pPr marL="2286000" lvl="4" indent="-228600" algn="l">
              <a:spcBef>
                <a:spcPts val="370"/>
              </a:spcBef>
              <a:spcAft>
                <a:spcPts val="0"/>
              </a:spcAft>
              <a:buSzPts val="900"/>
              <a:buFont typeface="Arial"/>
              <a:buNone/>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83" name="Google Shape;83;p4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49"/>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86" name="Google Shape;86;p49"/>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pic>
        <p:nvPicPr>
          <p:cNvPr id="87" name="Google Shape;87;p49"/>
          <p:cNvPicPr preferRelativeResize="0"/>
          <p:nvPr/>
        </p:nvPicPr>
        <p:blipFill rotWithShape="1">
          <a:blip r:embed="rId2">
            <a:alphaModFix/>
          </a:blip>
          <a:srcRect/>
          <a:stretch/>
        </p:blipFill>
        <p:spPr>
          <a:xfrm>
            <a:off x="0" y="0"/>
            <a:ext cx="2133600" cy="5905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8"/>
        <p:cNvGrpSpPr/>
        <p:nvPr/>
      </p:nvGrpSpPr>
      <p:grpSpPr>
        <a:xfrm>
          <a:off x="0" y="0"/>
          <a:ext cx="0" cy="0"/>
          <a:chOff x="0" y="0"/>
          <a:chExt cx="0" cy="0"/>
        </a:xfrm>
      </p:grpSpPr>
      <p:sp>
        <p:nvSpPr>
          <p:cNvPr id="89" name="Google Shape;89;p50"/>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spcBef>
                <a:spcPts val="0"/>
              </a:spcBef>
              <a:spcAft>
                <a:spcPts val="0"/>
              </a:spcAft>
              <a:buClr>
                <a:srgbClr val="0000FF"/>
              </a:buClr>
              <a:buSzPts val="2800"/>
              <a:buFont typeface="Arial"/>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50"/>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360"/>
              <a:buFont typeface="Arial"/>
              <a:buNone/>
              <a:defRPr sz="1600"/>
            </a:lvl1pPr>
            <a:lvl2pPr marL="914400" lvl="1" indent="-293369" algn="l">
              <a:spcBef>
                <a:spcPts val="370"/>
              </a:spcBef>
              <a:spcAft>
                <a:spcPts val="0"/>
              </a:spcAft>
              <a:buSzPts val="1020"/>
              <a:buChar char="⚫"/>
              <a:defRPr sz="1200"/>
            </a:lvl2pPr>
            <a:lvl3pPr marL="1371600" lvl="2" indent="-282575" algn="l">
              <a:spcBef>
                <a:spcPts val="370"/>
              </a:spcBef>
              <a:spcAft>
                <a:spcPts val="0"/>
              </a:spcAft>
              <a:buSzPts val="850"/>
              <a:buChar char="⚫"/>
              <a:defRPr sz="1000"/>
            </a:lvl3pPr>
            <a:lvl4pPr marL="1828800" lvl="3" indent="-274319" algn="l">
              <a:spcBef>
                <a:spcPts val="370"/>
              </a:spcBef>
              <a:spcAft>
                <a:spcPts val="0"/>
              </a:spcAft>
              <a:buSzPts val="720"/>
              <a:buChar char="⚫"/>
              <a:defRPr sz="900"/>
            </a:lvl4pPr>
            <a:lvl5pPr marL="2286000" lvl="4" indent="-285750" algn="l">
              <a:spcBef>
                <a:spcPts val="370"/>
              </a:spcBef>
              <a:spcAft>
                <a:spcPts val="0"/>
              </a:spcAft>
              <a:buSzPts val="900"/>
              <a:buFont typeface="Arial"/>
              <a:buChar char="o"/>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91" name="Google Shape;91;p5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0"/>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50"/>
          <p:cNvSpPr>
            <a:spLocks noGrp="1"/>
          </p:cNvSpPr>
          <p:nvPr>
            <p:ph type="sldNum" idx="12"/>
          </p:nvPr>
        </p:nvSpPr>
        <p:spPr>
          <a:xfrm>
            <a:off x="146304" y="6208776"/>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94" name="Google Shape;94;p50"/>
          <p:cNvSpPr/>
          <p:nvPr/>
        </p:nvSpPr>
        <p:spPr>
          <a:xfrm rot="10800000" flipH="1">
            <a:off x="68307" y="4683555"/>
            <a:ext cx="9006840"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95" name="Google Shape;95;p50"/>
          <p:cNvSpPr/>
          <p:nvPr/>
        </p:nvSpPr>
        <p:spPr>
          <a:xfrm>
            <a:off x="68508" y="4650474"/>
            <a:ext cx="9006639"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96" name="Google Shape;96;p50"/>
          <p:cNvSpPr/>
          <p:nvPr/>
        </p:nvSpPr>
        <p:spPr>
          <a:xfrm>
            <a:off x="68510" y="4773224"/>
            <a:ext cx="9006637" cy="4880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97" name="Google Shape;97;p50"/>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8"/>
        <p:cNvGrpSpPr/>
        <p:nvPr/>
      </p:nvGrpSpPr>
      <p:grpSpPr>
        <a:xfrm>
          <a:off x="0" y="0"/>
          <a:ext cx="0" cy="0"/>
          <a:chOff x="0" y="0"/>
          <a:chExt cx="0" cy="0"/>
        </a:xfrm>
      </p:grpSpPr>
      <p:sp>
        <p:nvSpPr>
          <p:cNvPr id="99" name="Google Shape;99;p51"/>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lvl1pPr lvl="0" algn="r">
              <a:spcBef>
                <a:spcPts val="0"/>
              </a:spcBef>
              <a:spcAft>
                <a:spcPts val="0"/>
              </a:spcAft>
              <a:buClr>
                <a:srgbClr val="0000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51"/>
          <p:cNvSpPr txBox="1">
            <a:spLocks noGrp="1"/>
          </p:cNvSpPr>
          <p:nvPr>
            <p:ph type="body" idx="1"/>
          </p:nvPr>
        </p:nvSpPr>
        <p:spPr>
          <a:xfrm rot="5400000">
            <a:off x="2247900" y="-419100"/>
            <a:ext cx="5105400" cy="77724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101" name="Google Shape;101;p5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5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51"/>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52"/>
          <p:cNvSpPr txBox="1">
            <a:spLocks noGrp="1"/>
          </p:cNvSpPr>
          <p:nvPr>
            <p:ph type="title"/>
          </p:nvPr>
        </p:nvSpPr>
        <p:spPr>
          <a:xfrm rot="5400000">
            <a:off x="4709478" y="2194564"/>
            <a:ext cx="5851525" cy="2011680"/>
          </a:xfrm>
          <a:prstGeom prst="rect">
            <a:avLst/>
          </a:prstGeom>
          <a:noFill/>
          <a:ln>
            <a:noFill/>
          </a:ln>
        </p:spPr>
        <p:txBody>
          <a:bodyPr spcFirstLastPara="1" wrap="square" lIns="91425" tIns="45700" rIns="91425" bIns="91425" anchor="b" anchorCtr="0">
            <a:normAutofit/>
          </a:bodyPr>
          <a:lstStyle>
            <a:lvl1pPr lvl="0" algn="r">
              <a:spcBef>
                <a:spcPts val="0"/>
              </a:spcBef>
              <a:spcAft>
                <a:spcPts val="0"/>
              </a:spcAft>
              <a:buClr>
                <a:srgbClr val="0000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52"/>
          <p:cNvSpPr txBox="1">
            <a:spLocks noGrp="1"/>
          </p:cNvSpPr>
          <p:nvPr>
            <p:ph type="body" idx="1"/>
          </p:nvPr>
        </p:nvSpPr>
        <p:spPr>
          <a:xfrm rot="5400000">
            <a:off x="769938" y="419103"/>
            <a:ext cx="5851525" cy="55626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107" name="Google Shape;107;p5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5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52"/>
          <p:cNvSpPr>
            <a:spLocks noGrp="1"/>
          </p:cNvSpPr>
          <p:nvPr>
            <p:ph type="sldNum" idx="12"/>
          </p:nvPr>
        </p:nvSpPr>
        <p:spPr>
          <a:xfrm>
            <a:off x="146304" y="6210300"/>
            <a:ext cx="539496"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1" name="Google Shape;11;p41"/>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2" name="Google Shape;12;p41"/>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lvl1pPr marR="0" lvl="0" algn="r" rtl="0">
              <a:spcBef>
                <a:spcPts val="0"/>
              </a:spcBef>
              <a:spcAft>
                <a:spcPts val="0"/>
              </a:spcAft>
              <a:buClr>
                <a:srgbClr val="0000FF"/>
              </a:buClr>
              <a:buSzPts val="3600"/>
              <a:buFont typeface="Arial"/>
              <a:buNone/>
              <a:defRPr sz="3600" b="1" i="0" u="none" strike="noStrike" cap="none">
                <a:solidFill>
                  <a:srgbClr val="0000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1"/>
          <p:cNvSpPr txBox="1">
            <a:spLocks noGrp="1"/>
          </p:cNvSpPr>
          <p:nvPr>
            <p:ph type="body" idx="1"/>
          </p:nvPr>
        </p:nvSpPr>
        <p:spPr>
          <a:xfrm>
            <a:off x="914400" y="914400"/>
            <a:ext cx="7772400" cy="5105400"/>
          </a:xfrm>
          <a:prstGeom prst="rect">
            <a:avLst/>
          </a:prstGeom>
          <a:noFill/>
          <a:ln>
            <a:noFill/>
          </a:ln>
        </p:spPr>
        <p:txBody>
          <a:bodyPr spcFirstLastPara="1" wrap="square" lIns="91425" tIns="45700" rIns="91425" bIns="45700" anchor="t" anchorCtr="0">
            <a:norm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Arial"/>
                <a:ea typeface="Arial"/>
                <a:cs typeface="Arial"/>
                <a:sym typeface="Arial"/>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Arial"/>
                <a:ea typeface="Arial"/>
                <a:cs typeface="Arial"/>
                <a:sym typeface="Arial"/>
              </a:defRPr>
            </a:lvl2pPr>
            <a:lvl3pPr marL="1371600" marR="0" lvl="2" indent="-336550" algn="l" rtl="0">
              <a:spcBef>
                <a:spcPts val="370"/>
              </a:spcBef>
              <a:spcAft>
                <a:spcPts val="0"/>
              </a:spcAft>
              <a:buClr>
                <a:srgbClr val="E6AFA9"/>
              </a:buClr>
              <a:buSzPts val="1700"/>
              <a:buFont typeface="Noto Sans Symbols"/>
              <a:buChar char="⚫"/>
              <a:defRPr sz="2000" b="0" i="0" u="none" strike="noStrike" cap="none">
                <a:solidFill>
                  <a:schemeClr val="dk1"/>
                </a:solidFill>
                <a:latin typeface="Arial"/>
                <a:ea typeface="Arial"/>
                <a:cs typeface="Arial"/>
                <a:sym typeface="Arial"/>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Arial"/>
                <a:ea typeface="Arial"/>
                <a:cs typeface="Arial"/>
                <a:sym typeface="Arial"/>
              </a:defRPr>
            </a:lvl4pPr>
            <a:lvl5pPr marL="2286000" marR="0" lvl="4" indent="-355600" algn="l" rtl="0">
              <a:spcBef>
                <a:spcPts val="370"/>
              </a:spcBef>
              <a:spcAft>
                <a:spcPts val="0"/>
              </a:spcAft>
              <a:buClr>
                <a:schemeClr val="accent3"/>
              </a:buClr>
              <a:buSzPts val="2000"/>
              <a:buFont typeface="Arial"/>
              <a:buChar char="o"/>
              <a:defRPr sz="2000" b="0" i="0" u="none" strike="noStrike" cap="none">
                <a:solidFill>
                  <a:schemeClr val="dk1"/>
                </a:solidFill>
                <a:latin typeface="Arial"/>
                <a:ea typeface="Arial"/>
                <a:cs typeface="Arial"/>
                <a:sym typeface="Arial"/>
              </a:defRPr>
            </a:lvl5pPr>
            <a:lvl6pPr marL="2743200" marR="0" lvl="5" indent="-342900" algn="l" rtl="0">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4" name="Google Shape;14;p4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u="none" strike="noStrike" cap="none">
                <a:solidFill>
                  <a:schemeClr val="dk2"/>
                </a:solidFill>
                <a:latin typeface="Libre Baskerville"/>
                <a:ea typeface="Libre Baskerville"/>
                <a:cs typeface="Libre Baskerville"/>
                <a:sym typeface="Libre Baskerville"/>
              </a:defRPr>
            </a:lvl1pPr>
            <a:lvl2pPr marR="0" lvl="1"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2pPr>
            <a:lvl3pPr marR="0" lvl="2"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3pPr>
            <a:lvl4pPr marR="0" lvl="3"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4pPr>
            <a:lvl5pPr marR="0" lvl="4"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5pPr>
            <a:lvl6pPr marR="0" lvl="5"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6pPr>
            <a:lvl7pPr marR="0" lvl="6"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7pPr>
            <a:lvl8pPr marR="0" lvl="7"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8pPr>
            <a:lvl9pPr marR="0" lvl="8"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5" name="Google Shape;15;p4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dk2"/>
                </a:solidFill>
                <a:latin typeface="Libre Baskerville"/>
                <a:ea typeface="Libre Baskerville"/>
                <a:cs typeface="Libre Baskerville"/>
                <a:sym typeface="Libre Baskerville"/>
              </a:defRPr>
            </a:lvl1pPr>
            <a:lvl2pPr marR="0" lvl="1"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2pPr>
            <a:lvl3pPr marR="0" lvl="2"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3pPr>
            <a:lvl4pPr marR="0" lvl="3"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4pPr>
            <a:lvl5pPr marR="0" lvl="4"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5pPr>
            <a:lvl6pPr marR="0" lvl="5"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6pPr>
            <a:lvl7pPr marR="0" lvl="6"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7pPr>
            <a:lvl8pPr marR="0" lvl="7"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8pPr>
            <a:lvl9pPr marR="0" lvl="8"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6" name="Google Shape;16;p41"/>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spcBef>
                <a:spcPts val="0"/>
              </a:spcBef>
              <a:buNone/>
              <a:defRPr sz="1400" b="0" i="0" u="none" strike="noStrike" cap="none">
                <a:solidFill>
                  <a:srgbClr val="FFFFFF"/>
                </a:solidFill>
                <a:latin typeface="Libre Franklin"/>
                <a:ea typeface="Libre Franklin"/>
                <a:cs typeface="Libre Franklin"/>
                <a:sym typeface="Libre Franklin"/>
              </a:defRPr>
            </a:lvl1pPr>
            <a:lvl2pPr marL="0" marR="0" lvl="1" indent="0" algn="ctr" rtl="0">
              <a:spcBef>
                <a:spcPts val="0"/>
              </a:spcBef>
              <a:buNone/>
              <a:defRPr sz="1400" b="0" i="0" u="none" strike="noStrike" cap="none">
                <a:solidFill>
                  <a:srgbClr val="FFFFFF"/>
                </a:solidFill>
                <a:latin typeface="Libre Franklin"/>
                <a:ea typeface="Libre Franklin"/>
                <a:cs typeface="Libre Franklin"/>
                <a:sym typeface="Libre Franklin"/>
              </a:defRPr>
            </a:lvl2pPr>
            <a:lvl3pPr marL="0" marR="0" lvl="2" indent="0" algn="ctr" rtl="0">
              <a:spcBef>
                <a:spcPts val="0"/>
              </a:spcBef>
              <a:buNone/>
              <a:defRPr sz="1400" b="0" i="0" u="none" strike="noStrike" cap="none">
                <a:solidFill>
                  <a:srgbClr val="FFFFFF"/>
                </a:solidFill>
                <a:latin typeface="Libre Franklin"/>
                <a:ea typeface="Libre Franklin"/>
                <a:cs typeface="Libre Franklin"/>
                <a:sym typeface="Libre Franklin"/>
              </a:defRPr>
            </a:lvl3pPr>
            <a:lvl4pPr marL="0" marR="0" lvl="3" indent="0" algn="ctr" rtl="0">
              <a:spcBef>
                <a:spcPts val="0"/>
              </a:spcBef>
              <a:buNone/>
              <a:defRPr sz="1400" b="0" i="0" u="none" strike="noStrike" cap="none">
                <a:solidFill>
                  <a:srgbClr val="FFFFFF"/>
                </a:solidFill>
                <a:latin typeface="Libre Franklin"/>
                <a:ea typeface="Libre Franklin"/>
                <a:cs typeface="Libre Franklin"/>
                <a:sym typeface="Libre Franklin"/>
              </a:defRPr>
            </a:lvl4pPr>
            <a:lvl5pPr marL="0" marR="0" lvl="4" indent="0" algn="ctr" rtl="0">
              <a:spcBef>
                <a:spcPts val="0"/>
              </a:spcBef>
              <a:buNone/>
              <a:defRPr sz="1400" b="0" i="0" u="none" strike="noStrike" cap="none">
                <a:solidFill>
                  <a:srgbClr val="FFFFFF"/>
                </a:solidFill>
                <a:latin typeface="Libre Franklin"/>
                <a:ea typeface="Libre Franklin"/>
                <a:cs typeface="Libre Franklin"/>
                <a:sym typeface="Libre Franklin"/>
              </a:defRPr>
            </a:lvl5pPr>
            <a:lvl6pPr marL="0" marR="0" lvl="5" indent="0" algn="ctr" rtl="0">
              <a:spcBef>
                <a:spcPts val="0"/>
              </a:spcBef>
              <a:buNone/>
              <a:defRPr sz="1400" b="0" i="0" u="none" strike="noStrike" cap="none">
                <a:solidFill>
                  <a:srgbClr val="FFFFFF"/>
                </a:solidFill>
                <a:latin typeface="Libre Franklin"/>
                <a:ea typeface="Libre Franklin"/>
                <a:cs typeface="Libre Franklin"/>
                <a:sym typeface="Libre Franklin"/>
              </a:defRPr>
            </a:lvl6pPr>
            <a:lvl7pPr marL="0" marR="0" lvl="6" indent="0" algn="ctr" rtl="0">
              <a:spcBef>
                <a:spcPts val="0"/>
              </a:spcBef>
              <a:buNone/>
              <a:defRPr sz="1400" b="0" i="0" u="none" strike="noStrike" cap="none">
                <a:solidFill>
                  <a:srgbClr val="FFFFFF"/>
                </a:solidFill>
                <a:latin typeface="Libre Franklin"/>
                <a:ea typeface="Libre Franklin"/>
                <a:cs typeface="Libre Franklin"/>
                <a:sym typeface="Libre Franklin"/>
              </a:defRPr>
            </a:lvl7pPr>
            <a:lvl8pPr marL="0" marR="0" lvl="7" indent="0" algn="ctr" rtl="0">
              <a:spcBef>
                <a:spcPts val="0"/>
              </a:spcBef>
              <a:buNone/>
              <a:defRPr sz="1400" b="0" i="0" u="none" strike="noStrike" cap="none">
                <a:solidFill>
                  <a:srgbClr val="FFFFFF"/>
                </a:solidFill>
                <a:latin typeface="Libre Franklin"/>
                <a:ea typeface="Libre Franklin"/>
                <a:cs typeface="Libre Franklin"/>
                <a:sym typeface="Libre Franklin"/>
              </a:defRPr>
            </a:lvl8pPr>
            <a:lvl9pPr marL="0" marR="0" lvl="8" indent="0" algn="ctr" rtl="0">
              <a:spcBef>
                <a:spcPts val="0"/>
              </a:spcBef>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B93F14"/>
              </a:solidFill>
            </a:endParaRPr>
          </a:p>
        </p:txBody>
      </p:sp>
      <p:pic>
        <p:nvPicPr>
          <p:cNvPr id="17" name="Google Shape;17;p41" descr="Java"/>
          <p:cNvPicPr preferRelativeResize="0"/>
          <p:nvPr/>
        </p:nvPicPr>
        <p:blipFill rotWithShape="1">
          <a:blip r:embed="rId13">
            <a:alphaModFix/>
          </a:blip>
          <a:srcRect/>
          <a:stretch/>
        </p:blipFill>
        <p:spPr>
          <a:xfrm>
            <a:off x="8610600" y="0"/>
            <a:ext cx="495300" cy="838200"/>
          </a:xfrm>
          <a:prstGeom prst="rect">
            <a:avLst/>
          </a:prstGeom>
          <a:noFill/>
          <a:ln>
            <a:noFill/>
          </a:ln>
        </p:spPr>
      </p:pic>
      <p:pic>
        <p:nvPicPr>
          <p:cNvPr id="18" name="Google Shape;18;p41"/>
          <p:cNvPicPr preferRelativeResize="0"/>
          <p:nvPr/>
        </p:nvPicPr>
        <p:blipFill rotWithShape="1">
          <a:blip r:embed="rId14">
            <a:alphaModFix/>
          </a:blip>
          <a:srcRect/>
          <a:stretch/>
        </p:blipFill>
        <p:spPr>
          <a:xfrm>
            <a:off x="0" y="0"/>
            <a:ext cx="2133600" cy="5905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13"/>
        <p:cNvGrpSpPr/>
        <p:nvPr/>
      </p:nvGrpSpPr>
      <p:grpSpPr>
        <a:xfrm>
          <a:off x="0" y="0"/>
          <a:ext cx="0" cy="0"/>
          <a:chOff x="0" y="0"/>
          <a:chExt cx="0" cy="0"/>
        </a:xfrm>
      </p:grpSpPr>
      <p:sp>
        <p:nvSpPr>
          <p:cNvPr id="114" name="Google Shape;114;p1"/>
          <p:cNvSpPr txBox="1">
            <a:spLocks noGrp="1"/>
          </p:cNvSpPr>
          <p:nvPr>
            <p:ph type="ctrTitle"/>
          </p:nvPr>
        </p:nvSpPr>
        <p:spPr>
          <a:xfrm>
            <a:off x="457200" y="1505930"/>
            <a:ext cx="8229600" cy="1470025"/>
          </a:xfrm>
          <a:prstGeom prst="rect">
            <a:avLst/>
          </a:prstGeom>
          <a:solidFill>
            <a:srgbClr val="DF695B"/>
          </a:solidFill>
          <a:ln>
            <a:noFill/>
          </a:ln>
        </p:spPr>
        <p:txBody>
          <a:bodyPr spcFirstLastPara="1" wrap="square" lIns="91425" tIns="45700" rIns="91425" bIns="91425" anchor="ctr" anchorCtr="0">
            <a:normAutofit/>
          </a:bodyPr>
          <a:lstStyle/>
          <a:p>
            <a:pPr marL="0" lvl="0" indent="0" algn="ctr" rtl="0">
              <a:spcBef>
                <a:spcPts val="0"/>
              </a:spcBef>
              <a:spcAft>
                <a:spcPts val="0"/>
              </a:spcAft>
              <a:buClr>
                <a:srgbClr val="FFFFFF"/>
              </a:buClr>
              <a:buSzPts val="3600"/>
              <a:buFont typeface="Arial"/>
              <a:buNone/>
            </a:pPr>
            <a:r>
              <a:rPr lang="en-US"/>
              <a:t>Lecture 05</a:t>
            </a:r>
            <a:br>
              <a:rPr lang="en-US"/>
            </a:br>
            <a:r>
              <a:rPr lang="en-US"/>
              <a:t>JDBC Database Access</a:t>
            </a:r>
            <a:endParaRPr/>
          </a:p>
        </p:txBody>
      </p:sp>
      <p:pic>
        <p:nvPicPr>
          <p:cNvPr id="115" name="Google Shape;115;p1" descr="Java"/>
          <p:cNvPicPr preferRelativeResize="0"/>
          <p:nvPr/>
        </p:nvPicPr>
        <p:blipFill rotWithShape="1">
          <a:blip r:embed="rId3">
            <a:alphaModFix/>
          </a:blip>
          <a:srcRect/>
          <a:stretch/>
        </p:blipFill>
        <p:spPr>
          <a:xfrm>
            <a:off x="8610600" y="0"/>
            <a:ext cx="495300" cy="838200"/>
          </a:xfrm>
          <a:prstGeom prst="rect">
            <a:avLst/>
          </a:prstGeom>
          <a:noFill/>
          <a:ln>
            <a:noFill/>
          </a:ln>
        </p:spPr>
      </p:pic>
      <p:pic>
        <p:nvPicPr>
          <p:cNvPr id="116" name="Google Shape;116;p1"/>
          <p:cNvPicPr preferRelativeResize="0"/>
          <p:nvPr/>
        </p:nvPicPr>
        <p:blipFill rotWithShape="1">
          <a:blip r:embed="rId4">
            <a:alphaModFix/>
          </a:blip>
          <a:srcRect/>
          <a:stretch/>
        </p:blipFill>
        <p:spPr>
          <a:xfrm>
            <a:off x="0" y="0"/>
            <a:ext cx="2133600" cy="590550"/>
          </a:xfrm>
          <a:prstGeom prst="rect">
            <a:avLst/>
          </a:prstGeom>
          <a:noFill/>
          <a:ln>
            <a:noFill/>
          </a:ln>
        </p:spPr>
      </p:pic>
      <p:sp>
        <p:nvSpPr>
          <p:cNvPr id="117" name="Google Shape;117;p1"/>
          <p:cNvSpPr txBox="1">
            <a:spLocks noGrp="1"/>
          </p:cNvSpPr>
          <p:nvPr>
            <p:ph type="subTitle" idx="1"/>
          </p:nvPr>
        </p:nvSpPr>
        <p:spPr>
          <a:xfrm>
            <a:off x="533400" y="3200400"/>
            <a:ext cx="8382000" cy="19812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SzPct val="85000"/>
              <a:buNone/>
            </a:pPr>
            <a:r>
              <a:rPr lang="en-US" sz="2800" b="1">
                <a:solidFill>
                  <a:srgbClr val="008000"/>
                </a:solidFill>
              </a:rPr>
              <a:t>JDBC- Java Database Connectivity</a:t>
            </a:r>
            <a:endParaRPr/>
          </a:p>
          <a:p>
            <a:pPr marL="0" lvl="0" indent="0" algn="l" rtl="0">
              <a:spcBef>
                <a:spcPts val="580"/>
              </a:spcBef>
              <a:spcAft>
                <a:spcPts val="0"/>
              </a:spcAft>
              <a:buSzPct val="85000"/>
              <a:buNone/>
            </a:pPr>
            <a:r>
              <a:rPr lang="en-US" sz="2800" b="1">
                <a:solidFill>
                  <a:srgbClr val="008000"/>
                </a:solidFill>
              </a:rPr>
              <a:t>                           ( 5 slots)</a:t>
            </a:r>
            <a:endParaRPr/>
          </a:p>
          <a:p>
            <a:pPr marL="0" lvl="0" indent="0" algn="l" rtl="0">
              <a:spcBef>
                <a:spcPts val="580"/>
              </a:spcBef>
              <a:spcAft>
                <a:spcPts val="0"/>
              </a:spcAft>
              <a:buSzPct val="85000"/>
              <a:buNone/>
            </a:pPr>
            <a:endParaRPr sz="2800" b="1">
              <a:solidFill>
                <a:srgbClr val="008000"/>
              </a:solidFill>
            </a:endParaRPr>
          </a:p>
          <a:p>
            <a:pPr marL="0" lvl="0" indent="0" algn="l" rtl="0">
              <a:spcBef>
                <a:spcPts val="580"/>
              </a:spcBef>
              <a:spcAft>
                <a:spcPts val="0"/>
              </a:spcAft>
              <a:buSzPct val="85000"/>
              <a:buNone/>
            </a:pPr>
            <a:r>
              <a:rPr lang="en-US" sz="2800" b="1">
                <a:solidFill>
                  <a:srgbClr val="008000"/>
                </a:solidFill>
              </a:rPr>
              <a:t>References:</a:t>
            </a:r>
            <a:endParaRPr/>
          </a:p>
          <a:p>
            <a:pPr marL="681038" lvl="0" indent="-94456" algn="l" rtl="0">
              <a:spcBef>
                <a:spcPts val="580"/>
              </a:spcBef>
              <a:spcAft>
                <a:spcPts val="0"/>
              </a:spcAft>
              <a:buSzPct val="85000"/>
              <a:buFont typeface="Arial"/>
              <a:buChar char="•"/>
            </a:pPr>
            <a:r>
              <a:rPr lang="en-US" sz="2800" b="1">
                <a:solidFill>
                  <a:srgbClr val="008000"/>
                </a:solidFill>
              </a:rPr>
              <a:t> https://docs.oracle.com/javase/tutorial/jdbc/basics/index.html Java Documentation, the java.sql package</a:t>
            </a:r>
            <a:endParaRPr/>
          </a:p>
          <a:p>
            <a:pPr marL="0" lvl="0" indent="0" algn="ctr" rtl="0">
              <a:spcBef>
                <a:spcPts val="580"/>
              </a:spcBef>
              <a:spcAft>
                <a:spcPts val="0"/>
              </a:spcAft>
              <a:buSzPct val="850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1"/>
        <p:cNvGrpSpPr/>
        <p:nvPr/>
      </p:nvGrpSpPr>
      <p:grpSpPr>
        <a:xfrm>
          <a:off x="0" y="0"/>
          <a:ext cx="0" cy="0"/>
          <a:chOff x="0" y="0"/>
          <a:chExt cx="0" cy="0"/>
        </a:xfrm>
      </p:grpSpPr>
      <p:sp>
        <p:nvSpPr>
          <p:cNvPr id="122" name="Google Shape;122;p2"/>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fontScale="90000"/>
          </a:bodyPr>
          <a:lstStyle/>
          <a:p>
            <a:pPr marL="0" lvl="0" indent="0" algn="r" rtl="0">
              <a:spcBef>
                <a:spcPts val="0"/>
              </a:spcBef>
              <a:spcAft>
                <a:spcPts val="0"/>
              </a:spcAft>
              <a:buClr>
                <a:srgbClr val="0000FF"/>
              </a:buClr>
              <a:buSzPct val="100000"/>
              <a:buFont typeface="Arial"/>
              <a:buNone/>
            </a:pPr>
            <a:r>
              <a:rPr lang="en-US"/>
              <a:t>Why should you study this lecture?</a:t>
            </a:r>
            <a:endParaRPr/>
          </a:p>
        </p:txBody>
      </p:sp>
      <p:sp>
        <p:nvSpPr>
          <p:cNvPr id="123" name="Google Shape;123;p2"/>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210"/>
              <a:buChar char="⚫"/>
            </a:pPr>
            <a:r>
              <a:rPr lang="en-US"/>
              <a:t>In almost all large applications. Data are organized and stored in databases which are managed by database management systems (DBMS) such as MS Access, MS SQL Server, Oracle, My SQL,…</a:t>
            </a:r>
            <a:endParaRPr/>
          </a:p>
          <a:p>
            <a:pPr marL="274320" lvl="0" indent="-274320" algn="l" rtl="0">
              <a:spcBef>
                <a:spcPts val="580"/>
              </a:spcBef>
              <a:spcAft>
                <a:spcPts val="0"/>
              </a:spcAft>
              <a:buSzPts val="2210"/>
              <a:buChar char="⚫"/>
            </a:pPr>
            <a:r>
              <a:rPr lang="en-US"/>
              <a:t>Do you want to create Java applications which can connect to DBMSs?</a:t>
            </a:r>
            <a:endParaRPr/>
          </a:p>
          <a:p>
            <a:pPr marL="274320" lvl="0" indent="-274320" algn="l" rtl="0">
              <a:spcBef>
                <a:spcPts val="580"/>
              </a:spcBef>
              <a:spcAft>
                <a:spcPts val="0"/>
              </a:spcAft>
              <a:buSzPts val="2210"/>
              <a:buChar char="⚫"/>
            </a:pPr>
            <a:r>
              <a:rPr lang="en-US"/>
              <a:t>Database programming is a skill which can not be missed for programmers.</a:t>
            </a:r>
            <a:endParaRPr/>
          </a:p>
        </p:txBody>
      </p:sp>
      <p:pic>
        <p:nvPicPr>
          <p:cNvPr id="124" name="Google Shape;124;p2" descr="Java"/>
          <p:cNvPicPr preferRelativeResize="0"/>
          <p:nvPr/>
        </p:nvPicPr>
        <p:blipFill rotWithShape="1">
          <a:blip r:embed="rId3">
            <a:alphaModFix/>
          </a:blip>
          <a:srcRect/>
          <a:stretch/>
        </p:blipFill>
        <p:spPr>
          <a:xfrm>
            <a:off x="8610600" y="0"/>
            <a:ext cx="495300" cy="838200"/>
          </a:xfrm>
          <a:prstGeom prst="rect">
            <a:avLst/>
          </a:prstGeom>
          <a:noFill/>
          <a:ln>
            <a:noFill/>
          </a:ln>
        </p:spPr>
      </p:pic>
      <p:pic>
        <p:nvPicPr>
          <p:cNvPr id="125" name="Google Shape;125;p2"/>
          <p:cNvPicPr preferRelativeResize="0"/>
          <p:nvPr/>
        </p:nvPicPr>
        <p:blipFill rotWithShape="1">
          <a:blip r:embed="rId4">
            <a:alphaModFix/>
          </a:blip>
          <a:srcRect/>
          <a:stretch/>
        </p:blipFill>
        <p:spPr>
          <a:xfrm>
            <a:off x="0" y="0"/>
            <a:ext cx="2133600" cy="590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Objectives</a:t>
            </a:r>
            <a:endParaRPr/>
          </a:p>
        </p:txBody>
      </p:sp>
      <p:sp>
        <p:nvSpPr>
          <p:cNvPr id="131" name="Google Shape;131;p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210"/>
              <a:buChar char="⚫"/>
            </a:pPr>
            <a:r>
              <a:rPr lang="en-US">
                <a:latin typeface="Arial"/>
                <a:ea typeface="Arial"/>
                <a:cs typeface="Arial"/>
                <a:sym typeface="Arial"/>
              </a:rPr>
              <a:t>Introduction to databases</a:t>
            </a:r>
            <a:endParaRPr/>
          </a:p>
          <a:p>
            <a:pPr marL="274320" lvl="0" indent="-274320" algn="l" rtl="0">
              <a:spcBef>
                <a:spcPts val="580"/>
              </a:spcBef>
              <a:spcAft>
                <a:spcPts val="0"/>
              </a:spcAft>
              <a:buSzPts val="2210"/>
              <a:buChar char="⚫"/>
            </a:pPr>
            <a:r>
              <a:rPr lang="en-US">
                <a:latin typeface="Arial"/>
                <a:ea typeface="Arial"/>
                <a:cs typeface="Arial"/>
                <a:sym typeface="Arial"/>
              </a:rPr>
              <a:t>Relational Database Overview</a:t>
            </a:r>
            <a:endParaRPr/>
          </a:p>
          <a:p>
            <a:pPr marL="274320" lvl="0" indent="-274320" algn="l" rtl="0">
              <a:spcBef>
                <a:spcPts val="580"/>
              </a:spcBef>
              <a:spcAft>
                <a:spcPts val="0"/>
              </a:spcAft>
              <a:buSzPts val="2210"/>
              <a:buChar char="⚫"/>
            </a:pPr>
            <a:r>
              <a:rPr lang="en-US">
                <a:latin typeface="Arial"/>
                <a:ea typeface="Arial"/>
                <a:cs typeface="Arial"/>
                <a:sym typeface="Arial"/>
              </a:rPr>
              <a:t>JDBC and JDBC Drivers</a:t>
            </a:r>
            <a:endParaRPr/>
          </a:p>
          <a:p>
            <a:pPr marL="274320" lvl="0" indent="-274320" algn="l" rtl="0">
              <a:spcBef>
                <a:spcPts val="580"/>
              </a:spcBef>
              <a:spcAft>
                <a:spcPts val="0"/>
              </a:spcAft>
              <a:buSzPts val="2210"/>
              <a:buChar char="⚫"/>
            </a:pPr>
            <a:r>
              <a:rPr lang="en-US">
                <a:latin typeface="Arial"/>
                <a:ea typeface="Arial"/>
                <a:cs typeface="Arial"/>
                <a:sym typeface="Arial"/>
              </a:rPr>
              <a:t>Steps to develop a JDBC application.</a:t>
            </a:r>
            <a:endParaRPr/>
          </a:p>
          <a:p>
            <a:pPr marL="274320" lvl="0" indent="-274320" algn="l" rtl="0">
              <a:spcBef>
                <a:spcPts val="580"/>
              </a:spcBef>
              <a:spcAft>
                <a:spcPts val="0"/>
              </a:spcAft>
              <a:buSzPts val="2210"/>
              <a:buChar char="⚫"/>
            </a:pPr>
            <a:r>
              <a:rPr lang="en-US">
                <a:latin typeface="Arial"/>
                <a:ea typeface="Arial"/>
                <a:cs typeface="Arial"/>
                <a:sym typeface="Arial"/>
              </a:rPr>
              <a:t>Demonstrations</a:t>
            </a:r>
            <a:r>
              <a:rPr lang="en-US">
                <a:solidFill>
                  <a:srgbClr val="0000FF"/>
                </a:solidFill>
                <a:latin typeface="Arial"/>
                <a:ea typeface="Arial"/>
                <a:cs typeface="Arial"/>
                <a:sym typeface="Arial"/>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4"/>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Contents</a:t>
            </a:r>
            <a:endParaRPr/>
          </a:p>
        </p:txBody>
      </p:sp>
      <p:sp>
        <p:nvSpPr>
          <p:cNvPr id="137" name="Google Shape;137;p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210"/>
              <a:buFont typeface="Arial"/>
              <a:buNone/>
            </a:pPr>
            <a:r>
              <a:rPr lang="en-US">
                <a:latin typeface="Arial"/>
                <a:ea typeface="Arial"/>
                <a:cs typeface="Arial"/>
                <a:sym typeface="Arial"/>
              </a:rPr>
              <a:t>1- Database and DBMS</a:t>
            </a:r>
            <a:endParaRPr/>
          </a:p>
          <a:p>
            <a:pPr marL="274320" lvl="0" indent="-274320" algn="l" rtl="0">
              <a:spcBef>
                <a:spcPts val="580"/>
              </a:spcBef>
              <a:spcAft>
                <a:spcPts val="0"/>
              </a:spcAft>
              <a:buSzPts val="2210"/>
              <a:buFont typeface="Arial"/>
              <a:buNone/>
            </a:pPr>
            <a:r>
              <a:rPr lang="en-US">
                <a:latin typeface="Arial"/>
                <a:ea typeface="Arial"/>
                <a:cs typeface="Arial"/>
                <a:sym typeface="Arial"/>
              </a:rPr>
              <a:t>2- Relational Database Overview</a:t>
            </a:r>
            <a:endParaRPr/>
          </a:p>
          <a:p>
            <a:pPr marL="274320" lvl="0" indent="-274320" algn="l" rtl="0">
              <a:spcBef>
                <a:spcPts val="580"/>
              </a:spcBef>
              <a:spcAft>
                <a:spcPts val="0"/>
              </a:spcAft>
              <a:buSzPts val="2210"/>
              <a:buFont typeface="Arial"/>
              <a:buNone/>
            </a:pPr>
            <a:r>
              <a:rPr lang="en-US">
                <a:latin typeface="Arial"/>
                <a:ea typeface="Arial"/>
                <a:cs typeface="Arial"/>
                <a:sym typeface="Arial"/>
              </a:rPr>
              <a:t>3- JDBC and JDBC Drivers</a:t>
            </a:r>
            <a:endParaRPr/>
          </a:p>
          <a:p>
            <a:pPr marL="274320" lvl="0" indent="-274320" algn="l" rtl="0">
              <a:spcBef>
                <a:spcPts val="580"/>
              </a:spcBef>
              <a:spcAft>
                <a:spcPts val="0"/>
              </a:spcAft>
              <a:buSzPts val="2210"/>
              <a:buFont typeface="Arial"/>
              <a:buNone/>
            </a:pPr>
            <a:r>
              <a:rPr lang="en-US">
                <a:latin typeface="Arial"/>
                <a:ea typeface="Arial"/>
                <a:cs typeface="Arial"/>
                <a:sym typeface="Arial"/>
              </a:rPr>
              <a:t>4- Steps to develop a JDBC Application</a:t>
            </a:r>
            <a:endParaRPr/>
          </a:p>
          <a:p>
            <a:pPr marL="274320" lvl="0" indent="-274320" algn="l" rtl="0">
              <a:spcBef>
                <a:spcPts val="580"/>
              </a:spcBef>
              <a:spcAft>
                <a:spcPts val="0"/>
              </a:spcAft>
              <a:buSzPts val="2210"/>
              <a:buFont typeface="Arial"/>
              <a:buNone/>
            </a:pPr>
            <a:r>
              <a:rPr lang="en-US">
                <a:latin typeface="Arial"/>
                <a:ea typeface="Arial"/>
                <a:cs typeface="Arial"/>
                <a:sym typeface="Arial"/>
              </a:rPr>
              <a:t>5- A Demonstration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5"/>
          <p:cNvSpPr txBox="1">
            <a:spLocks noGrp="1"/>
          </p:cNvSpPr>
          <p:nvPr>
            <p:ph type="title"/>
          </p:nvPr>
        </p:nvSpPr>
        <p:spPr>
          <a:xfrm>
            <a:off x="914400" y="0"/>
            <a:ext cx="7696200" cy="1066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1- Database and DBMS</a:t>
            </a:r>
            <a:endParaRPr/>
          </a:p>
        </p:txBody>
      </p:sp>
      <p:sp>
        <p:nvSpPr>
          <p:cNvPr id="143" name="Google Shape;143;p5"/>
          <p:cNvSpPr txBox="1">
            <a:spLocks noGrp="1"/>
          </p:cNvSpPr>
          <p:nvPr>
            <p:ph type="body" idx="1"/>
          </p:nvPr>
        </p:nvSpPr>
        <p:spPr>
          <a:xfrm>
            <a:off x="457200" y="1143000"/>
            <a:ext cx="8229600" cy="525780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85000"/>
              <a:buChar char="⚫"/>
            </a:pPr>
            <a:r>
              <a:rPr lang="en-US" sz="2800" b="1" u="sng">
                <a:solidFill>
                  <a:srgbClr val="0000FF"/>
                </a:solidFill>
                <a:latin typeface="Arial"/>
                <a:ea typeface="Arial"/>
                <a:cs typeface="Arial"/>
                <a:sym typeface="Arial"/>
              </a:rPr>
              <a:t>Database</a:t>
            </a:r>
            <a:r>
              <a:rPr lang="en-US" sz="2800">
                <a:latin typeface="Arial"/>
                <a:ea typeface="Arial"/>
                <a:cs typeface="Arial"/>
                <a:sym typeface="Arial"/>
              </a:rPr>
              <a:t> is a collection of related data which are stored in secondary mass storage and are used by some processes concurrently.</a:t>
            </a:r>
            <a:endParaRPr/>
          </a:p>
          <a:p>
            <a:pPr marL="274320" lvl="0" indent="-274320" algn="l" rtl="0">
              <a:spcBef>
                <a:spcPts val="580"/>
              </a:spcBef>
              <a:spcAft>
                <a:spcPts val="0"/>
              </a:spcAft>
              <a:buSzPct val="85000"/>
              <a:buChar char="⚫"/>
            </a:pPr>
            <a:r>
              <a:rPr lang="en-US" sz="2800">
                <a:latin typeface="Arial"/>
                <a:ea typeface="Arial"/>
                <a:cs typeface="Arial"/>
                <a:sym typeface="Arial"/>
              </a:rPr>
              <a:t>Databases are organized in some ways in order to reduce redundancies.</a:t>
            </a:r>
            <a:endParaRPr/>
          </a:p>
          <a:p>
            <a:pPr marL="274320" lvl="0" indent="-274320" algn="l" rtl="0">
              <a:spcBef>
                <a:spcPts val="580"/>
              </a:spcBef>
              <a:spcAft>
                <a:spcPts val="0"/>
              </a:spcAft>
              <a:buSzPct val="85000"/>
              <a:buChar char="⚫"/>
            </a:pPr>
            <a:r>
              <a:rPr lang="en-US" sz="2800" b="1" u="sng">
                <a:solidFill>
                  <a:srgbClr val="0000FF"/>
                </a:solidFill>
                <a:latin typeface="Arial"/>
                <a:ea typeface="Arial"/>
                <a:cs typeface="Arial"/>
                <a:sym typeface="Arial"/>
              </a:rPr>
              <a:t>DBMS</a:t>
            </a:r>
            <a:r>
              <a:rPr lang="en-US" sz="2800">
                <a:latin typeface="Arial"/>
                <a:ea typeface="Arial"/>
                <a:cs typeface="Arial"/>
                <a:sym typeface="Arial"/>
              </a:rPr>
              <a:t>: Database management system is a software which manages some databases. It supports ways to users/processes for creating, updating, manipulating on databases and security mechanisms are supported also. </a:t>
            </a:r>
            <a:endParaRPr/>
          </a:p>
          <a:p>
            <a:pPr marL="274320" lvl="0" indent="-274320" algn="l" rtl="0">
              <a:spcBef>
                <a:spcPts val="580"/>
              </a:spcBef>
              <a:spcAft>
                <a:spcPts val="0"/>
              </a:spcAft>
              <a:buSzPct val="85000"/>
              <a:buChar char="⚫"/>
            </a:pPr>
            <a:r>
              <a:rPr lang="en-US" sz="2800">
                <a:latin typeface="Arial"/>
                <a:ea typeface="Arial"/>
                <a:cs typeface="Arial"/>
                <a:sym typeface="Arial"/>
              </a:rPr>
              <a:t>DBMS libraries (C/C++ codes are usually used) support APIs for user programs to manipulate databases.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6"/>
          <p:cNvSpPr txBox="1">
            <a:spLocks noGrp="1"/>
          </p:cNvSpPr>
          <p:nvPr>
            <p:ph type="title"/>
          </p:nvPr>
        </p:nvSpPr>
        <p:spPr>
          <a:xfrm>
            <a:off x="609600" y="152400"/>
            <a:ext cx="8077200" cy="7620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2- Relational Database Overview</a:t>
            </a:r>
            <a:endParaRPr/>
          </a:p>
        </p:txBody>
      </p:sp>
      <p:sp>
        <p:nvSpPr>
          <p:cNvPr id="149" name="Google Shape;149;p6"/>
          <p:cNvSpPr txBox="1">
            <a:spLocks noGrp="1"/>
          </p:cNvSpPr>
          <p:nvPr>
            <p:ph type="body" idx="1"/>
          </p:nvPr>
        </p:nvSpPr>
        <p:spPr>
          <a:xfrm>
            <a:off x="914400" y="1143000"/>
            <a:ext cx="7772400" cy="327660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85000"/>
              <a:buChar char="⚫"/>
            </a:pPr>
            <a:r>
              <a:rPr lang="en-US" sz="2800">
                <a:latin typeface="Arial"/>
                <a:ea typeface="Arial"/>
                <a:cs typeface="Arial"/>
                <a:sym typeface="Arial"/>
              </a:rPr>
              <a:t>Common databases are designed and implemented based on relational algebra (set theory).</a:t>
            </a:r>
            <a:endParaRPr/>
          </a:p>
          <a:p>
            <a:pPr marL="274320" lvl="0" indent="-274320" algn="l" rtl="0">
              <a:spcBef>
                <a:spcPts val="580"/>
              </a:spcBef>
              <a:spcAft>
                <a:spcPts val="0"/>
              </a:spcAft>
              <a:buSzPct val="85000"/>
              <a:buChar char="⚫"/>
            </a:pPr>
            <a:r>
              <a:rPr lang="en-US" sz="2800">
                <a:latin typeface="Arial"/>
                <a:ea typeface="Arial"/>
                <a:cs typeface="Arial"/>
                <a:sym typeface="Arial"/>
              </a:rPr>
              <a:t>Relational database is one that presents information in tables with rows and columns.</a:t>
            </a:r>
            <a:endParaRPr/>
          </a:p>
          <a:p>
            <a:pPr marL="274320" lvl="0" indent="-274320" algn="l" rtl="0">
              <a:spcBef>
                <a:spcPts val="580"/>
              </a:spcBef>
              <a:spcAft>
                <a:spcPts val="0"/>
              </a:spcAft>
              <a:buSzPct val="85000"/>
              <a:buChar char="⚫"/>
            </a:pPr>
            <a:r>
              <a:rPr lang="en-US" sz="2800">
                <a:latin typeface="Arial"/>
                <a:ea typeface="Arial"/>
                <a:cs typeface="Arial"/>
                <a:sym typeface="Arial"/>
              </a:rPr>
              <a:t>A table is referred to as a relation in the sense that it is a collection of objects of the same type (rows). </a:t>
            </a:r>
            <a:endParaRPr/>
          </a:p>
          <a:p>
            <a:pPr marL="274320" lvl="0" indent="-274320" algn="l" rtl="0">
              <a:spcBef>
                <a:spcPts val="580"/>
              </a:spcBef>
              <a:spcAft>
                <a:spcPts val="0"/>
              </a:spcAft>
              <a:buSzPct val="85000"/>
              <a:buChar char="⚫"/>
            </a:pPr>
            <a:r>
              <a:rPr lang="en-US" sz="2800">
                <a:latin typeface="Arial"/>
                <a:ea typeface="Arial"/>
                <a:cs typeface="Arial"/>
                <a:sym typeface="Arial"/>
              </a:rPr>
              <a:t>A Relational Database Management System (RDBMS)- such as MS Access, MS SQL Server, Oracle- handles the way data is stored, maintained, and retrieved.</a:t>
            </a:r>
            <a:endParaRPr/>
          </a:p>
        </p:txBody>
      </p:sp>
      <p:pic>
        <p:nvPicPr>
          <p:cNvPr id="150" name="Google Shape;150;p6"/>
          <p:cNvPicPr preferRelativeResize="0"/>
          <p:nvPr/>
        </p:nvPicPr>
        <p:blipFill rotWithShape="1">
          <a:blip r:embed="rId3">
            <a:alphaModFix/>
          </a:blip>
          <a:srcRect/>
          <a:stretch/>
        </p:blipFill>
        <p:spPr>
          <a:xfrm>
            <a:off x="1504950" y="4505325"/>
            <a:ext cx="6115050" cy="2200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7"/>
          <p:cNvPicPr preferRelativeResize="0"/>
          <p:nvPr/>
        </p:nvPicPr>
        <p:blipFill rotWithShape="1">
          <a:blip r:embed="rId3">
            <a:alphaModFix/>
          </a:blip>
          <a:srcRect/>
          <a:stretch/>
        </p:blipFill>
        <p:spPr>
          <a:xfrm>
            <a:off x="76200" y="2667000"/>
            <a:ext cx="6115050" cy="2200275"/>
          </a:xfrm>
          <a:prstGeom prst="rect">
            <a:avLst/>
          </a:prstGeom>
          <a:noFill/>
          <a:ln>
            <a:noFill/>
          </a:ln>
        </p:spPr>
      </p:pic>
      <p:sp>
        <p:nvSpPr>
          <p:cNvPr id="156" name="Google Shape;156;p7"/>
          <p:cNvSpPr txBox="1">
            <a:spLocks noGrp="1"/>
          </p:cNvSpPr>
          <p:nvPr>
            <p:ph type="title"/>
          </p:nvPr>
        </p:nvSpPr>
        <p:spPr>
          <a:xfrm>
            <a:off x="228600" y="76200"/>
            <a:ext cx="8229600" cy="1066800"/>
          </a:xfrm>
          <a:prstGeom prst="rect">
            <a:avLst/>
          </a:prstGeom>
          <a:noFill/>
          <a:ln>
            <a:noFill/>
          </a:ln>
        </p:spPr>
        <p:txBody>
          <a:bodyPr spcFirstLastPara="1" wrap="square" lIns="91425" tIns="45700" rIns="91425" bIns="91425" anchor="b" anchorCtr="0">
            <a:normAutofit fontScale="90000"/>
          </a:bodyPr>
          <a:lstStyle/>
          <a:p>
            <a:pPr marL="0" lvl="0" indent="0" algn="r" rtl="0">
              <a:spcBef>
                <a:spcPts val="0"/>
              </a:spcBef>
              <a:spcAft>
                <a:spcPts val="0"/>
              </a:spcAft>
              <a:buClr>
                <a:srgbClr val="0000FF"/>
              </a:buClr>
              <a:buSzPct val="100000"/>
              <a:buFont typeface="Arial"/>
              <a:buNone/>
            </a:pPr>
            <a:r>
              <a:rPr lang="en-US" sz="2800">
                <a:latin typeface="Arial"/>
                <a:ea typeface="Arial"/>
                <a:cs typeface="Arial"/>
                <a:sym typeface="Arial"/>
              </a:rPr>
              <a:t>RDBMS: </a:t>
            </a:r>
            <a:br>
              <a:rPr lang="en-US" sz="2800">
                <a:latin typeface="Arial"/>
                <a:ea typeface="Arial"/>
                <a:cs typeface="Arial"/>
                <a:sym typeface="Arial"/>
              </a:rPr>
            </a:br>
            <a:r>
              <a:rPr lang="en-US">
                <a:latin typeface="Arial"/>
                <a:ea typeface="Arial"/>
                <a:cs typeface="Arial"/>
                <a:sym typeface="Arial"/>
              </a:rPr>
              <a:t>Structure Query Language (SQL)</a:t>
            </a:r>
            <a:endParaRPr/>
          </a:p>
        </p:txBody>
      </p:sp>
      <p:sp>
        <p:nvSpPr>
          <p:cNvPr id="157" name="Google Shape;157;p7"/>
          <p:cNvSpPr/>
          <p:nvPr/>
        </p:nvSpPr>
        <p:spPr>
          <a:xfrm>
            <a:off x="76200" y="1295400"/>
            <a:ext cx="3505200" cy="914400"/>
          </a:xfrm>
          <a:prstGeom prst="rect">
            <a:avLst/>
          </a:prstGeom>
          <a:solidFill>
            <a:srgbClr val="EADEDA"/>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i="0" u="sng" strike="noStrike" cap="none">
                <a:solidFill>
                  <a:srgbClr val="FF0000"/>
                </a:solidFill>
                <a:latin typeface="Libre Baskerville"/>
                <a:ea typeface="Libre Baskerville"/>
                <a:cs typeface="Libre Baskerville"/>
                <a:sym typeface="Libre Baskerville"/>
              </a:rPr>
              <a:t>D</a:t>
            </a:r>
            <a:r>
              <a:rPr lang="en-US" sz="1800" b="1" i="0" u="sng" strike="noStrike" cap="none">
                <a:solidFill>
                  <a:schemeClr val="dk1"/>
                </a:solidFill>
                <a:latin typeface="Libre Baskerville"/>
                <a:ea typeface="Libre Baskerville"/>
                <a:cs typeface="Libre Baskerville"/>
                <a:sym typeface="Libre Baskerville"/>
              </a:rPr>
              <a:t>ata </a:t>
            </a:r>
            <a:r>
              <a:rPr lang="en-US" sz="1800" b="1" i="0" u="sng" strike="noStrike" cap="none">
                <a:solidFill>
                  <a:srgbClr val="FF0000"/>
                </a:solidFill>
                <a:latin typeface="Libre Baskerville"/>
                <a:ea typeface="Libre Baskerville"/>
                <a:cs typeface="Libre Baskerville"/>
                <a:sym typeface="Libre Baskerville"/>
              </a:rPr>
              <a:t>D</a:t>
            </a:r>
            <a:r>
              <a:rPr lang="en-US" sz="1800" b="1" i="0" u="sng" strike="noStrike" cap="none">
                <a:solidFill>
                  <a:schemeClr val="dk1"/>
                </a:solidFill>
                <a:latin typeface="Libre Baskerville"/>
                <a:ea typeface="Libre Baskerville"/>
                <a:cs typeface="Libre Baskerville"/>
                <a:sym typeface="Libre Baskerville"/>
              </a:rPr>
              <a:t>efinition </a:t>
            </a:r>
            <a:r>
              <a:rPr lang="en-US" sz="1800" b="1" i="0" u="sng" strike="noStrike" cap="none">
                <a:solidFill>
                  <a:srgbClr val="FF0000"/>
                </a:solidFill>
                <a:latin typeface="Libre Baskerville"/>
                <a:ea typeface="Libre Baskerville"/>
                <a:cs typeface="Libre Baskerville"/>
                <a:sym typeface="Libre Baskerville"/>
              </a:rPr>
              <a:t>L</a:t>
            </a:r>
            <a:r>
              <a:rPr lang="en-US" sz="1800" b="1" i="0" u="sng" strike="noStrike" cap="none">
                <a:solidFill>
                  <a:schemeClr val="dk1"/>
                </a:solidFill>
                <a:latin typeface="Libre Baskerville"/>
                <a:ea typeface="Libre Baskerville"/>
                <a:cs typeface="Libre Baskerville"/>
                <a:sym typeface="Libre Baskerville"/>
              </a:rPr>
              <a:t>anguage (DDL):</a:t>
            </a:r>
            <a:r>
              <a:rPr lang="en-US" sz="1800" b="0" i="0" u="none" strike="noStrike" cap="none">
                <a:solidFill>
                  <a:schemeClr val="dk1"/>
                </a:solidFill>
                <a:latin typeface="Libre Baskerville"/>
                <a:ea typeface="Libre Baskerville"/>
                <a:cs typeface="Libre Baskerville"/>
                <a:sym typeface="Libre Baskerville"/>
              </a:rPr>
              <a:t>  </a:t>
            </a:r>
            <a:endParaRPr sz="1800" b="0" i="0" u="none" strike="noStrike" cap="none">
              <a:solidFill>
                <a:schemeClr val="dk1"/>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US" sz="1800" b="0" i="0" u="none" strike="noStrike" cap="none">
                <a:solidFill>
                  <a:schemeClr val="dk1"/>
                </a:solidFill>
                <a:latin typeface="Libre Baskerville"/>
                <a:ea typeface="Libre Baskerville"/>
                <a:cs typeface="Libre Baskerville"/>
                <a:sym typeface="Libre Baskerville"/>
              </a:rPr>
              <a:t>CREATE…/ ALTER…/ DROP…</a:t>
            </a:r>
            <a:endParaRPr sz="1800" b="1" i="0" u="sng" strike="noStrike" cap="none">
              <a:solidFill>
                <a:schemeClr val="dk1"/>
              </a:solidFill>
              <a:latin typeface="Libre Baskerville"/>
              <a:ea typeface="Libre Baskerville"/>
              <a:cs typeface="Libre Baskerville"/>
              <a:sym typeface="Libre Baskerville"/>
            </a:endParaRPr>
          </a:p>
        </p:txBody>
      </p:sp>
      <p:sp>
        <p:nvSpPr>
          <p:cNvPr id="158" name="Google Shape;158;p7"/>
          <p:cNvSpPr/>
          <p:nvPr/>
        </p:nvSpPr>
        <p:spPr>
          <a:xfrm>
            <a:off x="6172200" y="3429000"/>
            <a:ext cx="2971800" cy="1143000"/>
          </a:xfrm>
          <a:prstGeom prst="rect">
            <a:avLst/>
          </a:prstGeom>
          <a:solidFill>
            <a:srgbClr val="EADEDA"/>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i="0" u="sng" strike="noStrike" cap="none">
                <a:solidFill>
                  <a:srgbClr val="FF0000"/>
                </a:solidFill>
                <a:latin typeface="Libre Baskerville"/>
                <a:ea typeface="Libre Baskerville"/>
                <a:cs typeface="Libre Baskerville"/>
                <a:sym typeface="Libre Baskerville"/>
              </a:rPr>
              <a:t>D</a:t>
            </a:r>
            <a:r>
              <a:rPr lang="en-US" sz="1800" b="1" i="0" u="sng" strike="noStrike" cap="none">
                <a:solidFill>
                  <a:schemeClr val="dk1"/>
                </a:solidFill>
                <a:latin typeface="Libre Baskerville"/>
                <a:ea typeface="Libre Baskerville"/>
                <a:cs typeface="Libre Baskerville"/>
                <a:sym typeface="Libre Baskerville"/>
              </a:rPr>
              <a:t>ata </a:t>
            </a:r>
            <a:r>
              <a:rPr lang="en-US" sz="1800" b="1" i="0" u="sng" strike="noStrike" cap="none">
                <a:solidFill>
                  <a:srgbClr val="FF0000"/>
                </a:solidFill>
                <a:latin typeface="Libre Baskerville"/>
                <a:ea typeface="Libre Baskerville"/>
                <a:cs typeface="Libre Baskerville"/>
                <a:sym typeface="Libre Baskerville"/>
              </a:rPr>
              <a:t>M</a:t>
            </a:r>
            <a:r>
              <a:rPr lang="en-US" sz="1800" b="1" i="0" u="sng" strike="noStrike" cap="none">
                <a:solidFill>
                  <a:schemeClr val="dk1"/>
                </a:solidFill>
                <a:latin typeface="Libre Baskerville"/>
                <a:ea typeface="Libre Baskerville"/>
                <a:cs typeface="Libre Baskerville"/>
                <a:sym typeface="Libre Baskerville"/>
              </a:rPr>
              <a:t>anipulating </a:t>
            </a:r>
            <a:r>
              <a:rPr lang="en-US" sz="1800" b="1" i="0" u="sng" strike="noStrike" cap="none">
                <a:solidFill>
                  <a:srgbClr val="FF0000"/>
                </a:solidFill>
                <a:latin typeface="Libre Baskerville"/>
                <a:ea typeface="Libre Baskerville"/>
                <a:cs typeface="Libre Baskerville"/>
                <a:sym typeface="Libre Baskerville"/>
              </a:rPr>
              <a:t>L</a:t>
            </a:r>
            <a:r>
              <a:rPr lang="en-US" sz="1800" b="1" i="0" u="sng" strike="noStrike" cap="none">
                <a:solidFill>
                  <a:schemeClr val="dk1"/>
                </a:solidFill>
                <a:latin typeface="Libre Baskerville"/>
                <a:ea typeface="Libre Baskerville"/>
                <a:cs typeface="Libre Baskerville"/>
                <a:sym typeface="Libre Baskerville"/>
              </a:rPr>
              <a:t>anguage (DML):</a:t>
            </a:r>
            <a:r>
              <a:rPr lang="en-US" sz="1800" b="0" i="0" u="none" strike="noStrike" cap="none">
                <a:solidFill>
                  <a:schemeClr val="dk1"/>
                </a:solidFill>
                <a:latin typeface="Libre Baskerville"/>
                <a:ea typeface="Libre Baskerville"/>
                <a:cs typeface="Libre Baskerville"/>
                <a:sym typeface="Libre Baskerville"/>
              </a:rPr>
              <a:t>  </a:t>
            </a:r>
            <a:endParaRPr sz="1800" b="0" i="0" u="none" strike="noStrike" cap="none">
              <a:solidFill>
                <a:schemeClr val="dk1"/>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US" sz="1800" b="0" i="0" u="none" strike="noStrike" cap="none">
                <a:solidFill>
                  <a:schemeClr val="dk1"/>
                </a:solidFill>
                <a:latin typeface="Libre Baskerville"/>
                <a:ea typeface="Libre Baskerville"/>
                <a:cs typeface="Libre Baskerville"/>
                <a:sym typeface="Libre Baskerville"/>
              </a:rPr>
              <a:t>SELECT…/  INSERT INTO … / UPDATE … / DELETE</a:t>
            </a:r>
            <a:endParaRPr sz="1800" b="1" i="0" u="sng" strike="noStrike" cap="none">
              <a:solidFill>
                <a:schemeClr val="dk1"/>
              </a:solidFill>
              <a:latin typeface="Libre Baskerville"/>
              <a:ea typeface="Libre Baskerville"/>
              <a:cs typeface="Libre Baskerville"/>
              <a:sym typeface="Libre Baskerville"/>
            </a:endParaRPr>
          </a:p>
        </p:txBody>
      </p:sp>
      <p:sp>
        <p:nvSpPr>
          <p:cNvPr id="159" name="Google Shape;159;p7"/>
          <p:cNvSpPr/>
          <p:nvPr/>
        </p:nvSpPr>
        <p:spPr>
          <a:xfrm>
            <a:off x="1219200" y="5334000"/>
            <a:ext cx="4343400" cy="838200"/>
          </a:xfrm>
          <a:prstGeom prst="rect">
            <a:avLst/>
          </a:prstGeom>
          <a:solidFill>
            <a:srgbClr val="EADEDA"/>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i="0" u="sng" strike="noStrike" cap="none">
                <a:solidFill>
                  <a:srgbClr val="FF0000"/>
                </a:solidFill>
                <a:latin typeface="Libre Baskerville"/>
                <a:ea typeface="Libre Baskerville"/>
                <a:cs typeface="Libre Baskerville"/>
                <a:sym typeface="Libre Baskerville"/>
              </a:rPr>
              <a:t>D</a:t>
            </a:r>
            <a:r>
              <a:rPr lang="en-US" sz="1800" b="1" i="0" u="sng" strike="noStrike" cap="none">
                <a:solidFill>
                  <a:schemeClr val="dk1"/>
                </a:solidFill>
                <a:latin typeface="Libre Baskerville"/>
                <a:ea typeface="Libre Baskerville"/>
                <a:cs typeface="Libre Baskerville"/>
                <a:sym typeface="Libre Baskerville"/>
              </a:rPr>
              <a:t>ata </a:t>
            </a:r>
            <a:r>
              <a:rPr lang="en-US" sz="1800" b="1" i="0" u="sng" strike="noStrike" cap="none">
                <a:solidFill>
                  <a:srgbClr val="FF0000"/>
                </a:solidFill>
                <a:latin typeface="Libre Baskerville"/>
                <a:ea typeface="Libre Baskerville"/>
                <a:cs typeface="Libre Baskerville"/>
                <a:sym typeface="Libre Baskerville"/>
              </a:rPr>
              <a:t>C</a:t>
            </a:r>
            <a:r>
              <a:rPr lang="en-US" sz="1800" b="1" i="0" u="sng" strike="noStrike" cap="none">
                <a:solidFill>
                  <a:schemeClr val="dk1"/>
                </a:solidFill>
                <a:latin typeface="Libre Baskerville"/>
                <a:ea typeface="Libre Baskerville"/>
                <a:cs typeface="Libre Baskerville"/>
                <a:sym typeface="Libre Baskerville"/>
              </a:rPr>
              <a:t>ontrol </a:t>
            </a:r>
            <a:r>
              <a:rPr lang="en-US" sz="1800" b="1" i="0" u="sng" strike="noStrike" cap="none">
                <a:solidFill>
                  <a:srgbClr val="FF0000"/>
                </a:solidFill>
                <a:latin typeface="Libre Baskerville"/>
                <a:ea typeface="Libre Baskerville"/>
                <a:cs typeface="Libre Baskerville"/>
                <a:sym typeface="Libre Baskerville"/>
              </a:rPr>
              <a:t>L</a:t>
            </a:r>
            <a:r>
              <a:rPr lang="en-US" sz="1800" b="1" i="0" u="sng" strike="noStrike" cap="none">
                <a:solidFill>
                  <a:schemeClr val="dk1"/>
                </a:solidFill>
                <a:latin typeface="Libre Baskerville"/>
                <a:ea typeface="Libre Baskerville"/>
                <a:cs typeface="Libre Baskerville"/>
                <a:sym typeface="Libre Baskerville"/>
              </a:rPr>
              <a:t>anguage (DCL):</a:t>
            </a:r>
            <a:r>
              <a:rPr lang="en-US" sz="1800" b="0" i="0" u="none" strike="noStrike" cap="none">
                <a:solidFill>
                  <a:schemeClr val="dk1"/>
                </a:solidFill>
                <a:latin typeface="Libre Baskerville"/>
                <a:ea typeface="Libre Baskerville"/>
                <a:cs typeface="Libre Baskerville"/>
                <a:sym typeface="Libre Baskerville"/>
              </a:rPr>
              <a:t>  </a:t>
            </a:r>
            <a:endParaRPr sz="1800" b="0" i="0" u="none" strike="noStrike" cap="none">
              <a:solidFill>
                <a:schemeClr val="dk1"/>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US" sz="1800" b="0" i="0" u="none" strike="noStrike" cap="none">
                <a:solidFill>
                  <a:schemeClr val="dk1"/>
                </a:solidFill>
                <a:latin typeface="Libre Baskerville"/>
                <a:ea typeface="Libre Baskerville"/>
                <a:cs typeface="Libre Baskerville"/>
                <a:sym typeface="Libre Baskerville"/>
              </a:rPr>
              <a:t>GRANT…/  REVOKE … / DENY…</a:t>
            </a:r>
            <a:endParaRPr sz="1800" b="1" i="0" u="sng" strike="noStrike" cap="none">
              <a:solidFill>
                <a:schemeClr val="dk1"/>
              </a:solidFill>
              <a:latin typeface="Libre Baskerville"/>
              <a:ea typeface="Libre Baskerville"/>
              <a:cs typeface="Libre Baskerville"/>
              <a:sym typeface="Libre Baskerville"/>
            </a:endParaRPr>
          </a:p>
        </p:txBody>
      </p:sp>
      <p:cxnSp>
        <p:nvCxnSpPr>
          <p:cNvPr id="160" name="Google Shape;160;p7"/>
          <p:cNvCxnSpPr>
            <a:stCxn id="157" idx="2"/>
          </p:cNvCxnSpPr>
          <p:nvPr/>
        </p:nvCxnSpPr>
        <p:spPr>
          <a:xfrm flipH="1">
            <a:off x="1827300" y="2209800"/>
            <a:ext cx="1500" cy="457200"/>
          </a:xfrm>
          <a:prstGeom prst="straightConnector1">
            <a:avLst/>
          </a:prstGeom>
          <a:noFill/>
          <a:ln w="38100" cap="flat" cmpd="sng">
            <a:solidFill>
              <a:srgbClr val="AE350A"/>
            </a:solidFill>
            <a:prstDash val="solid"/>
            <a:round/>
            <a:headEnd type="none" w="sm" len="sm"/>
            <a:tailEnd type="stealth" w="med" len="med"/>
          </a:ln>
        </p:spPr>
      </p:cxnSp>
      <p:cxnSp>
        <p:nvCxnSpPr>
          <p:cNvPr id="161" name="Google Shape;161;p7"/>
          <p:cNvCxnSpPr>
            <a:stCxn id="158" idx="1"/>
          </p:cNvCxnSpPr>
          <p:nvPr/>
        </p:nvCxnSpPr>
        <p:spPr>
          <a:xfrm flipH="1">
            <a:off x="5791200" y="4000500"/>
            <a:ext cx="381000" cy="114300"/>
          </a:xfrm>
          <a:prstGeom prst="straightConnector1">
            <a:avLst/>
          </a:prstGeom>
          <a:noFill/>
          <a:ln w="38100" cap="flat" cmpd="sng">
            <a:solidFill>
              <a:srgbClr val="AE350A"/>
            </a:solidFill>
            <a:prstDash val="solid"/>
            <a:round/>
            <a:headEnd type="none" w="sm" len="sm"/>
            <a:tailEnd type="stealth" w="med" len="med"/>
          </a:ln>
        </p:spPr>
      </p:cxnSp>
      <p:pic>
        <p:nvPicPr>
          <p:cNvPr id="162" name="Google Shape;162;p7"/>
          <p:cNvPicPr preferRelativeResize="0"/>
          <p:nvPr/>
        </p:nvPicPr>
        <p:blipFill rotWithShape="1">
          <a:blip r:embed="rId4">
            <a:alphaModFix/>
          </a:blip>
          <a:srcRect/>
          <a:stretch/>
        </p:blipFill>
        <p:spPr>
          <a:xfrm>
            <a:off x="5505450" y="5486400"/>
            <a:ext cx="2266950" cy="592138"/>
          </a:xfrm>
          <a:prstGeom prst="rect">
            <a:avLst/>
          </a:prstGeom>
          <a:noFill/>
          <a:ln>
            <a:noFill/>
          </a:ln>
        </p:spPr>
      </p:pic>
      <p:sp>
        <p:nvSpPr>
          <p:cNvPr id="163" name="Google Shape;163;p7"/>
          <p:cNvSpPr/>
          <p:nvPr/>
        </p:nvSpPr>
        <p:spPr>
          <a:xfrm>
            <a:off x="4876800" y="1600200"/>
            <a:ext cx="2209800" cy="6096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Libre Baskerville"/>
                <a:ea typeface="Libre Baskerville"/>
                <a:cs typeface="Libre Baskerville"/>
                <a:sym typeface="Libre Baskerville"/>
              </a:rPr>
              <a:t>3 languages:</a:t>
            </a:r>
            <a:endParaRPr sz="2800" b="1"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8"/>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2800"/>
              <a:buFont typeface="Arial"/>
              <a:buNone/>
            </a:pPr>
            <a:r>
              <a:rPr lang="en-US" sz="2800">
                <a:latin typeface="Arial"/>
                <a:ea typeface="Arial"/>
                <a:cs typeface="Arial"/>
                <a:sym typeface="Arial"/>
              </a:rPr>
              <a:t>RDBMS:  </a:t>
            </a:r>
            <a:r>
              <a:rPr lang="en-US">
                <a:latin typeface="Arial"/>
                <a:ea typeface="Arial"/>
                <a:cs typeface="Arial"/>
                <a:sym typeface="Arial"/>
              </a:rPr>
              <a:t>SQL…</a:t>
            </a:r>
            <a:endParaRPr/>
          </a:p>
        </p:txBody>
      </p:sp>
      <p:sp>
        <p:nvSpPr>
          <p:cNvPr id="169" name="Google Shape;169;p8"/>
          <p:cNvSpPr txBox="1">
            <a:spLocks noGrp="1"/>
          </p:cNvSpPr>
          <p:nvPr>
            <p:ph type="body" idx="1"/>
          </p:nvPr>
        </p:nvSpPr>
        <p:spPr>
          <a:xfrm>
            <a:off x="304800" y="1371600"/>
            <a:ext cx="8534400" cy="35052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210"/>
              <a:buChar char="⚫"/>
            </a:pPr>
            <a:r>
              <a:rPr lang="en-US" b="1" i="1">
                <a:solidFill>
                  <a:srgbClr val="0000FF"/>
                </a:solidFill>
                <a:latin typeface="Arial"/>
                <a:ea typeface="Arial"/>
                <a:cs typeface="Arial"/>
                <a:sym typeface="Arial"/>
              </a:rPr>
              <a:t>Common DML queries</a:t>
            </a:r>
            <a:r>
              <a:rPr lang="en-US">
                <a:latin typeface="Arial"/>
                <a:ea typeface="Arial"/>
                <a:cs typeface="Arial"/>
                <a:sym typeface="Arial"/>
              </a:rPr>
              <a:t>:</a:t>
            </a:r>
            <a:endParaRPr/>
          </a:p>
          <a:p>
            <a:pPr marL="548640" lvl="1" indent="-228600" algn="l" rtl="0">
              <a:spcBef>
                <a:spcPts val="370"/>
              </a:spcBef>
              <a:spcAft>
                <a:spcPts val="0"/>
              </a:spcAft>
              <a:buSzPts val="2040"/>
              <a:buNone/>
            </a:pPr>
            <a:endParaRPr>
              <a:latin typeface="Arial"/>
              <a:ea typeface="Arial"/>
              <a:cs typeface="Arial"/>
              <a:sym typeface="Arial"/>
            </a:endParaRPr>
          </a:p>
          <a:p>
            <a:pPr marL="548640" lvl="1" indent="-228600" algn="l" rtl="0">
              <a:spcBef>
                <a:spcPts val="370"/>
              </a:spcBef>
              <a:spcAft>
                <a:spcPts val="0"/>
              </a:spcAft>
              <a:buSzPts val="2040"/>
              <a:buChar char="⚫"/>
            </a:pPr>
            <a:r>
              <a:rPr lang="en-US">
                <a:solidFill>
                  <a:srgbClr val="0000FF"/>
                </a:solidFill>
                <a:latin typeface="Arial"/>
                <a:ea typeface="Arial"/>
                <a:cs typeface="Arial"/>
                <a:sym typeface="Arial"/>
              </a:rPr>
              <a:t>SELECT</a:t>
            </a:r>
            <a:r>
              <a:rPr lang="en-US">
                <a:latin typeface="Arial"/>
                <a:ea typeface="Arial"/>
                <a:cs typeface="Arial"/>
                <a:sym typeface="Arial"/>
              </a:rPr>
              <a:t> columns </a:t>
            </a:r>
            <a:r>
              <a:rPr lang="en-US">
                <a:solidFill>
                  <a:srgbClr val="0000FF"/>
                </a:solidFill>
                <a:latin typeface="Arial"/>
                <a:ea typeface="Arial"/>
                <a:cs typeface="Arial"/>
                <a:sym typeface="Arial"/>
              </a:rPr>
              <a:t>FROM</a:t>
            </a:r>
            <a:r>
              <a:rPr lang="en-US">
                <a:latin typeface="Arial"/>
                <a:ea typeface="Arial"/>
                <a:cs typeface="Arial"/>
                <a:sym typeface="Arial"/>
              </a:rPr>
              <a:t> tables </a:t>
            </a:r>
            <a:r>
              <a:rPr lang="en-US">
                <a:solidFill>
                  <a:srgbClr val="0000FF"/>
                </a:solidFill>
                <a:latin typeface="Arial"/>
                <a:ea typeface="Arial"/>
                <a:cs typeface="Arial"/>
                <a:sym typeface="Arial"/>
              </a:rPr>
              <a:t>WHERE</a:t>
            </a:r>
            <a:r>
              <a:rPr lang="en-US">
                <a:latin typeface="Arial"/>
                <a:ea typeface="Arial"/>
                <a:cs typeface="Arial"/>
                <a:sym typeface="Arial"/>
              </a:rPr>
              <a:t> condition</a:t>
            </a:r>
            <a:endParaRPr/>
          </a:p>
          <a:p>
            <a:pPr marL="548640" lvl="1" indent="-228600" algn="l" rtl="0">
              <a:spcBef>
                <a:spcPts val="370"/>
              </a:spcBef>
              <a:spcAft>
                <a:spcPts val="0"/>
              </a:spcAft>
              <a:buSzPts val="2040"/>
              <a:buChar char="⚫"/>
            </a:pPr>
            <a:r>
              <a:rPr lang="en-US">
                <a:solidFill>
                  <a:srgbClr val="0000FF"/>
                </a:solidFill>
                <a:latin typeface="Arial"/>
                <a:ea typeface="Arial"/>
                <a:cs typeface="Arial"/>
                <a:sym typeface="Arial"/>
              </a:rPr>
              <a:t>UPDATE</a:t>
            </a:r>
            <a:r>
              <a:rPr lang="en-US">
                <a:latin typeface="Arial"/>
                <a:ea typeface="Arial"/>
                <a:cs typeface="Arial"/>
                <a:sym typeface="Arial"/>
              </a:rPr>
              <a:t> table </a:t>
            </a:r>
            <a:r>
              <a:rPr lang="en-US">
                <a:solidFill>
                  <a:srgbClr val="0000FF"/>
                </a:solidFill>
                <a:latin typeface="Arial"/>
                <a:ea typeface="Arial"/>
                <a:cs typeface="Arial"/>
                <a:sym typeface="Arial"/>
              </a:rPr>
              <a:t>SET</a:t>
            </a:r>
            <a:r>
              <a:rPr lang="en-US">
                <a:latin typeface="Arial"/>
                <a:ea typeface="Arial"/>
                <a:cs typeface="Arial"/>
                <a:sym typeface="Arial"/>
              </a:rPr>
              <a:t> column=value,… </a:t>
            </a:r>
            <a:r>
              <a:rPr lang="en-US">
                <a:solidFill>
                  <a:srgbClr val="0000FF"/>
                </a:solidFill>
                <a:latin typeface="Arial"/>
                <a:ea typeface="Arial"/>
                <a:cs typeface="Arial"/>
                <a:sym typeface="Arial"/>
              </a:rPr>
              <a:t>Where</a:t>
            </a:r>
            <a:r>
              <a:rPr lang="en-US">
                <a:latin typeface="Arial"/>
                <a:ea typeface="Arial"/>
                <a:cs typeface="Arial"/>
                <a:sym typeface="Arial"/>
              </a:rPr>
              <a:t> condition</a:t>
            </a:r>
            <a:endParaRPr/>
          </a:p>
          <a:p>
            <a:pPr marL="548640" lvl="1" indent="-228600" algn="l" rtl="0">
              <a:spcBef>
                <a:spcPts val="370"/>
              </a:spcBef>
              <a:spcAft>
                <a:spcPts val="0"/>
              </a:spcAft>
              <a:buSzPts val="2040"/>
              <a:buChar char="⚫"/>
            </a:pPr>
            <a:r>
              <a:rPr lang="en-US">
                <a:solidFill>
                  <a:srgbClr val="0000FF"/>
                </a:solidFill>
                <a:latin typeface="Arial"/>
                <a:ea typeface="Arial"/>
                <a:cs typeface="Arial"/>
                <a:sym typeface="Arial"/>
              </a:rPr>
              <a:t>DELETE FROM </a:t>
            </a:r>
            <a:r>
              <a:rPr lang="en-US">
                <a:latin typeface="Arial"/>
                <a:ea typeface="Arial"/>
                <a:cs typeface="Arial"/>
                <a:sym typeface="Arial"/>
              </a:rPr>
              <a:t>table </a:t>
            </a:r>
            <a:r>
              <a:rPr lang="en-US">
                <a:solidFill>
                  <a:srgbClr val="0000FF"/>
                </a:solidFill>
                <a:latin typeface="Arial"/>
                <a:ea typeface="Arial"/>
                <a:cs typeface="Arial"/>
                <a:sym typeface="Arial"/>
              </a:rPr>
              <a:t>WHERE</a:t>
            </a:r>
            <a:r>
              <a:rPr lang="en-US">
                <a:latin typeface="Arial"/>
                <a:ea typeface="Arial"/>
                <a:cs typeface="Arial"/>
                <a:sym typeface="Arial"/>
              </a:rPr>
              <a:t> condition </a:t>
            </a:r>
            <a:endParaRPr/>
          </a:p>
          <a:p>
            <a:pPr marL="548640" lvl="1" indent="-228600" algn="l" rtl="0">
              <a:spcBef>
                <a:spcPts val="370"/>
              </a:spcBef>
              <a:spcAft>
                <a:spcPts val="0"/>
              </a:spcAft>
              <a:buSzPts val="2040"/>
              <a:buChar char="⚫"/>
            </a:pPr>
            <a:r>
              <a:rPr lang="en-US">
                <a:solidFill>
                  <a:srgbClr val="0000FF"/>
                </a:solidFill>
                <a:latin typeface="Arial"/>
                <a:ea typeface="Arial"/>
                <a:cs typeface="Arial"/>
                <a:sym typeface="Arial"/>
              </a:rPr>
              <a:t>INSERT INTO </a:t>
            </a:r>
            <a:r>
              <a:rPr lang="en-US">
                <a:latin typeface="Arial"/>
                <a:ea typeface="Arial"/>
                <a:cs typeface="Arial"/>
                <a:sym typeface="Arial"/>
              </a:rPr>
              <a:t>table </a:t>
            </a:r>
            <a:r>
              <a:rPr lang="en-US">
                <a:solidFill>
                  <a:srgbClr val="0000FF"/>
                </a:solidFill>
                <a:latin typeface="Arial"/>
                <a:ea typeface="Arial"/>
                <a:cs typeface="Arial"/>
                <a:sym typeface="Arial"/>
              </a:rPr>
              <a:t>Values</a:t>
            </a:r>
            <a:r>
              <a:rPr lang="en-US">
                <a:latin typeface="Arial"/>
                <a:ea typeface="Arial"/>
                <a:cs typeface="Arial"/>
                <a:sym typeface="Arial"/>
              </a:rPr>
              <a:t> ( val1, val2,…)</a:t>
            </a:r>
            <a:endParaRPr/>
          </a:p>
          <a:p>
            <a:pPr marL="548640" lvl="1" indent="-228600" algn="l" rtl="0">
              <a:spcBef>
                <a:spcPts val="370"/>
              </a:spcBef>
              <a:spcAft>
                <a:spcPts val="0"/>
              </a:spcAft>
              <a:buSzPts val="2040"/>
              <a:buChar char="⚫"/>
            </a:pPr>
            <a:r>
              <a:rPr lang="en-US">
                <a:solidFill>
                  <a:srgbClr val="0000FF"/>
                </a:solidFill>
                <a:latin typeface="Arial"/>
                <a:ea typeface="Arial"/>
                <a:cs typeface="Arial"/>
                <a:sym typeface="Arial"/>
              </a:rPr>
              <a:t>INSERT INTO </a:t>
            </a:r>
            <a:r>
              <a:rPr lang="en-US">
                <a:latin typeface="Arial"/>
                <a:ea typeface="Arial"/>
                <a:cs typeface="Arial"/>
                <a:sym typeface="Arial"/>
              </a:rPr>
              <a:t>table (col1, col2,…) </a:t>
            </a:r>
            <a:r>
              <a:rPr lang="en-US">
                <a:solidFill>
                  <a:srgbClr val="0000FF"/>
                </a:solidFill>
                <a:latin typeface="Arial"/>
                <a:ea typeface="Arial"/>
                <a:cs typeface="Arial"/>
                <a:sym typeface="Arial"/>
              </a:rPr>
              <a:t>Values</a:t>
            </a:r>
            <a:r>
              <a:rPr lang="en-US">
                <a:latin typeface="Arial"/>
                <a:ea typeface="Arial"/>
                <a:cs typeface="Arial"/>
                <a:sym typeface="Arial"/>
              </a:rPr>
              <a:t> ( val1, val2,…)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9"/>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3-JDBC and JDBC Driver</a:t>
            </a:r>
            <a:endParaRPr/>
          </a:p>
        </p:txBody>
      </p:sp>
      <p:sp>
        <p:nvSpPr>
          <p:cNvPr id="175" name="Google Shape;175;p9"/>
          <p:cNvSpPr txBox="1">
            <a:spLocks noGrp="1"/>
          </p:cNvSpPr>
          <p:nvPr>
            <p:ph type="body" idx="1"/>
          </p:nvPr>
        </p:nvSpPr>
        <p:spPr>
          <a:xfrm>
            <a:off x="457200" y="1265237"/>
            <a:ext cx="8229600" cy="4525963"/>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380"/>
              <a:buChar char="⚫"/>
            </a:pPr>
            <a:r>
              <a:rPr lang="en-US" sz="2800">
                <a:latin typeface="Arial"/>
                <a:ea typeface="Arial"/>
                <a:cs typeface="Arial"/>
                <a:sym typeface="Arial"/>
              </a:rPr>
              <a:t>The JDBC™ API was designed to keep simple things simple. This means that the JDBC makes everyday database tasks easy. This trail walks you through examples of using JDBC to execute common SQL statements, and perform other objectives common to database applications. </a:t>
            </a:r>
            <a:endParaRPr/>
          </a:p>
          <a:p>
            <a:pPr marL="274320" lvl="0" indent="-274320" algn="l" rtl="0">
              <a:spcBef>
                <a:spcPts val="580"/>
              </a:spcBef>
              <a:spcAft>
                <a:spcPts val="0"/>
              </a:spcAft>
              <a:buSzPts val="2380"/>
              <a:buChar char="⚫"/>
            </a:pPr>
            <a:r>
              <a:rPr lang="en-US" sz="2800">
                <a:latin typeface="Arial"/>
                <a:ea typeface="Arial"/>
                <a:cs typeface="Arial"/>
                <a:sym typeface="Arial"/>
              </a:rPr>
              <a:t>The JDBC API is a Java API that can access any kind of tabular data, especially data stored in a Relational Database. </a:t>
            </a:r>
            <a:endParaRPr sz="28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200"/>
              <a:buFont typeface="Arial"/>
              <a:buNone/>
            </a:pPr>
            <a:r>
              <a:rPr lang="en-US" sz="3200">
                <a:latin typeface="Arial"/>
                <a:ea typeface="Arial"/>
                <a:cs typeface="Arial"/>
                <a:sym typeface="Arial"/>
              </a:rPr>
              <a:t>JDBC and JDBC Driver…</a:t>
            </a:r>
            <a:endParaRPr/>
          </a:p>
        </p:txBody>
      </p:sp>
      <p:sp>
        <p:nvSpPr>
          <p:cNvPr id="181" name="Google Shape;181;p10"/>
          <p:cNvSpPr txBox="1">
            <a:spLocks noGrp="1"/>
          </p:cNvSpPr>
          <p:nvPr>
            <p:ph type="body" idx="1"/>
          </p:nvPr>
        </p:nvSpPr>
        <p:spPr>
          <a:xfrm>
            <a:off x="457200" y="990600"/>
            <a:ext cx="8077200" cy="609600"/>
          </a:xfrm>
          <a:prstGeom prst="rect">
            <a:avLst/>
          </a:prstGeom>
          <a:noFill/>
          <a:ln>
            <a:noFill/>
          </a:ln>
        </p:spPr>
        <p:txBody>
          <a:bodyPr spcFirstLastPara="1" wrap="square" lIns="91425" tIns="45700" rIns="91425" bIns="45700" anchor="t" anchorCtr="0">
            <a:normAutofit/>
          </a:bodyPr>
          <a:lstStyle/>
          <a:p>
            <a:pPr marL="274320" lvl="0" indent="-274320" algn="just" rtl="0">
              <a:lnSpc>
                <a:spcPct val="80000"/>
              </a:lnSpc>
              <a:spcBef>
                <a:spcPts val="0"/>
              </a:spcBef>
              <a:spcAft>
                <a:spcPts val="0"/>
              </a:spcAft>
              <a:buSzPts val="2210"/>
              <a:buChar char="⚫"/>
            </a:pPr>
            <a:r>
              <a:rPr lang="en-US">
                <a:latin typeface="Times New Roman"/>
                <a:ea typeface="Times New Roman"/>
                <a:cs typeface="Times New Roman"/>
                <a:sym typeface="Times New Roman"/>
              </a:rPr>
              <a:t>JDBC APIs has 02 parts in the </a:t>
            </a:r>
            <a:r>
              <a:rPr lang="en-US" b="1">
                <a:latin typeface="Times New Roman"/>
                <a:ea typeface="Times New Roman"/>
                <a:cs typeface="Times New Roman"/>
                <a:sym typeface="Times New Roman"/>
              </a:rPr>
              <a:t>java.sql</a:t>
            </a:r>
            <a:r>
              <a:rPr lang="en-US">
                <a:latin typeface="Times New Roman"/>
                <a:ea typeface="Times New Roman"/>
                <a:cs typeface="Times New Roman"/>
                <a:sym typeface="Times New Roman"/>
              </a:rPr>
              <a:t> package.</a:t>
            </a:r>
            <a:endParaRPr>
              <a:latin typeface="Times New Roman"/>
              <a:ea typeface="Times New Roman"/>
              <a:cs typeface="Times New Roman"/>
              <a:sym typeface="Times New Roman"/>
            </a:endParaRPr>
          </a:p>
        </p:txBody>
      </p:sp>
      <p:graphicFrame>
        <p:nvGraphicFramePr>
          <p:cNvPr id="182" name="Google Shape;182;p10"/>
          <p:cNvGraphicFramePr/>
          <p:nvPr/>
        </p:nvGraphicFramePr>
        <p:xfrm>
          <a:off x="228600" y="1539241"/>
          <a:ext cx="3000000" cy="3000000"/>
        </p:xfrm>
        <a:graphic>
          <a:graphicData uri="http://schemas.openxmlformats.org/drawingml/2006/table">
            <a:tbl>
              <a:tblPr firstRow="1" bandRow="1">
                <a:noFill/>
                <a:tableStyleId>{810BC2B2-E8F3-4348-8BA1-EDFF65460300}</a:tableStyleId>
              </a:tblPr>
              <a:tblGrid>
                <a:gridCol w="1335500">
                  <a:extLst>
                    <a:ext uri="{9D8B030D-6E8A-4147-A177-3AD203B41FA5}">
                      <a16:colId xmlns:a16="http://schemas.microsoft.com/office/drawing/2014/main" val="20000"/>
                    </a:ext>
                  </a:extLst>
                </a:gridCol>
                <a:gridCol w="2151650">
                  <a:extLst>
                    <a:ext uri="{9D8B030D-6E8A-4147-A177-3AD203B41FA5}">
                      <a16:colId xmlns:a16="http://schemas.microsoft.com/office/drawing/2014/main" val="20001"/>
                    </a:ext>
                  </a:extLst>
                </a:gridCol>
                <a:gridCol w="4971050">
                  <a:extLst>
                    <a:ext uri="{9D8B030D-6E8A-4147-A177-3AD203B41FA5}">
                      <a16:colId xmlns:a16="http://schemas.microsoft.com/office/drawing/2014/main" val="20002"/>
                    </a:ext>
                  </a:extLst>
                </a:gridCol>
              </a:tblGrid>
              <a:tr h="533400">
                <a:tc>
                  <a:txBody>
                    <a:bodyPr/>
                    <a:lstStyle/>
                    <a:p>
                      <a:pPr marL="0" marR="0" lvl="0" indent="0" algn="l" rtl="0">
                        <a:spcBef>
                          <a:spcPts val="0"/>
                        </a:spcBef>
                        <a:spcAft>
                          <a:spcPts val="0"/>
                        </a:spcAft>
                        <a:buNone/>
                      </a:pPr>
                      <a:r>
                        <a:rPr lang="en-US" sz="1800" u="none" strike="noStrike" cap="none"/>
                        <a:t>Part</a:t>
                      </a:r>
                      <a:endParaRPr sz="1800"/>
                    </a:p>
                  </a:txBody>
                  <a:tcPr marL="91450" marR="91450" marT="45725" marB="45725"/>
                </a:tc>
                <a:tc>
                  <a:txBody>
                    <a:bodyPr/>
                    <a:lstStyle/>
                    <a:p>
                      <a:pPr marL="0" marR="0" lvl="0" indent="0" algn="l" rtl="0">
                        <a:spcBef>
                          <a:spcPts val="0"/>
                        </a:spcBef>
                        <a:spcAft>
                          <a:spcPts val="0"/>
                        </a:spcAft>
                        <a:buNone/>
                      </a:pPr>
                      <a:r>
                        <a:rPr lang="en-US" sz="1800"/>
                        <a:t>Details</a:t>
                      </a:r>
                      <a:endParaRPr sz="1800"/>
                    </a:p>
                  </a:txBody>
                  <a:tcPr marL="91450" marR="91450" marT="45725" marB="45725"/>
                </a:tc>
                <a:tc>
                  <a:txBody>
                    <a:bodyPr/>
                    <a:lstStyle/>
                    <a:p>
                      <a:pPr marL="0" marR="0" lvl="0" indent="0" algn="l" rtl="0">
                        <a:spcBef>
                          <a:spcPts val="0"/>
                        </a:spcBef>
                        <a:spcAft>
                          <a:spcPts val="0"/>
                        </a:spcAft>
                        <a:buNone/>
                      </a:pPr>
                      <a:r>
                        <a:rPr lang="en-US" sz="1800"/>
                        <a:t>Purposes</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JDBC Driver</a:t>
                      </a:r>
                      <a:endParaRPr sz="1800"/>
                    </a:p>
                  </a:txBody>
                  <a:tcPr marL="91450" marR="91450" marT="45725" marB="45725"/>
                </a:tc>
                <a:tc>
                  <a:txBody>
                    <a:bodyPr/>
                    <a:lstStyle/>
                    <a:p>
                      <a:pPr marL="0" marR="0" lvl="0" indent="0" algn="l" rtl="0">
                        <a:spcBef>
                          <a:spcPts val="0"/>
                        </a:spcBef>
                        <a:spcAft>
                          <a:spcPts val="0"/>
                        </a:spcAft>
                        <a:buNone/>
                      </a:pPr>
                      <a:r>
                        <a:rPr lang="en-US" sz="1800" b="1"/>
                        <a:t>DriverManager </a:t>
                      </a:r>
                      <a:r>
                        <a:rPr lang="en-US" sz="1800"/>
                        <a:t>class</a:t>
                      </a:r>
                      <a:endParaRPr sz="1800"/>
                    </a:p>
                  </a:txBody>
                  <a:tcPr marL="91450" marR="91450" marT="45725" marB="45725"/>
                </a:tc>
                <a:tc>
                  <a:txBody>
                    <a:bodyPr/>
                    <a:lstStyle/>
                    <a:p>
                      <a:pPr marL="0" marR="0" lvl="0" indent="0" algn="l" rtl="0">
                        <a:spcBef>
                          <a:spcPts val="0"/>
                        </a:spcBef>
                        <a:spcAft>
                          <a:spcPts val="0"/>
                        </a:spcAft>
                        <a:buNone/>
                      </a:pPr>
                      <a:r>
                        <a:rPr lang="en-US" sz="1800"/>
                        <a:t>Java.lang.Class.forName(DriverClass) will dynamically load the concrete driver class, provided by a </a:t>
                      </a:r>
                      <a:r>
                        <a:rPr lang="en-US" sz="1800" b="1">
                          <a:solidFill>
                            <a:srgbClr val="FF0000"/>
                          </a:solidFill>
                        </a:rPr>
                        <a:t>specific provider for a specific database</a:t>
                      </a:r>
                      <a:r>
                        <a:rPr lang="en-US" sz="1800"/>
                        <a:t>. This class implemented methods declared in JDBC interfaces.</a:t>
                      </a:r>
                      <a:endParaRPr/>
                    </a:p>
                    <a:p>
                      <a:pPr marL="0" marR="0" lvl="0" indent="0" algn="l" rtl="0">
                        <a:lnSpc>
                          <a:spcPct val="100000"/>
                        </a:lnSpc>
                        <a:spcBef>
                          <a:spcPts val="0"/>
                        </a:spcBef>
                        <a:spcAft>
                          <a:spcPts val="0"/>
                        </a:spcAft>
                        <a:buClr>
                          <a:schemeClr val="dk1"/>
                        </a:buClr>
                        <a:buSzPts val="1800"/>
                        <a:buFont typeface="Libre Baskerville"/>
                        <a:buNone/>
                      </a:pPr>
                      <a:r>
                        <a:rPr lang="en-US" sz="1800"/>
                        <a:t>The class DriverManager will get a connection to database based on the specific driver class loaded.</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JDBC API</a:t>
                      </a:r>
                      <a:endParaRPr sz="1800"/>
                    </a:p>
                  </a:txBody>
                  <a:tcPr marL="91450" marR="91450" marT="45725" marB="45725"/>
                </a:tc>
                <a:tc>
                  <a:txBody>
                    <a:bodyPr/>
                    <a:lstStyle/>
                    <a:p>
                      <a:pPr marL="0" marR="0" lvl="0" indent="0" algn="l" rtl="0">
                        <a:spcBef>
                          <a:spcPts val="0"/>
                        </a:spcBef>
                        <a:spcAft>
                          <a:spcPts val="0"/>
                        </a:spcAft>
                        <a:buNone/>
                      </a:pPr>
                      <a:r>
                        <a:rPr lang="en-US" sz="1800" b="0" u="sng"/>
                        <a:t>Interfaces:</a:t>
                      </a:r>
                      <a:endParaRPr/>
                    </a:p>
                    <a:p>
                      <a:pPr marL="0" marR="0" lvl="0" indent="0" algn="l" rtl="0">
                        <a:spcBef>
                          <a:spcPts val="0"/>
                        </a:spcBef>
                        <a:spcAft>
                          <a:spcPts val="0"/>
                        </a:spcAft>
                        <a:buNone/>
                      </a:pPr>
                      <a:r>
                        <a:rPr lang="en-US" sz="1800" b="1"/>
                        <a:t>Connection,</a:t>
                      </a:r>
                      <a:endParaRPr sz="1800" b="1"/>
                    </a:p>
                    <a:p>
                      <a:pPr marL="0" marR="0" lvl="0" indent="0" algn="l" rtl="0">
                        <a:spcBef>
                          <a:spcPts val="0"/>
                        </a:spcBef>
                        <a:spcAft>
                          <a:spcPts val="0"/>
                        </a:spcAft>
                        <a:buNone/>
                      </a:pPr>
                      <a:r>
                        <a:rPr lang="en-US" sz="1800" b="1"/>
                        <a:t>Statement</a:t>
                      </a:r>
                      <a:endParaRPr/>
                    </a:p>
                    <a:p>
                      <a:pPr marL="0" marR="0" lvl="0" indent="0" algn="l" rtl="0">
                        <a:spcBef>
                          <a:spcPts val="0"/>
                        </a:spcBef>
                        <a:spcAft>
                          <a:spcPts val="0"/>
                        </a:spcAft>
                        <a:buNone/>
                      </a:pPr>
                      <a:r>
                        <a:rPr lang="en-US" sz="1800" b="1"/>
                        <a:t>ResultSet</a:t>
                      </a:r>
                      <a:endParaRPr/>
                    </a:p>
                    <a:p>
                      <a:pPr marL="0" marR="0" lvl="0" indent="0" algn="l" rtl="0">
                        <a:spcBef>
                          <a:spcPts val="0"/>
                        </a:spcBef>
                        <a:spcAft>
                          <a:spcPts val="0"/>
                        </a:spcAft>
                        <a:buNone/>
                      </a:pPr>
                      <a:r>
                        <a:rPr lang="en-US" sz="1800" b="1"/>
                        <a:t>DatabaseMetadata</a:t>
                      </a:r>
                      <a:endParaRPr/>
                    </a:p>
                    <a:p>
                      <a:pPr marL="0" marR="0" lvl="0" indent="0" algn="l" rtl="0">
                        <a:spcBef>
                          <a:spcPts val="0"/>
                        </a:spcBef>
                        <a:spcAft>
                          <a:spcPts val="0"/>
                        </a:spcAft>
                        <a:buNone/>
                      </a:pPr>
                      <a:r>
                        <a:rPr lang="en-US" sz="1800" b="1"/>
                        <a:t>ResultSetMetadata</a:t>
                      </a:r>
                      <a:endParaRPr/>
                    </a:p>
                    <a:p>
                      <a:pPr marL="0" marR="0" lvl="0" indent="0" algn="l" rtl="0">
                        <a:spcBef>
                          <a:spcPts val="0"/>
                        </a:spcBef>
                        <a:spcAft>
                          <a:spcPts val="0"/>
                        </a:spcAft>
                        <a:buNone/>
                      </a:pPr>
                      <a:r>
                        <a:rPr lang="en-US" sz="1800" b="0" u="sng"/>
                        <a:t>Classes</a:t>
                      </a:r>
                      <a:endParaRPr/>
                    </a:p>
                    <a:p>
                      <a:pPr marL="0" marR="0" lvl="0" indent="0" algn="l" rtl="0">
                        <a:spcBef>
                          <a:spcPts val="0"/>
                        </a:spcBef>
                        <a:spcAft>
                          <a:spcPts val="0"/>
                        </a:spcAft>
                        <a:buNone/>
                      </a:pPr>
                      <a:r>
                        <a:rPr lang="en-US" sz="1800" b="1"/>
                        <a:t>SQLException</a:t>
                      </a:r>
                      <a:endParaRPr sz="1800" b="1"/>
                    </a:p>
                  </a:txBody>
                  <a:tcPr marL="91450" marR="91450" marT="45725" marB="45725"/>
                </a:tc>
                <a:tc>
                  <a:txBody>
                    <a:bodyPr/>
                    <a:lstStyle/>
                    <a:p>
                      <a:pPr marL="0" marR="0" lvl="0" indent="0" algn="l" rtl="0">
                        <a:spcBef>
                          <a:spcPts val="0"/>
                        </a:spcBef>
                        <a:spcAft>
                          <a:spcPts val="0"/>
                        </a:spcAft>
                        <a:buNone/>
                      </a:pPr>
                      <a:endParaRPr sz="1800"/>
                    </a:p>
                    <a:p>
                      <a:pPr marL="0" marR="0" lvl="0" indent="0" algn="l" rtl="0">
                        <a:spcBef>
                          <a:spcPts val="0"/>
                        </a:spcBef>
                        <a:spcAft>
                          <a:spcPts val="0"/>
                        </a:spcAft>
                        <a:buNone/>
                      </a:pPr>
                      <a:r>
                        <a:rPr lang="en-US" sz="1800"/>
                        <a:t>For creating a connection to a DBMS</a:t>
                      </a:r>
                      <a:endParaRPr/>
                    </a:p>
                    <a:p>
                      <a:pPr marL="0" marR="0" lvl="0" indent="0" algn="l" rtl="0">
                        <a:spcBef>
                          <a:spcPts val="0"/>
                        </a:spcBef>
                        <a:spcAft>
                          <a:spcPts val="0"/>
                        </a:spcAft>
                        <a:buNone/>
                      </a:pPr>
                      <a:r>
                        <a:rPr lang="en-US" sz="1800"/>
                        <a:t>For executing SQL statements</a:t>
                      </a:r>
                      <a:endParaRPr/>
                    </a:p>
                    <a:p>
                      <a:pPr marL="0" marR="0" lvl="0" indent="0" algn="l" rtl="0">
                        <a:spcBef>
                          <a:spcPts val="0"/>
                        </a:spcBef>
                        <a:spcAft>
                          <a:spcPts val="0"/>
                        </a:spcAft>
                        <a:buNone/>
                      </a:pPr>
                      <a:r>
                        <a:rPr lang="en-US" sz="1800"/>
                        <a:t>For storing result data set and achieving columns</a:t>
                      </a:r>
                      <a:endParaRPr/>
                    </a:p>
                    <a:p>
                      <a:pPr marL="0" marR="0" lvl="0" indent="0" algn="l" rtl="0">
                        <a:spcBef>
                          <a:spcPts val="0"/>
                        </a:spcBef>
                        <a:spcAft>
                          <a:spcPts val="0"/>
                        </a:spcAft>
                        <a:buNone/>
                      </a:pPr>
                      <a:r>
                        <a:rPr lang="en-US" sz="1800"/>
                        <a:t>For getting database metadata</a:t>
                      </a:r>
                      <a:endParaRPr/>
                    </a:p>
                    <a:p>
                      <a:pPr marL="0" marR="0" lvl="0" indent="0" algn="l" rtl="0">
                        <a:lnSpc>
                          <a:spcPct val="100000"/>
                        </a:lnSpc>
                        <a:spcBef>
                          <a:spcPts val="0"/>
                        </a:spcBef>
                        <a:spcAft>
                          <a:spcPts val="0"/>
                        </a:spcAft>
                        <a:buClr>
                          <a:schemeClr val="dk1"/>
                        </a:buClr>
                        <a:buSzPts val="1800"/>
                        <a:buFont typeface="Libre Baskerville"/>
                        <a:buNone/>
                      </a:pPr>
                      <a:r>
                        <a:rPr lang="en-US" sz="1800"/>
                        <a:t>For getting resultset metadata</a:t>
                      </a:r>
                      <a:endParaRPr/>
                    </a:p>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2"/>
                  </a:ext>
                </a:extLst>
              </a:tr>
            </a:tbl>
          </a:graphicData>
        </a:graphic>
      </p:graphicFrame>
      <p:sp>
        <p:nvSpPr>
          <p:cNvPr id="183" name="Google Shape;183;p10"/>
          <p:cNvSpPr/>
          <p:nvPr/>
        </p:nvSpPr>
        <p:spPr>
          <a:xfrm>
            <a:off x="1219200" y="6096000"/>
            <a:ext cx="6949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0000FF"/>
                </a:solidFill>
                <a:latin typeface="Times New Roman"/>
                <a:ea typeface="Times New Roman"/>
                <a:cs typeface="Times New Roman"/>
                <a:sym typeface="Times New Roman"/>
              </a:rPr>
              <a:t>Refer to the java.sql package for more details in Java documentation</a:t>
            </a:r>
            <a:endParaRPr sz="1800" b="1">
              <a:solidFill>
                <a:srgbClr val="0000FF"/>
              </a:solidFill>
              <a:latin typeface="Libre Baskerville"/>
              <a:ea typeface="Libre Baskerville"/>
              <a:cs typeface="Libre Baskerville"/>
              <a:sym typeface="Libre Baskervill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1"/>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200"/>
              <a:buFont typeface="Arial"/>
              <a:buNone/>
            </a:pPr>
            <a:r>
              <a:rPr lang="en-US" sz="3200">
                <a:latin typeface="Arial"/>
                <a:ea typeface="Arial"/>
                <a:cs typeface="Arial"/>
                <a:sym typeface="Arial"/>
              </a:rPr>
              <a:t>JDBC and JDBC Driver…</a:t>
            </a:r>
            <a:endParaRPr/>
          </a:p>
        </p:txBody>
      </p:sp>
      <p:sp>
        <p:nvSpPr>
          <p:cNvPr id="189" name="Google Shape;189;p11"/>
          <p:cNvSpPr/>
          <p:nvPr/>
        </p:nvSpPr>
        <p:spPr>
          <a:xfrm>
            <a:off x="990600" y="1371600"/>
            <a:ext cx="7162800" cy="4038600"/>
          </a:xfrm>
          <a:prstGeom prst="rect">
            <a:avLst/>
          </a:prstGeom>
          <a:solidFill>
            <a:srgbClr val="D7D0C0"/>
          </a:solidFill>
          <a:ln w="12700" cap="flat" cmpd="sng">
            <a:solidFill>
              <a:srgbClr val="008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190" name="Google Shape;190;p11"/>
          <p:cNvSpPr/>
          <p:nvPr/>
        </p:nvSpPr>
        <p:spPr>
          <a:xfrm>
            <a:off x="3733800" y="914400"/>
            <a:ext cx="2057400" cy="3810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chemeClr val="lt1"/>
                </a:solidFill>
                <a:latin typeface="Libre Baskerville"/>
                <a:ea typeface="Libre Baskerville"/>
                <a:cs typeface="Libre Baskerville"/>
                <a:sym typeface="Libre Baskerville"/>
              </a:rPr>
              <a:t>Java App.</a:t>
            </a:r>
            <a:endParaRPr sz="3200">
              <a:solidFill>
                <a:schemeClr val="lt1"/>
              </a:solidFill>
              <a:latin typeface="Libre Baskerville"/>
              <a:ea typeface="Libre Baskerville"/>
              <a:cs typeface="Libre Baskerville"/>
              <a:sym typeface="Libre Baskerville"/>
            </a:endParaRPr>
          </a:p>
        </p:txBody>
      </p:sp>
      <p:sp>
        <p:nvSpPr>
          <p:cNvPr id="191" name="Google Shape;191;p11"/>
          <p:cNvSpPr/>
          <p:nvPr/>
        </p:nvSpPr>
        <p:spPr>
          <a:xfrm>
            <a:off x="1143000" y="1752600"/>
            <a:ext cx="2286000" cy="457200"/>
          </a:xfrm>
          <a:prstGeom prst="rect">
            <a:avLst/>
          </a:prstGeom>
          <a:solidFill>
            <a:srgbClr val="008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Connection con</a:t>
            </a:r>
            <a:endParaRPr sz="1800">
              <a:solidFill>
                <a:schemeClr val="lt1"/>
              </a:solidFill>
              <a:latin typeface="Libre Baskerville"/>
              <a:ea typeface="Libre Baskerville"/>
              <a:cs typeface="Libre Baskerville"/>
              <a:sym typeface="Libre Baskerville"/>
            </a:endParaRPr>
          </a:p>
        </p:txBody>
      </p:sp>
      <p:sp>
        <p:nvSpPr>
          <p:cNvPr id="192" name="Google Shape;192;p11"/>
          <p:cNvSpPr/>
          <p:nvPr/>
        </p:nvSpPr>
        <p:spPr>
          <a:xfrm>
            <a:off x="1143000" y="4038600"/>
            <a:ext cx="2286000" cy="11430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Specific JDBC Driver implement interfaces</a:t>
            </a:r>
            <a:endParaRPr/>
          </a:p>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(loaded dynamically by  java.lang.Class)</a:t>
            </a:r>
            <a:endParaRPr sz="1800">
              <a:solidFill>
                <a:schemeClr val="lt1"/>
              </a:solidFill>
              <a:latin typeface="Libre Baskerville"/>
              <a:ea typeface="Libre Baskerville"/>
              <a:cs typeface="Libre Baskerville"/>
              <a:sym typeface="Libre Baskerville"/>
            </a:endParaRPr>
          </a:p>
        </p:txBody>
      </p:sp>
      <p:sp>
        <p:nvSpPr>
          <p:cNvPr id="193" name="Google Shape;193;p11"/>
          <p:cNvSpPr/>
          <p:nvPr/>
        </p:nvSpPr>
        <p:spPr>
          <a:xfrm>
            <a:off x="1143000" y="2667000"/>
            <a:ext cx="2286000" cy="3810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DriverManager</a:t>
            </a:r>
            <a:endParaRPr sz="1800">
              <a:solidFill>
                <a:schemeClr val="lt1"/>
              </a:solidFill>
              <a:latin typeface="Libre Baskerville"/>
              <a:ea typeface="Libre Baskerville"/>
              <a:cs typeface="Libre Baskerville"/>
              <a:sym typeface="Libre Baskerville"/>
            </a:endParaRPr>
          </a:p>
        </p:txBody>
      </p:sp>
      <p:cxnSp>
        <p:nvCxnSpPr>
          <p:cNvPr id="194" name="Google Shape;194;p11"/>
          <p:cNvCxnSpPr/>
          <p:nvPr/>
        </p:nvCxnSpPr>
        <p:spPr>
          <a:xfrm rot="5400000">
            <a:off x="952500" y="3543300"/>
            <a:ext cx="990600" cy="1588"/>
          </a:xfrm>
          <a:prstGeom prst="straightConnector1">
            <a:avLst/>
          </a:prstGeom>
          <a:noFill/>
          <a:ln w="28575" cap="flat" cmpd="sng">
            <a:solidFill>
              <a:srgbClr val="AE350A"/>
            </a:solidFill>
            <a:prstDash val="solid"/>
            <a:round/>
            <a:headEnd type="none" w="sm" len="sm"/>
            <a:tailEnd type="stealth" w="med" len="med"/>
          </a:ln>
        </p:spPr>
      </p:cxnSp>
      <p:cxnSp>
        <p:nvCxnSpPr>
          <p:cNvPr id="195" name="Google Shape;195;p11"/>
          <p:cNvCxnSpPr/>
          <p:nvPr/>
        </p:nvCxnSpPr>
        <p:spPr>
          <a:xfrm rot="-5400000">
            <a:off x="1180306" y="3543300"/>
            <a:ext cx="991394" cy="794"/>
          </a:xfrm>
          <a:prstGeom prst="straightConnector1">
            <a:avLst/>
          </a:prstGeom>
          <a:noFill/>
          <a:ln w="28575" cap="flat" cmpd="sng">
            <a:solidFill>
              <a:srgbClr val="AE350A"/>
            </a:solidFill>
            <a:prstDash val="solid"/>
            <a:round/>
            <a:headEnd type="none" w="sm" len="sm"/>
            <a:tailEnd type="stealth" w="med" len="med"/>
          </a:ln>
        </p:spPr>
      </p:cxnSp>
      <p:cxnSp>
        <p:nvCxnSpPr>
          <p:cNvPr id="196" name="Google Shape;196;p11"/>
          <p:cNvCxnSpPr/>
          <p:nvPr/>
        </p:nvCxnSpPr>
        <p:spPr>
          <a:xfrm rot="-5400000">
            <a:off x="1447800" y="2438400"/>
            <a:ext cx="457200" cy="1588"/>
          </a:xfrm>
          <a:prstGeom prst="straightConnector1">
            <a:avLst/>
          </a:prstGeom>
          <a:noFill/>
          <a:ln w="28575" cap="flat" cmpd="sng">
            <a:solidFill>
              <a:srgbClr val="AE350A"/>
            </a:solidFill>
            <a:prstDash val="solid"/>
            <a:round/>
            <a:headEnd type="none" w="sm" len="sm"/>
            <a:tailEnd type="stealth" w="med" len="med"/>
          </a:ln>
        </p:spPr>
      </p:cxnSp>
      <p:sp>
        <p:nvSpPr>
          <p:cNvPr id="197" name="Google Shape;197;p11"/>
          <p:cNvSpPr/>
          <p:nvPr/>
        </p:nvSpPr>
        <p:spPr>
          <a:xfrm>
            <a:off x="1066800" y="3352800"/>
            <a:ext cx="1828800" cy="381000"/>
          </a:xfrm>
          <a:prstGeom prst="rect">
            <a:avLst/>
          </a:prstGeom>
          <a:solidFill>
            <a:srgbClr val="D7D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Libre Baskerville"/>
                <a:ea typeface="Libre Baskerville"/>
                <a:cs typeface="Libre Baskerville"/>
                <a:sym typeface="Libre Baskerville"/>
              </a:rPr>
              <a:t>getConnection()</a:t>
            </a:r>
            <a:endParaRPr sz="1800" b="1">
              <a:solidFill>
                <a:srgbClr val="FF0000"/>
              </a:solidFill>
              <a:latin typeface="Libre Baskerville"/>
              <a:ea typeface="Libre Baskerville"/>
              <a:cs typeface="Libre Baskerville"/>
              <a:sym typeface="Libre Baskerville"/>
            </a:endParaRPr>
          </a:p>
        </p:txBody>
      </p:sp>
      <p:sp>
        <p:nvSpPr>
          <p:cNvPr id="198" name="Google Shape;198;p11"/>
          <p:cNvSpPr/>
          <p:nvPr/>
        </p:nvSpPr>
        <p:spPr>
          <a:xfrm>
            <a:off x="3886200" y="1752600"/>
            <a:ext cx="1600200" cy="457200"/>
          </a:xfrm>
          <a:prstGeom prst="rect">
            <a:avLst/>
          </a:prstGeom>
          <a:solidFill>
            <a:srgbClr val="008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Statement stmt</a:t>
            </a:r>
            <a:endParaRPr sz="1800">
              <a:solidFill>
                <a:schemeClr val="lt1"/>
              </a:solidFill>
              <a:latin typeface="Libre Baskerville"/>
              <a:ea typeface="Libre Baskerville"/>
              <a:cs typeface="Libre Baskerville"/>
              <a:sym typeface="Libre Baskerville"/>
            </a:endParaRPr>
          </a:p>
        </p:txBody>
      </p:sp>
      <p:cxnSp>
        <p:nvCxnSpPr>
          <p:cNvPr id="199" name="Google Shape;199;p11"/>
          <p:cNvCxnSpPr/>
          <p:nvPr/>
        </p:nvCxnSpPr>
        <p:spPr>
          <a:xfrm rot="5400000">
            <a:off x="2056606" y="3124200"/>
            <a:ext cx="1828800" cy="1588"/>
          </a:xfrm>
          <a:prstGeom prst="straightConnector1">
            <a:avLst/>
          </a:prstGeom>
          <a:noFill/>
          <a:ln w="28575" cap="flat" cmpd="sng">
            <a:solidFill>
              <a:srgbClr val="0000FF"/>
            </a:solidFill>
            <a:prstDash val="solid"/>
            <a:round/>
            <a:headEnd type="none" w="sm" len="sm"/>
            <a:tailEnd type="stealth" w="med" len="med"/>
          </a:ln>
        </p:spPr>
      </p:cxnSp>
      <p:cxnSp>
        <p:nvCxnSpPr>
          <p:cNvPr id="200" name="Google Shape;200;p11"/>
          <p:cNvCxnSpPr>
            <a:stCxn id="191" idx="3"/>
            <a:endCxn id="198" idx="1"/>
          </p:cNvCxnSpPr>
          <p:nvPr/>
        </p:nvCxnSpPr>
        <p:spPr>
          <a:xfrm>
            <a:off x="3429000" y="1981200"/>
            <a:ext cx="457200" cy="0"/>
          </a:xfrm>
          <a:prstGeom prst="straightConnector1">
            <a:avLst/>
          </a:prstGeom>
          <a:noFill/>
          <a:ln w="28575" cap="flat" cmpd="sng">
            <a:solidFill>
              <a:srgbClr val="0000FF"/>
            </a:solidFill>
            <a:prstDash val="solid"/>
            <a:round/>
            <a:headEnd type="none" w="sm" len="sm"/>
            <a:tailEnd type="stealth" w="med" len="med"/>
          </a:ln>
        </p:spPr>
      </p:cxnSp>
      <p:cxnSp>
        <p:nvCxnSpPr>
          <p:cNvPr id="201" name="Google Shape;201;p11"/>
          <p:cNvCxnSpPr/>
          <p:nvPr/>
        </p:nvCxnSpPr>
        <p:spPr>
          <a:xfrm rot="5400000">
            <a:off x="2209006" y="3123406"/>
            <a:ext cx="1828800" cy="1588"/>
          </a:xfrm>
          <a:prstGeom prst="straightConnector1">
            <a:avLst/>
          </a:prstGeom>
          <a:noFill/>
          <a:ln w="28575" cap="flat" cmpd="sng">
            <a:solidFill>
              <a:srgbClr val="0000FF"/>
            </a:solidFill>
            <a:prstDash val="solid"/>
            <a:round/>
            <a:headEnd type="stealth" w="med" len="med"/>
            <a:tailEnd type="none" w="sm" len="sm"/>
          </a:ln>
        </p:spPr>
      </p:cxnSp>
      <p:sp>
        <p:nvSpPr>
          <p:cNvPr id="202" name="Google Shape;202;p11"/>
          <p:cNvSpPr/>
          <p:nvPr/>
        </p:nvSpPr>
        <p:spPr>
          <a:xfrm>
            <a:off x="5943600" y="1752600"/>
            <a:ext cx="1524000" cy="457200"/>
          </a:xfrm>
          <a:prstGeom prst="rect">
            <a:avLst/>
          </a:prstGeom>
          <a:solidFill>
            <a:srgbClr val="008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ResultSet rs</a:t>
            </a:r>
            <a:endParaRPr sz="1800">
              <a:solidFill>
                <a:schemeClr val="lt1"/>
              </a:solidFill>
              <a:latin typeface="Libre Baskerville"/>
              <a:ea typeface="Libre Baskerville"/>
              <a:cs typeface="Libre Baskerville"/>
              <a:sym typeface="Libre Baskerville"/>
            </a:endParaRPr>
          </a:p>
        </p:txBody>
      </p:sp>
      <p:cxnSp>
        <p:nvCxnSpPr>
          <p:cNvPr id="203" name="Google Shape;203;p11"/>
          <p:cNvCxnSpPr>
            <a:stCxn id="198" idx="2"/>
          </p:cNvCxnSpPr>
          <p:nvPr/>
        </p:nvCxnSpPr>
        <p:spPr>
          <a:xfrm flipH="1">
            <a:off x="3429000" y="2209800"/>
            <a:ext cx="1257300" cy="1828800"/>
          </a:xfrm>
          <a:prstGeom prst="straightConnector1">
            <a:avLst/>
          </a:prstGeom>
          <a:noFill/>
          <a:ln w="28575" cap="flat" cmpd="sng">
            <a:solidFill>
              <a:srgbClr val="008000"/>
            </a:solidFill>
            <a:prstDash val="solid"/>
            <a:round/>
            <a:headEnd type="none" w="sm" len="sm"/>
            <a:tailEnd type="stealth" w="med" len="med"/>
          </a:ln>
        </p:spPr>
      </p:cxnSp>
      <p:cxnSp>
        <p:nvCxnSpPr>
          <p:cNvPr id="204" name="Google Shape;204;p11"/>
          <p:cNvCxnSpPr/>
          <p:nvPr/>
        </p:nvCxnSpPr>
        <p:spPr>
          <a:xfrm rot="5400000">
            <a:off x="3105150" y="2533650"/>
            <a:ext cx="2057400" cy="1409700"/>
          </a:xfrm>
          <a:prstGeom prst="straightConnector1">
            <a:avLst/>
          </a:prstGeom>
          <a:noFill/>
          <a:ln w="28575" cap="flat" cmpd="sng">
            <a:solidFill>
              <a:srgbClr val="008000"/>
            </a:solidFill>
            <a:prstDash val="solid"/>
            <a:round/>
            <a:headEnd type="stealth" w="med" len="med"/>
            <a:tailEnd type="none" w="sm" len="sm"/>
          </a:ln>
        </p:spPr>
      </p:cxnSp>
      <p:cxnSp>
        <p:nvCxnSpPr>
          <p:cNvPr id="205" name="Google Shape;205;p11"/>
          <p:cNvCxnSpPr>
            <a:endCxn id="202" idx="1"/>
          </p:cNvCxnSpPr>
          <p:nvPr/>
        </p:nvCxnSpPr>
        <p:spPr>
          <a:xfrm>
            <a:off x="5486400" y="1979700"/>
            <a:ext cx="457200" cy="1500"/>
          </a:xfrm>
          <a:prstGeom prst="straightConnector1">
            <a:avLst/>
          </a:prstGeom>
          <a:noFill/>
          <a:ln w="28575" cap="flat" cmpd="sng">
            <a:solidFill>
              <a:srgbClr val="008000"/>
            </a:solidFill>
            <a:prstDash val="solid"/>
            <a:round/>
            <a:headEnd type="none" w="sm" len="sm"/>
            <a:tailEnd type="stealth" w="med" len="med"/>
          </a:ln>
        </p:spPr>
      </p:cxnSp>
      <p:sp>
        <p:nvSpPr>
          <p:cNvPr id="206" name="Google Shape;206;p11"/>
          <p:cNvSpPr/>
          <p:nvPr/>
        </p:nvSpPr>
        <p:spPr>
          <a:xfrm>
            <a:off x="5867400" y="3200400"/>
            <a:ext cx="1676400" cy="1143000"/>
          </a:xfrm>
          <a:prstGeom prst="ellipse">
            <a:avLst/>
          </a:prstGeom>
          <a:solidFill>
            <a:srgbClr val="FF0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Process  rs</a:t>
            </a:r>
            <a:endParaRPr sz="1800">
              <a:solidFill>
                <a:schemeClr val="lt1"/>
              </a:solidFill>
              <a:latin typeface="Libre Baskerville"/>
              <a:ea typeface="Libre Baskerville"/>
              <a:cs typeface="Libre Baskerville"/>
              <a:sym typeface="Libre Baskerville"/>
            </a:endParaRPr>
          </a:p>
        </p:txBody>
      </p:sp>
      <p:cxnSp>
        <p:nvCxnSpPr>
          <p:cNvPr id="207" name="Google Shape;207;p11"/>
          <p:cNvCxnSpPr>
            <a:stCxn id="206" idx="0"/>
            <a:endCxn id="202" idx="2"/>
          </p:cNvCxnSpPr>
          <p:nvPr/>
        </p:nvCxnSpPr>
        <p:spPr>
          <a:xfrm rot="10800000">
            <a:off x="6705600" y="2209800"/>
            <a:ext cx="0" cy="990600"/>
          </a:xfrm>
          <a:prstGeom prst="straightConnector1">
            <a:avLst/>
          </a:prstGeom>
          <a:noFill/>
          <a:ln w="9525" cap="flat" cmpd="sng">
            <a:solidFill>
              <a:srgbClr val="AE350A"/>
            </a:solidFill>
            <a:prstDash val="solid"/>
            <a:round/>
            <a:headEnd type="none" w="sm" len="sm"/>
            <a:tailEnd type="stealth" w="med" len="med"/>
          </a:ln>
        </p:spPr>
      </p:cxnSp>
      <p:sp>
        <p:nvSpPr>
          <p:cNvPr id="208" name="Google Shape;208;p11"/>
          <p:cNvSpPr/>
          <p:nvPr/>
        </p:nvSpPr>
        <p:spPr>
          <a:xfrm>
            <a:off x="2819400" y="3200400"/>
            <a:ext cx="1981200" cy="381000"/>
          </a:xfrm>
          <a:prstGeom prst="rect">
            <a:avLst/>
          </a:prstGeom>
          <a:solidFill>
            <a:srgbClr val="D7D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0000FF"/>
                </a:solidFill>
                <a:latin typeface="Libre Baskerville"/>
                <a:ea typeface="Libre Baskerville"/>
                <a:cs typeface="Libre Baskerville"/>
                <a:sym typeface="Libre Baskerville"/>
              </a:rPr>
              <a:t>createStatement()</a:t>
            </a:r>
            <a:endParaRPr sz="1800" b="1">
              <a:solidFill>
                <a:srgbClr val="0000FF"/>
              </a:solidFill>
              <a:latin typeface="Libre Baskerville"/>
              <a:ea typeface="Libre Baskerville"/>
              <a:cs typeface="Libre Baskerville"/>
              <a:sym typeface="Libre Baskerville"/>
            </a:endParaRPr>
          </a:p>
        </p:txBody>
      </p:sp>
      <p:sp>
        <p:nvSpPr>
          <p:cNvPr id="209" name="Google Shape;209;p11"/>
          <p:cNvSpPr/>
          <p:nvPr/>
        </p:nvSpPr>
        <p:spPr>
          <a:xfrm>
            <a:off x="3886200" y="2590800"/>
            <a:ext cx="1981200" cy="381000"/>
          </a:xfrm>
          <a:prstGeom prst="rect">
            <a:avLst/>
          </a:prstGeom>
          <a:solidFill>
            <a:srgbClr val="D7D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008000"/>
                </a:solidFill>
                <a:latin typeface="Libre Baskerville"/>
                <a:ea typeface="Libre Baskerville"/>
                <a:cs typeface="Libre Baskerville"/>
                <a:sym typeface="Libre Baskerville"/>
              </a:rPr>
              <a:t>executeQuery()</a:t>
            </a:r>
            <a:endParaRPr sz="1800" b="1">
              <a:solidFill>
                <a:srgbClr val="008000"/>
              </a:solidFill>
              <a:latin typeface="Libre Baskerville"/>
              <a:ea typeface="Libre Baskerville"/>
              <a:cs typeface="Libre Baskerville"/>
              <a:sym typeface="Libre Baskerville"/>
            </a:endParaRPr>
          </a:p>
        </p:txBody>
      </p:sp>
      <p:sp>
        <p:nvSpPr>
          <p:cNvPr id="210" name="Google Shape;210;p11"/>
          <p:cNvSpPr/>
          <p:nvPr/>
        </p:nvSpPr>
        <p:spPr>
          <a:xfrm>
            <a:off x="3505200" y="5638800"/>
            <a:ext cx="4648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Libre Baskerville"/>
                <a:ea typeface="Libre Baskerville"/>
                <a:cs typeface="Libre Baskerville"/>
                <a:sym typeface="Libre Baskerville"/>
              </a:rPr>
              <a:t>Model of a JDBC App. </a:t>
            </a:r>
            <a:endParaRPr sz="2400" b="1">
              <a:solidFill>
                <a:schemeClr val="dk1"/>
              </a:solidFill>
              <a:latin typeface="Libre Baskerville"/>
              <a:ea typeface="Libre Baskerville"/>
              <a:cs typeface="Libre Baskerville"/>
              <a:sym typeface="Libre Baskerville"/>
            </a:endParaRPr>
          </a:p>
        </p:txBody>
      </p:sp>
      <p:sp>
        <p:nvSpPr>
          <p:cNvPr id="211" name="Google Shape;211;p11"/>
          <p:cNvSpPr/>
          <p:nvPr/>
        </p:nvSpPr>
        <p:spPr>
          <a:xfrm>
            <a:off x="1295400" y="5638800"/>
            <a:ext cx="1897063" cy="946150"/>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cxnSp>
        <p:nvCxnSpPr>
          <p:cNvPr id="212" name="Google Shape;212;p11"/>
          <p:cNvCxnSpPr>
            <a:stCxn id="192" idx="2"/>
          </p:cNvCxnSpPr>
          <p:nvPr/>
        </p:nvCxnSpPr>
        <p:spPr>
          <a:xfrm flipH="1">
            <a:off x="2284500" y="5181600"/>
            <a:ext cx="1500" cy="533400"/>
          </a:xfrm>
          <a:prstGeom prst="straightConnector1">
            <a:avLst/>
          </a:prstGeom>
          <a:noFill/>
          <a:ln w="57150" cap="flat" cmpd="sng">
            <a:solidFill>
              <a:srgbClr val="7030A0"/>
            </a:solidFill>
            <a:prstDash val="solid"/>
            <a:round/>
            <a:headEnd type="triangle" w="med" len="med"/>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2"/>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200"/>
              <a:buFont typeface="Arial"/>
              <a:buNone/>
            </a:pPr>
            <a:r>
              <a:rPr lang="en-US" sz="3200">
                <a:latin typeface="Arial"/>
                <a:ea typeface="Arial"/>
                <a:cs typeface="Arial"/>
                <a:sym typeface="Arial"/>
              </a:rPr>
              <a:t>JDBC and JDBC Driver…</a:t>
            </a:r>
            <a:endParaRPr/>
          </a:p>
        </p:txBody>
      </p:sp>
      <p:sp>
        <p:nvSpPr>
          <p:cNvPr id="218" name="Google Shape;218;p12"/>
          <p:cNvSpPr/>
          <p:nvPr/>
        </p:nvSpPr>
        <p:spPr>
          <a:xfrm>
            <a:off x="5791200" y="1447800"/>
            <a:ext cx="3230563" cy="4648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19" name="Google Shape;219;p12"/>
          <p:cNvSpPr txBox="1">
            <a:spLocks noGrp="1"/>
          </p:cNvSpPr>
          <p:nvPr>
            <p:ph type="body" idx="1"/>
          </p:nvPr>
        </p:nvSpPr>
        <p:spPr>
          <a:xfrm>
            <a:off x="838200" y="990600"/>
            <a:ext cx="7696200" cy="4419600"/>
          </a:xfrm>
          <a:prstGeom prst="rect">
            <a:avLst/>
          </a:prstGeom>
          <a:noFill/>
          <a:ln>
            <a:noFill/>
          </a:ln>
        </p:spPr>
        <p:txBody>
          <a:bodyPr spcFirstLastPara="1" wrap="square" lIns="91425" tIns="45700" rIns="91425" bIns="45700" anchor="t" anchorCtr="0">
            <a:normAutofit/>
          </a:bodyPr>
          <a:lstStyle/>
          <a:p>
            <a:pPr marL="274320" lvl="0" indent="-274320" algn="just" rtl="0">
              <a:lnSpc>
                <a:spcPct val="80000"/>
              </a:lnSpc>
              <a:spcBef>
                <a:spcPts val="0"/>
              </a:spcBef>
              <a:spcAft>
                <a:spcPts val="0"/>
              </a:spcAft>
              <a:buSzPts val="2210"/>
              <a:buChar char="⚫"/>
            </a:pPr>
            <a:r>
              <a:rPr lang="en-US">
                <a:latin typeface="Times New Roman"/>
                <a:ea typeface="Times New Roman"/>
                <a:cs typeface="Times New Roman"/>
                <a:sym typeface="Times New Roman"/>
              </a:rPr>
              <a:t>DBMS provider/developer will supply a package in which specific classes implementing standard JDBC driver (free).</a:t>
            </a:r>
            <a:endParaRPr/>
          </a:p>
          <a:p>
            <a:pPr marL="274320" lvl="0" indent="-274320" algn="just" rtl="0">
              <a:lnSpc>
                <a:spcPct val="80000"/>
              </a:lnSpc>
              <a:spcBef>
                <a:spcPts val="580"/>
              </a:spcBef>
              <a:spcAft>
                <a:spcPts val="0"/>
              </a:spcAft>
              <a:buSzPts val="2210"/>
              <a:buChar char="⚫"/>
            </a:pPr>
            <a:r>
              <a:rPr lang="en-US">
                <a:latin typeface="Times New Roman"/>
                <a:ea typeface="Times New Roman"/>
                <a:cs typeface="Times New Roman"/>
                <a:sym typeface="Times New Roman"/>
              </a:rPr>
              <a:t>Based on characteristics of DBMSs, four types of JDBC drivers are:</a:t>
            </a:r>
            <a:endParaRPr>
              <a:latin typeface="Times New Roman"/>
              <a:ea typeface="Times New Roman"/>
              <a:cs typeface="Times New Roman"/>
              <a:sym typeface="Times New Roman"/>
            </a:endParaRPr>
          </a:p>
          <a:p>
            <a:pPr marL="548640" lvl="1" indent="-228599" algn="just" rtl="0">
              <a:lnSpc>
                <a:spcPct val="80000"/>
              </a:lnSpc>
              <a:spcBef>
                <a:spcPts val="370"/>
              </a:spcBef>
              <a:spcAft>
                <a:spcPts val="0"/>
              </a:spcAft>
              <a:buSzPts val="2720"/>
              <a:buChar char="⚫"/>
            </a:pPr>
            <a:r>
              <a:rPr lang="en-US" sz="3200">
                <a:latin typeface="Times New Roman"/>
                <a:ea typeface="Times New Roman"/>
                <a:cs typeface="Times New Roman"/>
                <a:sym typeface="Times New Roman"/>
              </a:rPr>
              <a:t>Type 1: JDBC ODBC</a:t>
            </a:r>
            <a:endParaRPr/>
          </a:p>
          <a:p>
            <a:pPr marL="548640" lvl="1" indent="-228599" algn="just" rtl="0">
              <a:lnSpc>
                <a:spcPct val="80000"/>
              </a:lnSpc>
              <a:spcBef>
                <a:spcPts val="370"/>
              </a:spcBef>
              <a:spcAft>
                <a:spcPts val="0"/>
              </a:spcAft>
              <a:buSzPts val="2720"/>
              <a:buChar char="⚫"/>
            </a:pPr>
            <a:r>
              <a:rPr lang="en-US" sz="3200">
                <a:latin typeface="Times New Roman"/>
                <a:ea typeface="Times New Roman"/>
                <a:cs typeface="Times New Roman"/>
                <a:sym typeface="Times New Roman"/>
              </a:rPr>
              <a:t>Type 2: Native API</a:t>
            </a:r>
            <a:endParaRPr/>
          </a:p>
          <a:p>
            <a:pPr marL="548640" lvl="1" indent="-228599" algn="just" rtl="0">
              <a:lnSpc>
                <a:spcPct val="80000"/>
              </a:lnSpc>
              <a:spcBef>
                <a:spcPts val="370"/>
              </a:spcBef>
              <a:spcAft>
                <a:spcPts val="0"/>
              </a:spcAft>
              <a:buSzPts val="2720"/>
              <a:buChar char="⚫"/>
            </a:pPr>
            <a:r>
              <a:rPr lang="en-US" sz="3200">
                <a:latin typeface="Times New Roman"/>
                <a:ea typeface="Times New Roman"/>
                <a:cs typeface="Times New Roman"/>
                <a:sym typeface="Times New Roman"/>
              </a:rPr>
              <a:t>Type 3: Network Protocol </a:t>
            </a:r>
            <a:endParaRPr/>
          </a:p>
          <a:p>
            <a:pPr marL="548640" lvl="1" indent="-228599" algn="just" rtl="0">
              <a:lnSpc>
                <a:spcPct val="80000"/>
              </a:lnSpc>
              <a:spcBef>
                <a:spcPts val="370"/>
              </a:spcBef>
              <a:spcAft>
                <a:spcPts val="0"/>
              </a:spcAft>
              <a:buSzPts val="2720"/>
              <a:buChar char="⚫"/>
            </a:pPr>
            <a:r>
              <a:rPr lang="en-US" sz="3200">
                <a:latin typeface="Times New Roman"/>
                <a:ea typeface="Times New Roman"/>
                <a:cs typeface="Times New Roman"/>
                <a:sym typeface="Times New Roman"/>
              </a:rPr>
              <a:t>Type 4: Native Protocol</a:t>
            </a:r>
            <a:endParaRPr/>
          </a:p>
          <a:p>
            <a:pPr marL="342900" lvl="1" indent="-342900" algn="l" rtl="0">
              <a:spcBef>
                <a:spcPts val="370"/>
              </a:spcBef>
              <a:spcAft>
                <a:spcPts val="0"/>
              </a:spcAft>
              <a:buSzPts val="2720"/>
              <a:buFont typeface="Arial"/>
              <a:buChar char="•"/>
            </a:pPr>
            <a:r>
              <a:rPr lang="en-US" sz="3200">
                <a:latin typeface="Times New Roman"/>
                <a:ea typeface="Times New Roman"/>
                <a:cs typeface="Times New Roman"/>
                <a:sym typeface="Times New Roman"/>
              </a:rPr>
              <a:t>Type 1 and Type 4 are populated</a:t>
            </a:r>
            <a:r>
              <a:rPr lang="en-US" sz="3200">
                <a:latin typeface="Arial"/>
                <a:ea typeface="Arial"/>
                <a:cs typeface="Arial"/>
                <a:sym typeface="Arial"/>
              </a:rPr>
              <a:t>.</a:t>
            </a:r>
            <a:endParaRPr sz="320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3"/>
          <p:cNvSpPr txBox="1">
            <a:spLocks noGrp="1"/>
          </p:cNvSpPr>
          <p:nvPr>
            <p:ph type="title"/>
          </p:nvPr>
        </p:nvSpPr>
        <p:spPr>
          <a:xfrm>
            <a:off x="533400" y="304800"/>
            <a:ext cx="8458200" cy="533400"/>
          </a:xfrm>
          <a:prstGeom prst="rect">
            <a:avLst/>
          </a:prstGeom>
          <a:noFill/>
          <a:ln>
            <a:noFill/>
          </a:ln>
        </p:spPr>
        <p:txBody>
          <a:bodyPr spcFirstLastPara="1" wrap="square" lIns="91425" tIns="45700" rIns="91425" bIns="91425" anchor="b" anchorCtr="0">
            <a:normAutofit fontScale="90000"/>
          </a:bodyPr>
          <a:lstStyle/>
          <a:p>
            <a:pPr marL="0" lvl="0" indent="0" algn="r" rtl="0">
              <a:spcBef>
                <a:spcPts val="0"/>
              </a:spcBef>
              <a:spcAft>
                <a:spcPts val="0"/>
              </a:spcAft>
              <a:buClr>
                <a:srgbClr val="0000FF"/>
              </a:buClr>
              <a:buSzPct val="100000"/>
              <a:buFont typeface="Arial"/>
              <a:buNone/>
            </a:pPr>
            <a:r>
              <a:rPr lang="en-US" sz="3200">
                <a:latin typeface="Arial"/>
                <a:ea typeface="Arial"/>
                <a:cs typeface="Arial"/>
                <a:sym typeface="Arial"/>
              </a:rPr>
              <a:t>Type 1-Driver : </a:t>
            </a:r>
            <a:r>
              <a:rPr lang="en-US">
                <a:latin typeface="Arial"/>
                <a:ea typeface="Arial"/>
                <a:cs typeface="Arial"/>
                <a:sym typeface="Arial"/>
              </a:rPr>
              <a:t>JDBC-ODBC</a:t>
            </a:r>
            <a:r>
              <a:rPr lang="en-US" sz="3200">
                <a:latin typeface="Arial"/>
                <a:ea typeface="Arial"/>
                <a:cs typeface="Arial"/>
                <a:sym typeface="Arial"/>
              </a:rPr>
              <a:t> Bridge</a:t>
            </a:r>
            <a:endParaRPr/>
          </a:p>
        </p:txBody>
      </p:sp>
      <p:sp>
        <p:nvSpPr>
          <p:cNvPr id="225" name="Google Shape;225;p13"/>
          <p:cNvSpPr/>
          <p:nvPr/>
        </p:nvSpPr>
        <p:spPr>
          <a:xfrm>
            <a:off x="2663825" y="990600"/>
            <a:ext cx="3151188" cy="2174875"/>
          </a:xfrm>
          <a:prstGeom prst="rect">
            <a:avLst/>
          </a:prstGeom>
          <a:solidFill>
            <a:srgbClr val="FF6600"/>
          </a:solidFill>
          <a:ln w="9525" cap="flat" cmpd="sng">
            <a:solidFill>
              <a:srgbClr val="000000"/>
            </a:solidFill>
            <a:prstDash val="dash"/>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26" name="Google Shape;226;p13"/>
          <p:cNvSpPr/>
          <p:nvPr/>
        </p:nvSpPr>
        <p:spPr>
          <a:xfrm>
            <a:off x="3141663" y="1447800"/>
            <a:ext cx="2251075" cy="630238"/>
          </a:xfrm>
          <a:prstGeom prst="foldedCorner">
            <a:avLst>
              <a:gd name="adj" fmla="val 24944"/>
            </a:avLst>
          </a:prstGeom>
          <a:solidFill>
            <a:srgbClr val="E5FFFF"/>
          </a:soli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rgbClr val="FF0000"/>
                </a:solidFill>
                <a:latin typeface="Tahoma"/>
                <a:ea typeface="Tahoma"/>
                <a:cs typeface="Tahoma"/>
                <a:sym typeface="Tahoma"/>
              </a:rPr>
              <a:t>Java Application</a:t>
            </a:r>
            <a:endParaRPr/>
          </a:p>
        </p:txBody>
      </p:sp>
      <p:sp>
        <p:nvSpPr>
          <p:cNvPr id="227" name="Google Shape;227;p13"/>
          <p:cNvSpPr/>
          <p:nvPr/>
        </p:nvSpPr>
        <p:spPr>
          <a:xfrm>
            <a:off x="2889250" y="2209800"/>
            <a:ext cx="2701925" cy="800100"/>
          </a:xfrm>
          <a:prstGeom prst="cube">
            <a:avLst>
              <a:gd name="adj" fmla="val 16667"/>
            </a:avLst>
          </a:prstGeom>
          <a:solidFill>
            <a:srgbClr val="CCFFCC"/>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CC3300"/>
                </a:solidFill>
                <a:latin typeface="Tahoma"/>
                <a:ea typeface="Tahoma"/>
                <a:cs typeface="Tahoma"/>
                <a:sym typeface="Tahoma"/>
              </a:rPr>
              <a:t>Type I JDBC-ODBC Bridge</a:t>
            </a:r>
            <a:endParaRPr/>
          </a:p>
        </p:txBody>
      </p:sp>
      <p:sp>
        <p:nvSpPr>
          <p:cNvPr id="228" name="Google Shape;228;p13"/>
          <p:cNvSpPr txBox="1"/>
          <p:nvPr/>
        </p:nvSpPr>
        <p:spPr>
          <a:xfrm>
            <a:off x="1319213" y="3276600"/>
            <a:ext cx="2476500" cy="309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600" b="1">
                <a:solidFill>
                  <a:schemeClr val="dk1"/>
                </a:solidFill>
                <a:latin typeface="Tahoma"/>
                <a:ea typeface="Tahoma"/>
                <a:cs typeface="Tahoma"/>
                <a:sym typeface="Tahoma"/>
              </a:rPr>
              <a:t>SQL Command</a:t>
            </a:r>
            <a:endParaRPr/>
          </a:p>
        </p:txBody>
      </p:sp>
      <p:sp>
        <p:nvSpPr>
          <p:cNvPr id="229" name="Google Shape;229;p13"/>
          <p:cNvSpPr txBox="1"/>
          <p:nvPr/>
        </p:nvSpPr>
        <p:spPr>
          <a:xfrm>
            <a:off x="4595813" y="3276600"/>
            <a:ext cx="1576387" cy="3095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a:solidFill>
                  <a:schemeClr val="dk1"/>
                </a:solidFill>
                <a:latin typeface="Tahoma"/>
                <a:ea typeface="Tahoma"/>
                <a:cs typeface="Tahoma"/>
                <a:sym typeface="Tahoma"/>
              </a:rPr>
              <a:t>Result Set</a:t>
            </a:r>
            <a:endParaRPr/>
          </a:p>
        </p:txBody>
      </p:sp>
      <p:sp>
        <p:nvSpPr>
          <p:cNvPr id="230" name="Google Shape;230;p13"/>
          <p:cNvSpPr txBox="1"/>
          <p:nvPr/>
        </p:nvSpPr>
        <p:spPr>
          <a:xfrm>
            <a:off x="3114675" y="990600"/>
            <a:ext cx="2251075" cy="3111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0000CC"/>
                </a:solidFill>
                <a:latin typeface="Tahoma"/>
                <a:ea typeface="Tahoma"/>
                <a:cs typeface="Tahoma"/>
                <a:sym typeface="Tahoma"/>
              </a:rPr>
              <a:t>Application</a:t>
            </a:r>
            <a:endParaRPr/>
          </a:p>
        </p:txBody>
      </p:sp>
      <p:sp>
        <p:nvSpPr>
          <p:cNvPr id="231" name="Google Shape;231;p13"/>
          <p:cNvSpPr/>
          <p:nvPr/>
        </p:nvSpPr>
        <p:spPr>
          <a:xfrm>
            <a:off x="2663825" y="3733800"/>
            <a:ext cx="3151188" cy="457200"/>
          </a:xfrm>
          <a:prstGeom prst="plus">
            <a:avLst>
              <a:gd name="adj" fmla="val 25000"/>
            </a:avLst>
          </a:prstGeom>
          <a:gradFill>
            <a:gsLst>
              <a:gs pos="0">
                <a:srgbClr val="EAAAD5"/>
              </a:gs>
              <a:gs pos="50000">
                <a:srgbClr val="FFFFFF"/>
              </a:gs>
              <a:gs pos="100000">
                <a:srgbClr val="EAAAD5"/>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chemeClr val="accent1"/>
                </a:solidFill>
                <a:latin typeface="Tahoma"/>
                <a:ea typeface="Tahoma"/>
                <a:cs typeface="Tahoma"/>
                <a:sym typeface="Tahoma"/>
              </a:rPr>
              <a:t>MS ODBC Driver</a:t>
            </a:r>
            <a:endParaRPr/>
          </a:p>
        </p:txBody>
      </p:sp>
      <p:sp>
        <p:nvSpPr>
          <p:cNvPr id="232" name="Google Shape;232;p13"/>
          <p:cNvSpPr/>
          <p:nvPr/>
        </p:nvSpPr>
        <p:spPr>
          <a:xfrm rot="10800000" flipH="1">
            <a:off x="9906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33" name="Google Shape;233;p13"/>
          <p:cNvSpPr/>
          <p:nvPr/>
        </p:nvSpPr>
        <p:spPr>
          <a:xfrm>
            <a:off x="6096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34" name="Google Shape;234;p13"/>
          <p:cNvSpPr/>
          <p:nvPr/>
        </p:nvSpPr>
        <p:spPr>
          <a:xfrm>
            <a:off x="3827463" y="3200400"/>
            <a:ext cx="304800" cy="533400"/>
          </a:xfrm>
          <a:prstGeom prst="downArrow">
            <a:avLst>
              <a:gd name="adj1" fmla="val 29528"/>
              <a:gd name="adj2" fmla="val 4382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35" name="Google Shape;235;p13"/>
          <p:cNvSpPr/>
          <p:nvPr/>
        </p:nvSpPr>
        <p:spPr>
          <a:xfrm rot="10800000" flipH="1">
            <a:off x="4284663" y="3200400"/>
            <a:ext cx="304800" cy="533400"/>
          </a:xfrm>
          <a:prstGeom prst="downArrow">
            <a:avLst>
              <a:gd name="adj1" fmla="val 29528"/>
              <a:gd name="adj2" fmla="val 4382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36" name="Google Shape;236;p13"/>
          <p:cNvSpPr/>
          <p:nvPr/>
        </p:nvSpPr>
        <p:spPr>
          <a:xfrm>
            <a:off x="228600" y="5480050"/>
            <a:ext cx="1295400" cy="776288"/>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sp>
        <p:nvSpPr>
          <p:cNvPr id="237" name="Google Shape;237;p13"/>
          <p:cNvSpPr/>
          <p:nvPr/>
        </p:nvSpPr>
        <p:spPr>
          <a:xfrm>
            <a:off x="0" y="4648200"/>
            <a:ext cx="1981200" cy="457200"/>
          </a:xfrm>
          <a:prstGeom prst="plus">
            <a:avLst>
              <a:gd name="adj" fmla="val 25000"/>
            </a:avLst>
          </a:prstGeom>
          <a:gradFill>
            <a:gsLst>
              <a:gs pos="0">
                <a:srgbClr val="EAAAD5"/>
              </a:gs>
              <a:gs pos="50000">
                <a:srgbClr val="FFFFFF"/>
              </a:gs>
              <a:gs pos="100000">
                <a:srgbClr val="EAAAD5"/>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accent1"/>
                </a:solidFill>
                <a:latin typeface="Tahoma"/>
                <a:ea typeface="Tahoma"/>
                <a:cs typeface="Tahoma"/>
                <a:sym typeface="Tahoma"/>
              </a:rPr>
              <a:t>MS Access Driver</a:t>
            </a:r>
            <a:endParaRPr/>
          </a:p>
        </p:txBody>
      </p:sp>
      <p:sp>
        <p:nvSpPr>
          <p:cNvPr id="238" name="Google Shape;238;p13"/>
          <p:cNvSpPr/>
          <p:nvPr/>
        </p:nvSpPr>
        <p:spPr>
          <a:xfrm>
            <a:off x="2133600" y="4648200"/>
            <a:ext cx="1981200" cy="457200"/>
          </a:xfrm>
          <a:prstGeom prst="plus">
            <a:avLst>
              <a:gd name="adj" fmla="val 25000"/>
            </a:avLst>
          </a:prstGeom>
          <a:gradFill>
            <a:gsLst>
              <a:gs pos="0">
                <a:srgbClr val="EAAAD5"/>
              </a:gs>
              <a:gs pos="50000">
                <a:srgbClr val="FFFFFF"/>
              </a:gs>
              <a:gs pos="100000">
                <a:srgbClr val="EAAAD5"/>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accent1"/>
                </a:solidFill>
                <a:latin typeface="Tahoma"/>
                <a:ea typeface="Tahoma"/>
                <a:cs typeface="Tahoma"/>
                <a:sym typeface="Tahoma"/>
              </a:rPr>
              <a:t>MS Excel Driver</a:t>
            </a:r>
            <a:endParaRPr/>
          </a:p>
        </p:txBody>
      </p:sp>
      <p:sp>
        <p:nvSpPr>
          <p:cNvPr id="239" name="Google Shape;239;p13"/>
          <p:cNvSpPr/>
          <p:nvPr/>
        </p:nvSpPr>
        <p:spPr>
          <a:xfrm>
            <a:off x="4267200" y="4648200"/>
            <a:ext cx="2286000" cy="457200"/>
          </a:xfrm>
          <a:prstGeom prst="plus">
            <a:avLst>
              <a:gd name="adj" fmla="val 25000"/>
            </a:avLst>
          </a:prstGeom>
          <a:gradFill>
            <a:gsLst>
              <a:gs pos="0">
                <a:srgbClr val="EAAAD5"/>
              </a:gs>
              <a:gs pos="50000">
                <a:srgbClr val="FFFFFF"/>
              </a:gs>
              <a:gs pos="100000">
                <a:srgbClr val="EAAAD5"/>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accent1"/>
                </a:solidFill>
                <a:latin typeface="Tahoma"/>
                <a:ea typeface="Tahoma"/>
                <a:cs typeface="Tahoma"/>
                <a:sym typeface="Tahoma"/>
              </a:rPr>
              <a:t>MS SQL Srv Driver</a:t>
            </a:r>
            <a:endParaRPr/>
          </a:p>
        </p:txBody>
      </p:sp>
      <p:sp>
        <p:nvSpPr>
          <p:cNvPr id="240" name="Google Shape;240;p13"/>
          <p:cNvSpPr/>
          <p:nvPr/>
        </p:nvSpPr>
        <p:spPr>
          <a:xfrm>
            <a:off x="6705600" y="4648200"/>
            <a:ext cx="1600200" cy="457200"/>
          </a:xfrm>
          <a:prstGeom prst="plus">
            <a:avLst>
              <a:gd name="adj" fmla="val 25000"/>
            </a:avLst>
          </a:prstGeom>
          <a:gradFill>
            <a:gsLst>
              <a:gs pos="0">
                <a:srgbClr val="EAAAD5"/>
              </a:gs>
              <a:gs pos="50000">
                <a:srgbClr val="FFFFFF"/>
              </a:gs>
              <a:gs pos="100000">
                <a:srgbClr val="EAAAD5"/>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accent1"/>
                </a:solidFill>
                <a:latin typeface="Tahoma"/>
                <a:ea typeface="Tahoma"/>
                <a:cs typeface="Tahoma"/>
                <a:sym typeface="Tahoma"/>
              </a:rPr>
              <a:t>Oracle Driver</a:t>
            </a:r>
            <a:endParaRPr/>
          </a:p>
        </p:txBody>
      </p:sp>
      <p:sp>
        <p:nvSpPr>
          <p:cNvPr id="241" name="Google Shape;241;p13"/>
          <p:cNvSpPr/>
          <p:nvPr/>
        </p:nvSpPr>
        <p:spPr>
          <a:xfrm>
            <a:off x="8458200" y="4648200"/>
            <a:ext cx="609600" cy="457200"/>
          </a:xfrm>
          <a:prstGeom prst="plus">
            <a:avLst>
              <a:gd name="adj" fmla="val 25000"/>
            </a:avLst>
          </a:prstGeom>
          <a:gradFill>
            <a:gsLst>
              <a:gs pos="0">
                <a:srgbClr val="EAAAD5"/>
              </a:gs>
              <a:gs pos="50000">
                <a:srgbClr val="FFFFFF"/>
              </a:gs>
              <a:gs pos="100000">
                <a:srgbClr val="EAAAD5"/>
              </a:gs>
            </a:gsLst>
            <a:lin ang="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accent1"/>
                </a:solidFill>
                <a:latin typeface="Tahoma"/>
                <a:ea typeface="Tahoma"/>
                <a:cs typeface="Tahoma"/>
                <a:sym typeface="Tahoma"/>
              </a:rPr>
              <a:t>…</a:t>
            </a:r>
            <a:endParaRPr/>
          </a:p>
        </p:txBody>
      </p:sp>
      <p:sp>
        <p:nvSpPr>
          <p:cNvPr id="242" name="Google Shape;242;p13"/>
          <p:cNvSpPr/>
          <p:nvPr/>
        </p:nvSpPr>
        <p:spPr>
          <a:xfrm rot="10800000" flipH="1">
            <a:off x="31242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43" name="Google Shape;243;p13"/>
          <p:cNvSpPr/>
          <p:nvPr/>
        </p:nvSpPr>
        <p:spPr>
          <a:xfrm>
            <a:off x="27432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44" name="Google Shape;244;p13"/>
          <p:cNvSpPr/>
          <p:nvPr/>
        </p:nvSpPr>
        <p:spPr>
          <a:xfrm>
            <a:off x="2362200" y="5480050"/>
            <a:ext cx="1295400" cy="776288"/>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sp>
        <p:nvSpPr>
          <p:cNvPr id="245" name="Google Shape;245;p13"/>
          <p:cNvSpPr/>
          <p:nvPr/>
        </p:nvSpPr>
        <p:spPr>
          <a:xfrm rot="10800000" flipH="1">
            <a:off x="54102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46" name="Google Shape;246;p13"/>
          <p:cNvSpPr/>
          <p:nvPr/>
        </p:nvSpPr>
        <p:spPr>
          <a:xfrm>
            <a:off x="50292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47" name="Google Shape;247;p13"/>
          <p:cNvSpPr/>
          <p:nvPr/>
        </p:nvSpPr>
        <p:spPr>
          <a:xfrm>
            <a:off x="4648200" y="5480050"/>
            <a:ext cx="1295400" cy="776288"/>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sp>
        <p:nvSpPr>
          <p:cNvPr id="248" name="Google Shape;248;p13"/>
          <p:cNvSpPr/>
          <p:nvPr/>
        </p:nvSpPr>
        <p:spPr>
          <a:xfrm rot="10800000" flipH="1">
            <a:off x="76200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49" name="Google Shape;249;p13"/>
          <p:cNvSpPr/>
          <p:nvPr/>
        </p:nvSpPr>
        <p:spPr>
          <a:xfrm>
            <a:off x="7239000" y="5105400"/>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50" name="Google Shape;250;p13"/>
          <p:cNvSpPr/>
          <p:nvPr/>
        </p:nvSpPr>
        <p:spPr>
          <a:xfrm>
            <a:off x="6858000" y="5480050"/>
            <a:ext cx="1295400" cy="776288"/>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cxnSp>
        <p:nvCxnSpPr>
          <p:cNvPr id="251" name="Google Shape;251;p13"/>
          <p:cNvCxnSpPr>
            <a:stCxn id="231" idx="1"/>
            <a:endCxn id="237" idx="0"/>
          </p:cNvCxnSpPr>
          <p:nvPr/>
        </p:nvCxnSpPr>
        <p:spPr>
          <a:xfrm flipH="1">
            <a:off x="990725" y="3962400"/>
            <a:ext cx="1673100" cy="685800"/>
          </a:xfrm>
          <a:prstGeom prst="straightConnector1">
            <a:avLst/>
          </a:prstGeom>
          <a:noFill/>
          <a:ln w="57150" cap="flat" cmpd="sng">
            <a:solidFill>
              <a:srgbClr val="AE350A"/>
            </a:solidFill>
            <a:prstDash val="solid"/>
            <a:round/>
            <a:headEnd type="triangle" w="med" len="med"/>
            <a:tailEnd type="triangle" w="med" len="med"/>
          </a:ln>
        </p:spPr>
      </p:cxnSp>
      <p:cxnSp>
        <p:nvCxnSpPr>
          <p:cNvPr id="252" name="Google Shape;252;p13"/>
          <p:cNvCxnSpPr>
            <a:endCxn id="238" idx="0"/>
          </p:cNvCxnSpPr>
          <p:nvPr/>
        </p:nvCxnSpPr>
        <p:spPr>
          <a:xfrm>
            <a:off x="3124200" y="4191000"/>
            <a:ext cx="0" cy="457200"/>
          </a:xfrm>
          <a:prstGeom prst="straightConnector1">
            <a:avLst/>
          </a:prstGeom>
          <a:noFill/>
          <a:ln w="57150" cap="flat" cmpd="sng">
            <a:solidFill>
              <a:srgbClr val="AE350A"/>
            </a:solidFill>
            <a:prstDash val="solid"/>
            <a:round/>
            <a:headEnd type="triangle" w="med" len="med"/>
            <a:tailEnd type="triangle" w="med" len="med"/>
          </a:ln>
        </p:spPr>
      </p:cxnSp>
      <p:cxnSp>
        <p:nvCxnSpPr>
          <p:cNvPr id="253" name="Google Shape;253;p13"/>
          <p:cNvCxnSpPr/>
          <p:nvPr/>
        </p:nvCxnSpPr>
        <p:spPr>
          <a:xfrm rot="5400000">
            <a:off x="5105400" y="4419600"/>
            <a:ext cx="457200" cy="0"/>
          </a:xfrm>
          <a:prstGeom prst="straightConnector1">
            <a:avLst/>
          </a:prstGeom>
          <a:noFill/>
          <a:ln w="57150" cap="flat" cmpd="sng">
            <a:solidFill>
              <a:srgbClr val="AE350A"/>
            </a:solidFill>
            <a:prstDash val="solid"/>
            <a:round/>
            <a:headEnd type="triangle" w="med" len="med"/>
            <a:tailEnd type="triangle" w="med" len="med"/>
          </a:ln>
        </p:spPr>
      </p:cxnSp>
      <p:cxnSp>
        <p:nvCxnSpPr>
          <p:cNvPr id="254" name="Google Shape;254;p13"/>
          <p:cNvCxnSpPr>
            <a:stCxn id="231" idx="3"/>
          </p:cNvCxnSpPr>
          <p:nvPr/>
        </p:nvCxnSpPr>
        <p:spPr>
          <a:xfrm>
            <a:off x="5815013" y="3962400"/>
            <a:ext cx="1728900" cy="685800"/>
          </a:xfrm>
          <a:prstGeom prst="straightConnector1">
            <a:avLst/>
          </a:prstGeom>
          <a:noFill/>
          <a:ln w="57150" cap="flat" cmpd="sng">
            <a:solidFill>
              <a:srgbClr val="AE350A"/>
            </a:solidFill>
            <a:prstDash val="solid"/>
            <a:round/>
            <a:headEnd type="triangle" w="med" len="med"/>
            <a:tailEnd type="triangle" w="med" len="med"/>
          </a:ln>
        </p:spPr>
      </p:cxnSp>
      <p:sp>
        <p:nvSpPr>
          <p:cNvPr id="255" name="Google Shape;255;p13"/>
          <p:cNvSpPr/>
          <p:nvPr/>
        </p:nvSpPr>
        <p:spPr>
          <a:xfrm>
            <a:off x="6019800" y="3276600"/>
            <a:ext cx="3124200" cy="7620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u="sng">
                <a:solidFill>
                  <a:schemeClr val="lt1"/>
                </a:solidFill>
                <a:latin typeface="Libre Baskerville"/>
                <a:ea typeface="Libre Baskerville"/>
                <a:cs typeface="Libre Baskerville"/>
                <a:sym typeface="Libre Baskerville"/>
              </a:rPr>
              <a:t>Mapping</a:t>
            </a:r>
            <a:endParaRPr sz="1800">
              <a:solidFill>
                <a:schemeClr val="lt1"/>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US" sz="1800" b="1">
                <a:solidFill>
                  <a:schemeClr val="lt1"/>
                </a:solidFill>
                <a:latin typeface="Libre Baskerville"/>
                <a:ea typeface="Libre Baskerville"/>
                <a:cs typeface="Libre Baskerville"/>
                <a:sym typeface="Libre Baskerville"/>
              </a:rPr>
              <a:t>&lt;Datasource name, Data file&gt;</a:t>
            </a:r>
            <a:endParaRPr/>
          </a:p>
        </p:txBody>
      </p:sp>
      <p:sp>
        <p:nvSpPr>
          <p:cNvPr id="256" name="Google Shape;256;p13"/>
          <p:cNvSpPr/>
          <p:nvPr/>
        </p:nvSpPr>
        <p:spPr>
          <a:xfrm>
            <a:off x="6629400" y="1524000"/>
            <a:ext cx="1905000" cy="838200"/>
          </a:xfrm>
          <a:prstGeom prst="rect">
            <a:avLst/>
          </a:prstGeom>
          <a:solidFill>
            <a:srgbClr val="0000FF"/>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Libre Baskerville"/>
                <a:ea typeface="Libre Baskerville"/>
                <a:cs typeface="Libre Baskerville"/>
                <a:sym typeface="Libre Baskerville"/>
              </a:rPr>
              <a:t>Microsoft Technology</a:t>
            </a:r>
            <a:endParaRPr sz="2400">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4"/>
          <p:cNvSpPr txBox="1">
            <a:spLocks noGrp="1"/>
          </p:cNvSpPr>
          <p:nvPr>
            <p:ph type="title"/>
          </p:nvPr>
        </p:nvSpPr>
        <p:spPr>
          <a:xfrm>
            <a:off x="609600" y="228600"/>
            <a:ext cx="8077200" cy="533400"/>
          </a:xfrm>
          <a:prstGeom prst="rect">
            <a:avLst/>
          </a:prstGeom>
          <a:noFill/>
          <a:ln>
            <a:noFill/>
          </a:ln>
        </p:spPr>
        <p:txBody>
          <a:bodyPr spcFirstLastPara="1" wrap="square" lIns="91425" tIns="45700" rIns="91425" bIns="91425" anchor="b" anchorCtr="0">
            <a:normAutofit fontScale="90000"/>
          </a:bodyPr>
          <a:lstStyle/>
          <a:p>
            <a:pPr marL="0" lvl="0" indent="0" algn="r" rtl="0">
              <a:spcBef>
                <a:spcPts val="0"/>
              </a:spcBef>
              <a:spcAft>
                <a:spcPts val="0"/>
              </a:spcAft>
              <a:buClr>
                <a:srgbClr val="0000FF"/>
              </a:buClr>
              <a:buSzPct val="100000"/>
              <a:buFont typeface="Arial"/>
              <a:buNone/>
            </a:pPr>
            <a:r>
              <a:rPr lang="en-US">
                <a:latin typeface="Arial"/>
                <a:ea typeface="Arial"/>
                <a:cs typeface="Arial"/>
                <a:sym typeface="Arial"/>
              </a:rPr>
              <a:t>Type 1-Driver : JDBC-ODBC…</a:t>
            </a:r>
            <a:endParaRPr/>
          </a:p>
        </p:txBody>
      </p:sp>
      <p:sp>
        <p:nvSpPr>
          <p:cNvPr id="262" name="Google Shape;262;p14"/>
          <p:cNvSpPr txBox="1">
            <a:spLocks noGrp="1"/>
          </p:cNvSpPr>
          <p:nvPr>
            <p:ph type="body" idx="1"/>
          </p:nvPr>
        </p:nvSpPr>
        <p:spPr>
          <a:xfrm>
            <a:off x="228600" y="1371600"/>
            <a:ext cx="8458200" cy="4876800"/>
          </a:xfrm>
          <a:prstGeom prst="rect">
            <a:avLst/>
          </a:prstGeom>
          <a:noFill/>
          <a:ln>
            <a:noFill/>
          </a:ln>
        </p:spPr>
        <p:txBody>
          <a:bodyPr spcFirstLastPara="1" wrap="square" lIns="91425" tIns="45700" rIns="91425" bIns="45700" anchor="t" anchorCtr="0">
            <a:normAutofit/>
          </a:bodyPr>
          <a:lstStyle/>
          <a:p>
            <a:pPr marL="274320" lvl="0" indent="-274320" algn="just" rtl="0">
              <a:lnSpc>
                <a:spcPct val="80000"/>
              </a:lnSpc>
              <a:spcBef>
                <a:spcPts val="0"/>
              </a:spcBef>
              <a:spcAft>
                <a:spcPts val="0"/>
              </a:spcAft>
              <a:buSzPts val="2040"/>
              <a:buChar char="⚫"/>
            </a:pPr>
            <a:r>
              <a:rPr lang="en-US" sz="2400">
                <a:latin typeface="Times New Roman"/>
                <a:ea typeface="Times New Roman"/>
                <a:cs typeface="Times New Roman"/>
                <a:sym typeface="Times New Roman"/>
              </a:rPr>
              <a:t>This package is in the JDK as default.</a:t>
            </a:r>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Translates JDBC APIs to ODBC APIs </a:t>
            </a:r>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Enables the Java applications to interact with any database supported by Microsoft.</a:t>
            </a:r>
            <a:endParaRPr sz="2400">
              <a:latin typeface="Times New Roman"/>
              <a:ea typeface="Times New Roman"/>
              <a:cs typeface="Times New Roman"/>
              <a:sym typeface="Times New Roman"/>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Provides platform dependence, as JDBC ODBC bridge driver uses ODBC</a:t>
            </a:r>
            <a:endParaRPr sz="2400">
              <a:latin typeface="Times New Roman"/>
              <a:ea typeface="Times New Roman"/>
              <a:cs typeface="Times New Roman"/>
              <a:sym typeface="Times New Roman"/>
            </a:endParaRPr>
          </a:p>
          <a:p>
            <a:pPr marL="274320" lvl="0" indent="-274320" algn="just" rtl="0">
              <a:lnSpc>
                <a:spcPct val="80000"/>
              </a:lnSpc>
              <a:spcBef>
                <a:spcPts val="580"/>
              </a:spcBef>
              <a:spcAft>
                <a:spcPts val="0"/>
              </a:spcAft>
              <a:buSzPts val="2040"/>
              <a:buChar char="⚫"/>
            </a:pPr>
            <a:r>
              <a:rPr lang="en-US" sz="2400" b="1">
                <a:latin typeface="Times New Roman"/>
                <a:ea typeface="Times New Roman"/>
                <a:cs typeface="Times New Roman"/>
                <a:sym typeface="Times New Roman"/>
              </a:rPr>
              <a:t>JDBC-ODBC bridge is useful when Java driver is not available for a database but it is supported by Microsoft.</a:t>
            </a:r>
            <a:endParaRPr sz="2400" b="1">
              <a:latin typeface="Times New Roman"/>
              <a:ea typeface="Times New Roman"/>
              <a:cs typeface="Times New Roman"/>
              <a:sym typeface="Times New Roman"/>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Disadvantages</a:t>
            </a:r>
            <a:endParaRPr/>
          </a:p>
          <a:p>
            <a:pPr marL="548640" lvl="1" indent="-228600" algn="just" rtl="0">
              <a:lnSpc>
                <a:spcPct val="80000"/>
              </a:lnSpc>
              <a:spcBef>
                <a:spcPts val="370"/>
              </a:spcBef>
              <a:spcAft>
                <a:spcPts val="0"/>
              </a:spcAft>
              <a:buSzPts val="1700"/>
              <a:buChar char="⚫"/>
            </a:pPr>
            <a:r>
              <a:rPr lang="en-US" sz="2000">
                <a:latin typeface="Times New Roman"/>
                <a:ea typeface="Times New Roman"/>
                <a:cs typeface="Times New Roman"/>
                <a:sym typeface="Times New Roman"/>
              </a:rPr>
              <a:t>Platform dependence (Microsoft)</a:t>
            </a:r>
            <a:endParaRPr sz="2000">
              <a:latin typeface="Times New Roman"/>
              <a:ea typeface="Times New Roman"/>
              <a:cs typeface="Times New Roman"/>
              <a:sym typeface="Times New Roman"/>
            </a:endParaRPr>
          </a:p>
          <a:p>
            <a:pPr marL="548640" lvl="1" indent="-228600" algn="just" rtl="0">
              <a:lnSpc>
                <a:spcPct val="80000"/>
              </a:lnSpc>
              <a:spcBef>
                <a:spcPts val="370"/>
              </a:spcBef>
              <a:spcAft>
                <a:spcPts val="0"/>
              </a:spcAft>
              <a:buSzPts val="1700"/>
              <a:buChar char="⚫"/>
            </a:pPr>
            <a:r>
              <a:rPr lang="en-US" sz="2000">
                <a:latin typeface="Times New Roman"/>
                <a:ea typeface="Times New Roman"/>
                <a:cs typeface="Times New Roman"/>
                <a:sym typeface="Times New Roman"/>
              </a:rPr>
              <a:t>The performance is comparatively slower than other drivers</a:t>
            </a:r>
            <a:endParaRPr/>
          </a:p>
          <a:p>
            <a:pPr marL="548640" lvl="1" indent="-228600" algn="just" rtl="0">
              <a:lnSpc>
                <a:spcPct val="80000"/>
              </a:lnSpc>
              <a:spcBef>
                <a:spcPts val="370"/>
              </a:spcBef>
              <a:spcAft>
                <a:spcPts val="0"/>
              </a:spcAft>
              <a:buSzPts val="1700"/>
              <a:buChar char="⚫"/>
            </a:pPr>
            <a:r>
              <a:rPr lang="en-US" sz="2000">
                <a:latin typeface="Times New Roman"/>
                <a:ea typeface="Times New Roman"/>
                <a:cs typeface="Times New Roman"/>
                <a:sym typeface="Times New Roman"/>
              </a:rPr>
              <a:t>Require the ODBC driver and the client DB to be on the server.</a:t>
            </a:r>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Usage: DSN is registered to use connecting DB (a data source is declared in Control Panel/ODBC Data sources)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5"/>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Type 2-Driver: Native API</a:t>
            </a:r>
            <a:endParaRPr/>
          </a:p>
        </p:txBody>
      </p:sp>
      <p:sp>
        <p:nvSpPr>
          <p:cNvPr id="269" name="Google Shape;269;p15"/>
          <p:cNvSpPr txBox="1">
            <a:spLocks noGrp="1"/>
          </p:cNvSpPr>
          <p:nvPr>
            <p:ph type="body" idx="1"/>
          </p:nvPr>
        </p:nvSpPr>
        <p:spPr>
          <a:xfrm>
            <a:off x="228600" y="1143000"/>
            <a:ext cx="4114800" cy="5105400"/>
          </a:xfrm>
          <a:prstGeom prst="rect">
            <a:avLst/>
          </a:prstGeom>
          <a:noFill/>
          <a:ln>
            <a:noFill/>
          </a:ln>
        </p:spPr>
        <p:txBody>
          <a:bodyPr spcFirstLastPara="1" wrap="square" lIns="91425" tIns="45700" rIns="91425" bIns="45700" anchor="t" anchorCtr="0">
            <a:normAutofit lnSpcReduction="10000"/>
          </a:bodyPr>
          <a:lstStyle/>
          <a:p>
            <a:pPr marL="274320" lvl="0" indent="-274320" algn="just" rtl="0">
              <a:lnSpc>
                <a:spcPct val="80000"/>
              </a:lnSpc>
              <a:spcBef>
                <a:spcPts val="0"/>
              </a:spcBef>
              <a:spcAft>
                <a:spcPts val="0"/>
              </a:spcAft>
              <a:buSzPts val="2040"/>
              <a:buChar char="⚫"/>
            </a:pPr>
            <a:r>
              <a:rPr lang="en-US" sz="2400">
                <a:latin typeface="Times New Roman"/>
                <a:ea typeface="Times New Roman"/>
                <a:cs typeface="Times New Roman"/>
                <a:sym typeface="Times New Roman"/>
              </a:rPr>
              <a:t>Provides access to the database through C/C++ codes.</a:t>
            </a:r>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Developed using native code libraries</a:t>
            </a:r>
            <a:endParaRPr sz="2400">
              <a:latin typeface="Times New Roman"/>
              <a:ea typeface="Times New Roman"/>
              <a:cs typeface="Times New Roman"/>
              <a:sym typeface="Times New Roman"/>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Native code libraries provide access to the database, and improve the performance</a:t>
            </a:r>
            <a:endParaRPr sz="2400">
              <a:latin typeface="Times New Roman"/>
              <a:ea typeface="Times New Roman"/>
              <a:cs typeface="Times New Roman"/>
              <a:sym typeface="Times New Roman"/>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Java application sends a request for database connectivity as a normal JDBC call to the Native API driver</a:t>
            </a:r>
            <a:endParaRPr sz="2400">
              <a:latin typeface="Times New Roman"/>
              <a:ea typeface="Times New Roman"/>
              <a:cs typeface="Times New Roman"/>
              <a:sym typeface="Times New Roman"/>
            </a:endParaRPr>
          </a:p>
          <a:p>
            <a:pPr marL="274320" lvl="0" indent="-274320" algn="just" rtl="0">
              <a:lnSpc>
                <a:spcPct val="80000"/>
              </a:lnSpc>
              <a:spcBef>
                <a:spcPts val="580"/>
              </a:spcBef>
              <a:spcAft>
                <a:spcPts val="0"/>
              </a:spcAft>
              <a:buSzPts val="2040"/>
              <a:buChar char="⚫"/>
            </a:pPr>
            <a:r>
              <a:rPr lang="en-US" sz="2400">
                <a:latin typeface="Times New Roman"/>
                <a:ea typeface="Times New Roman"/>
                <a:cs typeface="Times New Roman"/>
                <a:sym typeface="Times New Roman"/>
              </a:rPr>
              <a:t>Establishes the call, and translates the call to the particular database protocol that is forwarded to the database</a:t>
            </a:r>
            <a:endParaRPr sz="2000">
              <a:latin typeface="Times New Roman"/>
              <a:ea typeface="Times New Roman"/>
              <a:cs typeface="Times New Roman"/>
              <a:sym typeface="Times New Roman"/>
            </a:endParaRPr>
          </a:p>
        </p:txBody>
      </p:sp>
      <p:sp>
        <p:nvSpPr>
          <p:cNvPr id="270" name="Google Shape;270;p15"/>
          <p:cNvSpPr/>
          <p:nvPr/>
        </p:nvSpPr>
        <p:spPr>
          <a:xfrm>
            <a:off x="5546725" y="1354138"/>
            <a:ext cx="3054350" cy="2139950"/>
          </a:xfrm>
          <a:prstGeom prst="rect">
            <a:avLst/>
          </a:prstGeom>
          <a:solidFill>
            <a:srgbClr val="FF6600"/>
          </a:solidFill>
          <a:ln w="9525" cap="flat" cmpd="sng">
            <a:solidFill>
              <a:srgbClr val="000000"/>
            </a:solidFill>
            <a:prstDash val="dash"/>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71" name="Google Shape;271;p15"/>
          <p:cNvSpPr/>
          <p:nvPr/>
        </p:nvSpPr>
        <p:spPr>
          <a:xfrm>
            <a:off x="5983288" y="1660525"/>
            <a:ext cx="2181225" cy="763588"/>
          </a:xfrm>
          <a:prstGeom prst="foldedCorner">
            <a:avLst>
              <a:gd name="adj" fmla="val 24944"/>
            </a:avLst>
          </a:prstGeom>
          <a:solidFill>
            <a:srgbClr val="E5FFFF"/>
          </a:soli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Java Application</a:t>
            </a:r>
            <a:endParaRPr/>
          </a:p>
        </p:txBody>
      </p:sp>
      <p:sp>
        <p:nvSpPr>
          <p:cNvPr id="272" name="Google Shape;272;p15"/>
          <p:cNvSpPr/>
          <p:nvPr/>
        </p:nvSpPr>
        <p:spPr>
          <a:xfrm>
            <a:off x="5764213" y="2576513"/>
            <a:ext cx="2619375" cy="763587"/>
          </a:xfrm>
          <a:prstGeom prst="cube">
            <a:avLst>
              <a:gd name="adj" fmla="val 18296"/>
            </a:avLst>
          </a:prstGeom>
          <a:solidFill>
            <a:srgbClr val="CCFFCC"/>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CC3300"/>
                </a:solidFill>
                <a:latin typeface="Tahoma"/>
                <a:ea typeface="Tahoma"/>
                <a:cs typeface="Tahoma"/>
                <a:sym typeface="Tahoma"/>
              </a:rPr>
              <a:t>Type II JDBC Driver</a:t>
            </a:r>
            <a:endParaRPr/>
          </a:p>
        </p:txBody>
      </p:sp>
      <p:sp>
        <p:nvSpPr>
          <p:cNvPr id="273" name="Google Shape;273;p15"/>
          <p:cNvSpPr/>
          <p:nvPr/>
        </p:nvSpPr>
        <p:spPr>
          <a:xfrm>
            <a:off x="6200775" y="5238750"/>
            <a:ext cx="1746250" cy="763588"/>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sp>
        <p:nvSpPr>
          <p:cNvPr id="274" name="Google Shape;274;p15"/>
          <p:cNvSpPr txBox="1"/>
          <p:nvPr/>
        </p:nvSpPr>
        <p:spPr>
          <a:xfrm>
            <a:off x="4237038" y="3646488"/>
            <a:ext cx="2400300" cy="3048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800" b="1">
                <a:solidFill>
                  <a:schemeClr val="dk1"/>
                </a:solidFill>
                <a:latin typeface="Tahoma"/>
                <a:ea typeface="Tahoma"/>
                <a:cs typeface="Tahoma"/>
                <a:sym typeface="Tahoma"/>
              </a:rPr>
              <a:t>SQL Command</a:t>
            </a:r>
            <a:endParaRPr/>
          </a:p>
        </p:txBody>
      </p:sp>
      <p:sp>
        <p:nvSpPr>
          <p:cNvPr id="275" name="Google Shape;275;p15"/>
          <p:cNvSpPr txBox="1"/>
          <p:nvPr/>
        </p:nvSpPr>
        <p:spPr>
          <a:xfrm>
            <a:off x="7510463" y="3646488"/>
            <a:ext cx="1527175"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Tahoma"/>
                <a:ea typeface="Tahoma"/>
                <a:cs typeface="Tahoma"/>
                <a:sym typeface="Tahoma"/>
              </a:rPr>
              <a:t>Result Set</a:t>
            </a:r>
            <a:endParaRPr/>
          </a:p>
        </p:txBody>
      </p:sp>
      <p:sp>
        <p:nvSpPr>
          <p:cNvPr id="276" name="Google Shape;276;p15"/>
          <p:cNvSpPr txBox="1"/>
          <p:nvPr/>
        </p:nvSpPr>
        <p:spPr>
          <a:xfrm>
            <a:off x="5983288" y="1354138"/>
            <a:ext cx="2181225" cy="30638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lt2"/>
                </a:solidFill>
                <a:latin typeface="Tahoma"/>
                <a:ea typeface="Tahoma"/>
                <a:cs typeface="Tahoma"/>
                <a:sym typeface="Tahoma"/>
              </a:rPr>
              <a:t>Application</a:t>
            </a:r>
            <a:endParaRPr/>
          </a:p>
        </p:txBody>
      </p:sp>
      <p:sp>
        <p:nvSpPr>
          <p:cNvPr id="277" name="Google Shape;277;p15"/>
          <p:cNvSpPr txBox="1"/>
          <p:nvPr/>
        </p:nvSpPr>
        <p:spPr>
          <a:xfrm>
            <a:off x="4237038" y="4868863"/>
            <a:ext cx="2617787" cy="306387"/>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800" b="1">
                <a:solidFill>
                  <a:schemeClr val="dk1"/>
                </a:solidFill>
                <a:latin typeface="Tahoma"/>
                <a:ea typeface="Tahoma"/>
                <a:cs typeface="Tahoma"/>
                <a:sym typeface="Tahoma"/>
              </a:rPr>
              <a:t>Proprietary Protocol</a:t>
            </a:r>
            <a:endParaRPr/>
          </a:p>
        </p:txBody>
      </p:sp>
      <p:sp>
        <p:nvSpPr>
          <p:cNvPr id="278" name="Google Shape;278;p15"/>
          <p:cNvSpPr/>
          <p:nvPr/>
        </p:nvSpPr>
        <p:spPr>
          <a:xfrm flipH="1">
            <a:off x="5546725" y="3976688"/>
            <a:ext cx="3273425" cy="1069975"/>
          </a:xfrm>
          <a:prstGeom prst="flowChartMultidocument">
            <a:avLst/>
          </a:prstGeom>
          <a:gradFill>
            <a:gsLst>
              <a:gs pos="0">
                <a:srgbClr val="FFCC99"/>
              </a:gs>
              <a:gs pos="50000">
                <a:srgbClr val="FFFFFF"/>
              </a:gs>
              <a:gs pos="100000">
                <a:srgbClr val="FFCC99"/>
              </a:gs>
            </a:gsLst>
            <a:lin ang="0" scaled="0"/>
          </a:gradFill>
          <a:ln w="9525" cap="flat" cmpd="sng">
            <a:solidFill>
              <a:srgbClr val="000000"/>
            </a:solidFill>
            <a:prstDash val="solid"/>
            <a:miter lim="800000"/>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rgbClr val="CC3300"/>
                </a:solidFill>
                <a:latin typeface="Tahoma"/>
                <a:ea typeface="Tahoma"/>
                <a:cs typeface="Tahoma"/>
                <a:sym typeface="Tahoma"/>
              </a:rPr>
              <a:t>Native Database Library</a:t>
            </a:r>
            <a:endParaRPr/>
          </a:p>
        </p:txBody>
      </p:sp>
      <p:sp>
        <p:nvSpPr>
          <p:cNvPr id="279" name="Google Shape;279;p15"/>
          <p:cNvSpPr/>
          <p:nvPr/>
        </p:nvSpPr>
        <p:spPr>
          <a:xfrm>
            <a:off x="6599238" y="3411538"/>
            <a:ext cx="304800" cy="533400"/>
          </a:xfrm>
          <a:prstGeom prst="downArrow">
            <a:avLst>
              <a:gd name="adj1" fmla="val 29528"/>
              <a:gd name="adj2" fmla="val 4382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80" name="Google Shape;280;p15"/>
          <p:cNvSpPr/>
          <p:nvPr/>
        </p:nvSpPr>
        <p:spPr>
          <a:xfrm rot="10800000" flipH="1">
            <a:off x="7208838" y="3411538"/>
            <a:ext cx="304800" cy="533400"/>
          </a:xfrm>
          <a:prstGeom prst="downArrow">
            <a:avLst>
              <a:gd name="adj1" fmla="val 29528"/>
              <a:gd name="adj2" fmla="val 4382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81" name="Google Shape;281;p15"/>
          <p:cNvSpPr/>
          <p:nvPr/>
        </p:nvSpPr>
        <p:spPr>
          <a:xfrm rot="10800000" flipH="1">
            <a:off x="7132638" y="4949825"/>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82" name="Google Shape;282;p15"/>
          <p:cNvSpPr/>
          <p:nvPr/>
        </p:nvSpPr>
        <p:spPr>
          <a:xfrm>
            <a:off x="6751638" y="4949825"/>
            <a:ext cx="304800" cy="366713"/>
          </a:xfrm>
          <a:prstGeom prst="downArrow">
            <a:avLst>
              <a:gd name="adj1" fmla="val 29528"/>
              <a:gd name="adj2" fmla="val 30128"/>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6"/>
          <p:cNvSpPr txBox="1">
            <a:spLocks noGrp="1"/>
          </p:cNvSpPr>
          <p:nvPr>
            <p:ph type="title"/>
          </p:nvPr>
        </p:nvSpPr>
        <p:spPr>
          <a:xfrm>
            <a:off x="685800" y="0"/>
            <a:ext cx="8229600" cy="12192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Type 3-Driver: Network Protocol</a:t>
            </a:r>
            <a:endParaRPr/>
          </a:p>
        </p:txBody>
      </p:sp>
      <p:sp>
        <p:nvSpPr>
          <p:cNvPr id="288" name="Google Shape;288;p16"/>
          <p:cNvSpPr txBox="1">
            <a:spLocks noGrp="1"/>
          </p:cNvSpPr>
          <p:nvPr>
            <p:ph type="body" idx="1"/>
          </p:nvPr>
        </p:nvSpPr>
        <p:spPr>
          <a:xfrm>
            <a:off x="457200" y="1600200"/>
            <a:ext cx="4876800" cy="4525963"/>
          </a:xfrm>
          <a:prstGeom prst="rect">
            <a:avLst/>
          </a:prstGeom>
          <a:noFill/>
          <a:ln>
            <a:noFill/>
          </a:ln>
        </p:spPr>
        <p:txBody>
          <a:bodyPr spcFirstLastPara="1" wrap="square" lIns="91425" tIns="45700" rIns="91425" bIns="45700" anchor="t" anchorCtr="0">
            <a:normAutofit/>
          </a:bodyPr>
          <a:lstStyle/>
          <a:p>
            <a:pPr marL="274320" lvl="0" indent="-274320" algn="just" rtl="0">
              <a:lnSpc>
                <a:spcPct val="90000"/>
              </a:lnSpc>
              <a:spcBef>
                <a:spcPts val="0"/>
              </a:spcBef>
              <a:spcAft>
                <a:spcPts val="0"/>
              </a:spcAft>
              <a:buSzPts val="2380"/>
              <a:buChar char="⚫"/>
            </a:pPr>
            <a:r>
              <a:rPr lang="en-US" sz="2800">
                <a:latin typeface="Times New Roman"/>
                <a:ea typeface="Times New Roman"/>
                <a:cs typeface="Times New Roman"/>
                <a:sym typeface="Times New Roman"/>
              </a:rPr>
              <a:t>Use a pure Java client and communicate with a middleware server using a database-independent protocol. </a:t>
            </a:r>
            <a:endParaRPr/>
          </a:p>
          <a:p>
            <a:pPr marL="274320" lvl="0" indent="-274320" algn="just" rtl="0">
              <a:lnSpc>
                <a:spcPct val="90000"/>
              </a:lnSpc>
              <a:spcBef>
                <a:spcPts val="580"/>
              </a:spcBef>
              <a:spcAft>
                <a:spcPts val="0"/>
              </a:spcAft>
              <a:buSzPts val="2380"/>
              <a:buChar char="⚫"/>
            </a:pPr>
            <a:r>
              <a:rPr lang="en-US" sz="2800">
                <a:latin typeface="Times New Roman"/>
                <a:ea typeface="Times New Roman"/>
                <a:cs typeface="Times New Roman"/>
                <a:sym typeface="Times New Roman"/>
              </a:rPr>
              <a:t>The middleware server then communicates the client</a:t>
            </a:r>
            <a:r>
              <a:rPr lang="en-US" sz="2800">
                <a:latin typeface="Arial"/>
                <a:ea typeface="Arial"/>
                <a:cs typeface="Arial"/>
                <a:sym typeface="Arial"/>
              </a:rPr>
              <a:t>’</a:t>
            </a:r>
            <a:r>
              <a:rPr lang="en-US" sz="2800">
                <a:latin typeface="Times New Roman"/>
                <a:ea typeface="Times New Roman"/>
                <a:cs typeface="Times New Roman"/>
                <a:sym typeface="Times New Roman"/>
              </a:rPr>
              <a:t>s requests to the data source</a:t>
            </a:r>
            <a:endParaRPr/>
          </a:p>
          <a:p>
            <a:pPr marL="274320" lvl="0" indent="-274320" algn="just" rtl="0">
              <a:lnSpc>
                <a:spcPct val="90000"/>
              </a:lnSpc>
              <a:spcBef>
                <a:spcPts val="580"/>
              </a:spcBef>
              <a:spcAft>
                <a:spcPts val="0"/>
              </a:spcAft>
              <a:buSzPts val="2380"/>
              <a:buChar char="⚫"/>
            </a:pPr>
            <a:r>
              <a:rPr lang="en-US" sz="2800">
                <a:latin typeface="Times New Roman"/>
                <a:ea typeface="Times New Roman"/>
                <a:cs typeface="Times New Roman"/>
                <a:sym typeface="Times New Roman"/>
              </a:rPr>
              <a:t>Manages multiple Java applications connecting to different databases</a:t>
            </a:r>
            <a:endParaRPr/>
          </a:p>
          <a:p>
            <a:pPr marL="274320" lvl="0" indent="-123190" algn="l" rtl="0">
              <a:spcBef>
                <a:spcPts val="580"/>
              </a:spcBef>
              <a:spcAft>
                <a:spcPts val="0"/>
              </a:spcAft>
              <a:buSzPts val="2380"/>
              <a:buNone/>
            </a:pPr>
            <a:endParaRPr sz="2800">
              <a:latin typeface="Arial"/>
              <a:ea typeface="Arial"/>
              <a:cs typeface="Arial"/>
              <a:sym typeface="Arial"/>
            </a:endParaRPr>
          </a:p>
        </p:txBody>
      </p:sp>
      <p:sp>
        <p:nvSpPr>
          <p:cNvPr id="289" name="Google Shape;289;p16"/>
          <p:cNvSpPr/>
          <p:nvPr/>
        </p:nvSpPr>
        <p:spPr>
          <a:xfrm>
            <a:off x="5484813" y="1371600"/>
            <a:ext cx="3346450" cy="2217738"/>
          </a:xfrm>
          <a:prstGeom prst="rect">
            <a:avLst/>
          </a:prstGeom>
          <a:solidFill>
            <a:srgbClr val="FF6600"/>
          </a:solidFill>
          <a:ln w="9525" cap="flat" cmpd="sng">
            <a:solidFill>
              <a:srgbClr val="000000"/>
            </a:solidFill>
            <a:prstDash val="dash"/>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90" name="Google Shape;290;p16"/>
          <p:cNvSpPr/>
          <p:nvPr/>
        </p:nvSpPr>
        <p:spPr>
          <a:xfrm>
            <a:off x="5962650" y="1812925"/>
            <a:ext cx="2390775" cy="739775"/>
          </a:xfrm>
          <a:prstGeom prst="foldedCorner">
            <a:avLst>
              <a:gd name="adj" fmla="val 24944"/>
            </a:avLst>
          </a:prstGeom>
          <a:solidFill>
            <a:srgbClr val="E5FFFF"/>
          </a:soli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Java Application</a:t>
            </a:r>
            <a:endParaRPr/>
          </a:p>
        </p:txBody>
      </p:sp>
      <p:sp>
        <p:nvSpPr>
          <p:cNvPr id="291" name="Google Shape;291;p16"/>
          <p:cNvSpPr/>
          <p:nvPr/>
        </p:nvSpPr>
        <p:spPr>
          <a:xfrm>
            <a:off x="5724525" y="2660650"/>
            <a:ext cx="2867025" cy="781050"/>
          </a:xfrm>
          <a:prstGeom prst="cube">
            <a:avLst>
              <a:gd name="adj" fmla="val 15852"/>
            </a:avLst>
          </a:prstGeom>
          <a:solidFill>
            <a:srgbClr val="CCFFCC"/>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CC3300"/>
                </a:solidFill>
                <a:latin typeface="Tahoma"/>
                <a:ea typeface="Tahoma"/>
                <a:cs typeface="Tahoma"/>
                <a:sym typeface="Tahoma"/>
              </a:rPr>
              <a:t>Type III JDBC Driver</a:t>
            </a:r>
            <a:endParaRPr/>
          </a:p>
        </p:txBody>
      </p:sp>
      <p:sp>
        <p:nvSpPr>
          <p:cNvPr id="292" name="Google Shape;292;p16"/>
          <p:cNvSpPr/>
          <p:nvPr/>
        </p:nvSpPr>
        <p:spPr>
          <a:xfrm>
            <a:off x="6202363" y="5426075"/>
            <a:ext cx="1911350" cy="739775"/>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sp>
        <p:nvSpPr>
          <p:cNvPr id="293" name="Google Shape;293;p16"/>
          <p:cNvSpPr txBox="1"/>
          <p:nvPr/>
        </p:nvSpPr>
        <p:spPr>
          <a:xfrm>
            <a:off x="5962650" y="1371600"/>
            <a:ext cx="2390775" cy="2952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lt2"/>
                </a:solidFill>
                <a:latin typeface="Tahoma"/>
                <a:ea typeface="Tahoma"/>
                <a:cs typeface="Tahoma"/>
                <a:sym typeface="Tahoma"/>
              </a:rPr>
              <a:t>Application</a:t>
            </a:r>
            <a:endParaRPr/>
          </a:p>
        </p:txBody>
      </p:sp>
      <p:sp>
        <p:nvSpPr>
          <p:cNvPr id="294" name="Google Shape;294;p16"/>
          <p:cNvSpPr/>
          <p:nvPr/>
        </p:nvSpPr>
        <p:spPr>
          <a:xfrm flipH="1">
            <a:off x="5724525" y="4094163"/>
            <a:ext cx="2867025" cy="1036637"/>
          </a:xfrm>
          <a:prstGeom prst="flowChartPunchedTape">
            <a:avLst/>
          </a:prstGeom>
          <a:gradFill>
            <a:gsLst>
              <a:gs pos="0">
                <a:srgbClr val="CCECFF"/>
              </a:gs>
              <a:gs pos="50000">
                <a:srgbClr val="FFFFFF"/>
              </a:gs>
              <a:gs pos="100000">
                <a:srgbClr val="CCECFF"/>
              </a:gs>
            </a:gsLst>
            <a:lin ang="0" scaled="0"/>
          </a:gradFill>
          <a:ln w="9525" cap="flat" cmpd="sng">
            <a:solidFill>
              <a:srgbClr val="000000"/>
            </a:solidFill>
            <a:prstDash val="solid"/>
            <a:miter lim="800000"/>
            <a:headEnd type="none" w="sm" len="sm"/>
            <a:tailEnd type="none" w="sm" len="sm"/>
          </a:ln>
        </p:spPr>
        <p:txBody>
          <a:bodyPr spcFirstLastPara="1" wrap="square" lIns="91425" tIns="0" rIns="91425" bIns="45700" anchor="t" anchorCtr="0">
            <a:noAutofit/>
          </a:bodyPr>
          <a:lstStyle/>
          <a:p>
            <a:pPr marL="0" marR="0" lvl="0" indent="0" algn="ctr" rtl="0">
              <a:spcBef>
                <a:spcPts val="0"/>
              </a:spcBef>
              <a:spcAft>
                <a:spcPts val="0"/>
              </a:spcAft>
              <a:buNone/>
            </a:pPr>
            <a:r>
              <a:rPr lang="en-US" sz="1800" b="1">
                <a:solidFill>
                  <a:srgbClr val="CC3300"/>
                </a:solidFill>
                <a:latin typeface="Tahoma"/>
                <a:ea typeface="Tahoma"/>
                <a:cs typeface="Tahoma"/>
                <a:sym typeface="Tahoma"/>
              </a:rPr>
              <a:t>Middleware</a:t>
            </a:r>
            <a:endParaRPr/>
          </a:p>
        </p:txBody>
      </p:sp>
      <p:sp>
        <p:nvSpPr>
          <p:cNvPr id="295" name="Google Shape;295;p16"/>
          <p:cNvSpPr/>
          <p:nvPr/>
        </p:nvSpPr>
        <p:spPr>
          <a:xfrm>
            <a:off x="6202363" y="4513263"/>
            <a:ext cx="1911350" cy="333375"/>
          </a:xfrm>
          <a:prstGeom prst="cube">
            <a:avLst>
              <a:gd name="adj" fmla="val 25000"/>
            </a:avLst>
          </a:prstGeom>
          <a:solidFill>
            <a:srgbClr val="C0C0EA"/>
          </a:solidFill>
          <a:ln w="9525" cap="flat" cmpd="sng">
            <a:solidFill>
              <a:srgbClr val="000000"/>
            </a:solidFill>
            <a:prstDash val="solid"/>
            <a:miter lim="800000"/>
            <a:headEnd type="none" w="sm" len="sm"/>
            <a:tailEnd type="none" w="sm" len="sm"/>
          </a:ln>
        </p:spPr>
        <p:txBody>
          <a:bodyPr spcFirstLastPara="1" wrap="square" lIns="91425" tIns="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JDBC</a:t>
            </a:r>
            <a:endParaRPr/>
          </a:p>
        </p:txBody>
      </p:sp>
      <p:sp>
        <p:nvSpPr>
          <p:cNvPr id="296" name="Google Shape;296;p16"/>
          <p:cNvSpPr/>
          <p:nvPr/>
        </p:nvSpPr>
        <p:spPr>
          <a:xfrm>
            <a:off x="6642100" y="3651250"/>
            <a:ext cx="304800" cy="533400"/>
          </a:xfrm>
          <a:prstGeom prst="downArrow">
            <a:avLst>
              <a:gd name="adj1" fmla="val 29528"/>
              <a:gd name="adj2" fmla="val 4382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97" name="Google Shape;297;p16"/>
          <p:cNvSpPr/>
          <p:nvPr/>
        </p:nvSpPr>
        <p:spPr>
          <a:xfrm rot="10800000" flipH="1">
            <a:off x="7251700" y="3651250"/>
            <a:ext cx="304800" cy="533400"/>
          </a:xfrm>
          <a:prstGeom prst="downArrow">
            <a:avLst>
              <a:gd name="adj1" fmla="val 29528"/>
              <a:gd name="adj2" fmla="val 4382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98" name="Google Shape;298;p16"/>
          <p:cNvSpPr/>
          <p:nvPr/>
        </p:nvSpPr>
        <p:spPr>
          <a:xfrm rot="10800000" flipH="1">
            <a:off x="7175500" y="5099050"/>
            <a:ext cx="304800" cy="457200"/>
          </a:xfrm>
          <a:prstGeom prst="downArrow">
            <a:avLst>
              <a:gd name="adj1" fmla="val 29528"/>
              <a:gd name="adj2" fmla="val 3756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299" name="Google Shape;299;p16"/>
          <p:cNvSpPr/>
          <p:nvPr/>
        </p:nvSpPr>
        <p:spPr>
          <a:xfrm>
            <a:off x="6794500" y="5099050"/>
            <a:ext cx="304800" cy="457200"/>
          </a:xfrm>
          <a:prstGeom prst="downArrow">
            <a:avLst>
              <a:gd name="adj1" fmla="val 29528"/>
              <a:gd name="adj2" fmla="val 37563"/>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300" name="Google Shape;300;p16"/>
          <p:cNvSpPr txBox="1"/>
          <p:nvPr/>
        </p:nvSpPr>
        <p:spPr>
          <a:xfrm>
            <a:off x="7515225" y="3810000"/>
            <a:ext cx="1476375" cy="298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Tahoma"/>
                <a:ea typeface="Tahoma"/>
                <a:cs typeface="Tahoma"/>
                <a:sym typeface="Tahoma"/>
              </a:rPr>
              <a:t>Result Set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Type 4-Driver: Native Protocol</a:t>
            </a:r>
            <a:endParaRPr/>
          </a:p>
        </p:txBody>
      </p:sp>
      <p:sp>
        <p:nvSpPr>
          <p:cNvPr id="306" name="Google Shape;306;p17"/>
          <p:cNvSpPr txBox="1">
            <a:spLocks noGrp="1"/>
          </p:cNvSpPr>
          <p:nvPr>
            <p:ph type="body" idx="1"/>
          </p:nvPr>
        </p:nvSpPr>
        <p:spPr>
          <a:xfrm>
            <a:off x="228600" y="1371600"/>
            <a:ext cx="4648200" cy="4754563"/>
          </a:xfrm>
          <a:prstGeom prst="rect">
            <a:avLst/>
          </a:prstGeom>
          <a:noFill/>
          <a:ln>
            <a:noFill/>
          </a:ln>
        </p:spPr>
        <p:txBody>
          <a:bodyPr spcFirstLastPara="1" wrap="square" lIns="91425" tIns="45700" rIns="91425" bIns="45700" anchor="t" anchorCtr="0">
            <a:normAutofit fontScale="92500"/>
          </a:bodyPr>
          <a:lstStyle/>
          <a:p>
            <a:pPr marL="274320" lvl="0" indent="-274320" algn="just" rtl="0">
              <a:lnSpc>
                <a:spcPct val="90000"/>
              </a:lnSpc>
              <a:spcBef>
                <a:spcPts val="0"/>
              </a:spcBef>
              <a:spcAft>
                <a:spcPts val="0"/>
              </a:spcAft>
              <a:buSzPct val="85000"/>
              <a:buChar char="⚫"/>
            </a:pPr>
            <a:r>
              <a:rPr lang="en-US" sz="2400">
                <a:latin typeface="Times New Roman"/>
                <a:ea typeface="Times New Roman"/>
                <a:cs typeface="Times New Roman"/>
                <a:sym typeface="Times New Roman"/>
              </a:rPr>
              <a:t>Communicates directly with the database using Java sockets</a:t>
            </a:r>
            <a:endParaRPr sz="2400">
              <a:latin typeface="Times New Roman"/>
              <a:ea typeface="Times New Roman"/>
              <a:cs typeface="Times New Roman"/>
              <a:sym typeface="Times New Roman"/>
            </a:endParaRPr>
          </a:p>
          <a:p>
            <a:pPr marL="274320" lvl="0" indent="-274320" algn="just" rtl="0">
              <a:lnSpc>
                <a:spcPct val="90000"/>
              </a:lnSpc>
              <a:spcBef>
                <a:spcPts val="580"/>
              </a:spcBef>
              <a:spcAft>
                <a:spcPts val="0"/>
              </a:spcAft>
              <a:buSzPct val="85000"/>
              <a:buChar char="⚫"/>
            </a:pPr>
            <a:r>
              <a:rPr lang="en-US" sz="2400">
                <a:latin typeface="Times New Roman"/>
                <a:ea typeface="Times New Roman"/>
                <a:cs typeface="Times New Roman"/>
                <a:sym typeface="Times New Roman"/>
              </a:rPr>
              <a:t>Improves the performance as translation is not required</a:t>
            </a:r>
            <a:endParaRPr sz="2400">
              <a:latin typeface="Times New Roman"/>
              <a:ea typeface="Times New Roman"/>
              <a:cs typeface="Times New Roman"/>
              <a:sym typeface="Times New Roman"/>
            </a:endParaRPr>
          </a:p>
          <a:p>
            <a:pPr marL="274320" lvl="0" indent="-274320" algn="just" rtl="0">
              <a:lnSpc>
                <a:spcPct val="90000"/>
              </a:lnSpc>
              <a:spcBef>
                <a:spcPts val="580"/>
              </a:spcBef>
              <a:spcAft>
                <a:spcPts val="0"/>
              </a:spcAft>
              <a:buSzPct val="85000"/>
              <a:buChar char="⚫"/>
            </a:pPr>
            <a:r>
              <a:rPr lang="en-US" sz="2400">
                <a:latin typeface="Times New Roman"/>
                <a:ea typeface="Times New Roman"/>
                <a:cs typeface="Times New Roman"/>
                <a:sym typeface="Times New Roman"/>
              </a:rPr>
              <a:t>Converts JDBC queries into native calls used by the particular RDBMS</a:t>
            </a:r>
            <a:endParaRPr sz="2400">
              <a:latin typeface="Times New Roman"/>
              <a:ea typeface="Times New Roman"/>
              <a:cs typeface="Times New Roman"/>
              <a:sym typeface="Times New Roman"/>
            </a:endParaRPr>
          </a:p>
          <a:p>
            <a:pPr marL="274320" lvl="0" indent="-274320" algn="just" rtl="0">
              <a:lnSpc>
                <a:spcPct val="90000"/>
              </a:lnSpc>
              <a:spcBef>
                <a:spcPts val="580"/>
              </a:spcBef>
              <a:spcAft>
                <a:spcPts val="0"/>
              </a:spcAft>
              <a:buSzPct val="85000"/>
              <a:buChar char="⚫"/>
            </a:pPr>
            <a:r>
              <a:rPr lang="en-US" sz="2400">
                <a:latin typeface="Times New Roman"/>
                <a:ea typeface="Times New Roman"/>
                <a:cs typeface="Times New Roman"/>
                <a:sym typeface="Times New Roman"/>
              </a:rPr>
              <a:t>The driver library is required when it is used and attached with the deployed application (</a:t>
            </a:r>
            <a:r>
              <a:rPr lang="en-US" sz="2400" b="1">
                <a:latin typeface="Times New Roman"/>
                <a:ea typeface="Times New Roman"/>
                <a:cs typeface="Times New Roman"/>
                <a:sym typeface="Times New Roman"/>
              </a:rPr>
              <a:t>sqlserver 2019</a:t>
            </a:r>
            <a:r>
              <a:rPr lang="en-US" sz="2400">
                <a:latin typeface="Times New Roman"/>
                <a:ea typeface="Times New Roman"/>
                <a:cs typeface="Times New Roman"/>
                <a:sym typeface="Times New Roman"/>
              </a:rPr>
              <a:t>: mssql-jdbc-9.4.0.jre8.jar</a:t>
            </a:r>
            <a:r>
              <a:rPr lang="en-US" sz="2400"/>
              <a:t> or higher</a:t>
            </a: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sqlserver 2022</a:t>
            </a:r>
            <a:r>
              <a:rPr lang="en-US" sz="2400">
                <a:latin typeface="Times New Roman"/>
                <a:ea typeface="Times New Roman"/>
                <a:cs typeface="Times New Roman"/>
                <a:sym typeface="Times New Roman"/>
              </a:rPr>
              <a:t>: mssql-jdbc-12.10.0.jre8.jar </a:t>
            </a:r>
            <a:r>
              <a:rPr lang="en-US" sz="2400">
                <a:latin typeface="Arial"/>
                <a:ea typeface="Arial"/>
                <a:cs typeface="Arial"/>
                <a:sym typeface="Arial"/>
              </a:rPr>
              <a:t>…</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274320" lvl="0" indent="-274320" algn="just" rtl="0">
              <a:lnSpc>
                <a:spcPct val="90000"/>
              </a:lnSpc>
              <a:spcBef>
                <a:spcPts val="580"/>
              </a:spcBef>
              <a:spcAft>
                <a:spcPts val="0"/>
              </a:spcAft>
              <a:buSzPct val="85000"/>
              <a:buChar char="⚫"/>
            </a:pPr>
            <a:r>
              <a:rPr lang="en-US" sz="2400">
                <a:latin typeface="Times New Roman"/>
                <a:ea typeface="Times New Roman"/>
                <a:cs typeface="Times New Roman"/>
                <a:sym typeface="Times New Roman"/>
              </a:rPr>
              <a:t>Independent platform</a:t>
            </a:r>
            <a:endParaRPr sz="2400">
              <a:latin typeface="Times New Roman"/>
              <a:ea typeface="Times New Roman"/>
              <a:cs typeface="Times New Roman"/>
              <a:sym typeface="Times New Roman"/>
            </a:endParaRPr>
          </a:p>
          <a:p>
            <a:pPr marL="274320" lvl="0" indent="-154495" algn="l" rtl="0">
              <a:spcBef>
                <a:spcPts val="580"/>
              </a:spcBef>
              <a:spcAft>
                <a:spcPts val="0"/>
              </a:spcAft>
              <a:buSzPct val="85000"/>
              <a:buNone/>
            </a:pPr>
            <a:endParaRPr sz="2400">
              <a:latin typeface="Arial"/>
              <a:ea typeface="Arial"/>
              <a:cs typeface="Arial"/>
              <a:sym typeface="Arial"/>
            </a:endParaRPr>
          </a:p>
        </p:txBody>
      </p:sp>
      <p:sp>
        <p:nvSpPr>
          <p:cNvPr id="307" name="Google Shape;307;p17"/>
          <p:cNvSpPr/>
          <p:nvPr/>
        </p:nvSpPr>
        <p:spPr>
          <a:xfrm>
            <a:off x="5519737" y="1219200"/>
            <a:ext cx="3319463" cy="2646362"/>
          </a:xfrm>
          <a:prstGeom prst="rect">
            <a:avLst/>
          </a:prstGeom>
          <a:solidFill>
            <a:srgbClr val="FF6600"/>
          </a:solidFill>
          <a:ln w="9525" cap="flat" cmpd="sng">
            <a:solidFill>
              <a:srgbClr val="000000"/>
            </a:solidFill>
            <a:prstDash val="dash"/>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308" name="Google Shape;308;p17"/>
          <p:cNvSpPr/>
          <p:nvPr/>
        </p:nvSpPr>
        <p:spPr>
          <a:xfrm>
            <a:off x="5994400" y="1597025"/>
            <a:ext cx="2370137" cy="946150"/>
          </a:xfrm>
          <a:prstGeom prst="foldedCorner">
            <a:avLst>
              <a:gd name="adj" fmla="val 24944"/>
            </a:avLst>
          </a:prstGeom>
          <a:solidFill>
            <a:srgbClr val="E5FFFF"/>
          </a:soli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Java Application</a:t>
            </a:r>
            <a:endParaRPr/>
          </a:p>
        </p:txBody>
      </p:sp>
      <p:sp>
        <p:nvSpPr>
          <p:cNvPr id="309" name="Google Shape;309;p17"/>
          <p:cNvSpPr/>
          <p:nvPr/>
        </p:nvSpPr>
        <p:spPr>
          <a:xfrm>
            <a:off x="5757862" y="2732087"/>
            <a:ext cx="2844800" cy="944563"/>
          </a:xfrm>
          <a:prstGeom prst="cube">
            <a:avLst>
              <a:gd name="adj" fmla="val 25000"/>
            </a:avLst>
          </a:prstGeom>
          <a:solidFill>
            <a:srgbClr val="CCFFCC"/>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CC3300"/>
                </a:solidFill>
                <a:latin typeface="Tahoma"/>
                <a:ea typeface="Tahoma"/>
                <a:cs typeface="Tahoma"/>
                <a:sym typeface="Tahoma"/>
              </a:rPr>
              <a:t>Type IV JDBC Driver</a:t>
            </a:r>
            <a:endParaRPr/>
          </a:p>
        </p:txBody>
      </p:sp>
      <p:sp>
        <p:nvSpPr>
          <p:cNvPr id="310" name="Google Shape;310;p17"/>
          <p:cNvSpPr/>
          <p:nvPr/>
        </p:nvSpPr>
        <p:spPr>
          <a:xfrm>
            <a:off x="6230937" y="5127625"/>
            <a:ext cx="1897063" cy="946150"/>
          </a:xfrm>
          <a:prstGeom prst="can">
            <a:avLst>
              <a:gd name="adj" fmla="val 25000"/>
            </a:avLst>
          </a:prstGeom>
          <a:gradFill>
            <a:gsLst>
              <a:gs pos="0">
                <a:srgbClr val="FFFFFF"/>
              </a:gs>
              <a:gs pos="100000">
                <a:srgbClr val="336699"/>
              </a:gs>
            </a:gsLst>
            <a:lin ang="5400000" scaled="0"/>
          </a:gradFill>
          <a:ln w="9525" cap="flat" cmpd="sng">
            <a:solidFill>
              <a:srgbClr val="000000"/>
            </a:solidFill>
            <a:prstDash val="solid"/>
            <a:round/>
            <a:headEnd type="none" w="sm" len="sm"/>
            <a:tailEnd type="none" w="sm" len="sm"/>
          </a:ln>
        </p:spPr>
        <p:txBody>
          <a:bodyPr spcFirstLastPara="1" wrap="square" lIns="91425" tIns="137150" rIns="91425" bIns="45700" anchor="t" anchorCtr="0">
            <a:noAutofit/>
          </a:bodyPr>
          <a:lstStyle/>
          <a:p>
            <a:pPr marL="0" marR="0" lvl="0" indent="0" algn="ctr" rtl="0">
              <a:spcBef>
                <a:spcPts val="0"/>
              </a:spcBef>
              <a:spcAft>
                <a:spcPts val="0"/>
              </a:spcAft>
              <a:buNone/>
            </a:pPr>
            <a:r>
              <a:rPr lang="en-US" sz="1800" b="1">
                <a:solidFill>
                  <a:schemeClr val="dk1"/>
                </a:solidFill>
                <a:latin typeface="Tahoma"/>
                <a:ea typeface="Tahoma"/>
                <a:cs typeface="Tahoma"/>
                <a:sym typeface="Tahoma"/>
              </a:rPr>
              <a:t>Database</a:t>
            </a:r>
            <a:endParaRPr/>
          </a:p>
        </p:txBody>
      </p:sp>
      <p:sp>
        <p:nvSpPr>
          <p:cNvPr id="311" name="Google Shape;311;p17"/>
          <p:cNvSpPr txBox="1"/>
          <p:nvPr/>
        </p:nvSpPr>
        <p:spPr>
          <a:xfrm>
            <a:off x="5994400" y="1219200"/>
            <a:ext cx="2370137" cy="3778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lt2"/>
                </a:solidFill>
                <a:latin typeface="Tahoma"/>
                <a:ea typeface="Tahoma"/>
                <a:cs typeface="Tahoma"/>
                <a:sym typeface="Tahoma"/>
              </a:rPr>
              <a:t>Application</a:t>
            </a:r>
            <a:endParaRPr/>
          </a:p>
        </p:txBody>
      </p:sp>
      <p:sp>
        <p:nvSpPr>
          <p:cNvPr id="312" name="Google Shape;312;p17"/>
          <p:cNvSpPr/>
          <p:nvPr/>
        </p:nvSpPr>
        <p:spPr>
          <a:xfrm>
            <a:off x="6756400" y="3886200"/>
            <a:ext cx="330200" cy="1417638"/>
          </a:xfrm>
          <a:prstGeom prst="downArrow">
            <a:avLst>
              <a:gd name="adj1" fmla="val 20833"/>
              <a:gd name="adj2" fmla="val 39436"/>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313" name="Google Shape;313;p17"/>
          <p:cNvSpPr/>
          <p:nvPr/>
        </p:nvSpPr>
        <p:spPr>
          <a:xfrm rot="10800000" flipH="1">
            <a:off x="7239000" y="3886200"/>
            <a:ext cx="330200" cy="1417638"/>
          </a:xfrm>
          <a:prstGeom prst="downArrow">
            <a:avLst>
              <a:gd name="adj1" fmla="val 20833"/>
              <a:gd name="adj2" fmla="val 39436"/>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
        <p:nvSpPr>
          <p:cNvPr id="314" name="Google Shape;314;p17"/>
          <p:cNvSpPr/>
          <p:nvPr/>
        </p:nvSpPr>
        <p:spPr>
          <a:xfrm>
            <a:off x="5867400" y="4736068"/>
            <a:ext cx="2620525"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a:solidFill>
                  <a:srgbClr val="FF0000"/>
                </a:solidFill>
                <a:latin typeface="Tahoma"/>
                <a:ea typeface="Tahoma"/>
                <a:cs typeface="Tahoma"/>
                <a:sym typeface="Tahoma"/>
              </a:rPr>
              <a:t>use Proprietary protocol</a:t>
            </a:r>
            <a:endParaRPr sz="1800">
              <a:solidFill>
                <a:srgbClr val="FF0000"/>
              </a:solidFill>
              <a:latin typeface="Tahoma"/>
              <a:ea typeface="Tahoma"/>
              <a:cs typeface="Tahoma"/>
              <a:sym typeface="Tahoma"/>
            </a:endParaRPr>
          </a:p>
        </p:txBody>
      </p:sp>
      <p:sp>
        <p:nvSpPr>
          <p:cNvPr id="315" name="Google Shape;315;p17"/>
          <p:cNvSpPr/>
          <p:nvPr/>
        </p:nvSpPr>
        <p:spPr>
          <a:xfrm>
            <a:off x="5273168" y="3974068"/>
            <a:ext cx="166103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Tahoma"/>
                <a:ea typeface="Tahoma"/>
                <a:cs typeface="Tahoma"/>
                <a:sym typeface="Tahoma"/>
              </a:rPr>
              <a:t>SQL command</a:t>
            </a:r>
            <a:endParaRPr sz="1800">
              <a:solidFill>
                <a:srgbClr val="0000FF"/>
              </a:solidFill>
              <a:latin typeface="Libre Baskerville"/>
              <a:ea typeface="Libre Baskerville"/>
              <a:cs typeface="Libre Baskerville"/>
              <a:sym typeface="Libre Baskerville"/>
            </a:endParaRPr>
          </a:p>
        </p:txBody>
      </p:sp>
      <p:sp>
        <p:nvSpPr>
          <p:cNvPr id="316" name="Google Shape;316;p17"/>
          <p:cNvSpPr/>
          <p:nvPr/>
        </p:nvSpPr>
        <p:spPr>
          <a:xfrm>
            <a:off x="7543800" y="3962400"/>
            <a:ext cx="12057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Tahoma"/>
                <a:ea typeface="Tahoma"/>
                <a:cs typeface="Tahoma"/>
                <a:sym typeface="Tahoma"/>
              </a:rPr>
              <a:t>Result Set</a:t>
            </a:r>
            <a:endParaRPr sz="18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8"/>
          <p:cNvSpPr txBox="1">
            <a:spLocks noGrp="1"/>
          </p:cNvSpPr>
          <p:nvPr>
            <p:ph type="title"/>
          </p:nvPr>
        </p:nvSpPr>
        <p:spPr>
          <a:xfrm>
            <a:off x="304800" y="286704"/>
            <a:ext cx="8458200" cy="533400"/>
          </a:xfrm>
          <a:prstGeom prst="rect">
            <a:avLst/>
          </a:prstGeom>
          <a:noFill/>
          <a:ln>
            <a:noFill/>
          </a:ln>
        </p:spPr>
        <p:txBody>
          <a:bodyPr spcFirstLastPara="1" wrap="square" lIns="91425" tIns="45700" rIns="91425" bIns="91425" anchor="b" anchorCtr="0">
            <a:normAutofit fontScale="90000"/>
          </a:bodyPr>
          <a:lstStyle/>
          <a:p>
            <a:pPr marL="0" lvl="0" indent="0" algn="r" rtl="0">
              <a:spcBef>
                <a:spcPts val="0"/>
              </a:spcBef>
              <a:spcAft>
                <a:spcPts val="0"/>
              </a:spcAft>
              <a:buClr>
                <a:srgbClr val="0000FF"/>
              </a:buClr>
              <a:buSzPct val="100000"/>
              <a:buFont typeface="Arial"/>
              <a:buNone/>
            </a:pPr>
            <a:r>
              <a:rPr lang="en-US">
                <a:latin typeface="Arial"/>
                <a:ea typeface="Arial"/>
                <a:cs typeface="Arial"/>
                <a:sym typeface="Arial"/>
              </a:rPr>
              <a:t>Download Type 4 SQL Server JDBC </a:t>
            </a:r>
            <a:endParaRPr/>
          </a:p>
        </p:txBody>
      </p:sp>
      <p:sp>
        <p:nvSpPr>
          <p:cNvPr id="322" name="Google Shape;322;p18"/>
          <p:cNvSpPr/>
          <p:nvPr/>
        </p:nvSpPr>
        <p:spPr>
          <a:xfrm>
            <a:off x="4856480" y="1582896"/>
            <a:ext cx="1981200" cy="644208"/>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lt1"/>
                </a:solidFill>
                <a:latin typeface="Libre Baskerville"/>
                <a:ea typeface="Libre Baskerville"/>
                <a:cs typeface="Libre Baskerville"/>
                <a:sym typeface="Libre Baskerville"/>
              </a:rPr>
              <a:t>MS SQL Server 2019,2022</a:t>
            </a:r>
            <a:endParaRPr sz="1800">
              <a:solidFill>
                <a:schemeClr val="lt1"/>
              </a:solidFill>
              <a:latin typeface="Libre Baskerville"/>
              <a:ea typeface="Libre Baskerville"/>
              <a:cs typeface="Libre Baskerville"/>
              <a:sym typeface="Libre Baskerville"/>
            </a:endParaRPr>
          </a:p>
        </p:txBody>
      </p:sp>
      <p:sp>
        <p:nvSpPr>
          <p:cNvPr id="323" name="Google Shape;323;p18"/>
          <p:cNvSpPr/>
          <p:nvPr/>
        </p:nvSpPr>
        <p:spPr>
          <a:xfrm>
            <a:off x="6873240" y="1582896"/>
            <a:ext cx="1397000" cy="644208"/>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Setup</a:t>
            </a:r>
            <a:endParaRPr/>
          </a:p>
        </p:txBody>
      </p:sp>
      <p:graphicFrame>
        <p:nvGraphicFramePr>
          <p:cNvPr id="324" name="Google Shape;324;p18"/>
          <p:cNvGraphicFramePr/>
          <p:nvPr/>
        </p:nvGraphicFramePr>
        <p:xfrm>
          <a:off x="1381760" y="2419422"/>
          <a:ext cx="3000000" cy="3000000"/>
        </p:xfrm>
        <a:graphic>
          <a:graphicData uri="http://schemas.openxmlformats.org/drawingml/2006/table">
            <a:tbl>
              <a:tblPr firstRow="1" bandRow="1">
                <a:noFill/>
                <a:tableStyleId>{810BC2B2-E8F3-4348-8BA1-EDFF65460300}</a:tableStyleId>
              </a:tblPr>
              <a:tblGrid>
                <a:gridCol w="3479800">
                  <a:extLst>
                    <a:ext uri="{9D8B030D-6E8A-4147-A177-3AD203B41FA5}">
                      <a16:colId xmlns:a16="http://schemas.microsoft.com/office/drawing/2014/main" val="20000"/>
                    </a:ext>
                  </a:extLst>
                </a:gridCol>
                <a:gridCol w="3479800">
                  <a:extLst>
                    <a:ext uri="{9D8B030D-6E8A-4147-A177-3AD203B41FA5}">
                      <a16:colId xmlns:a16="http://schemas.microsoft.com/office/drawing/2014/main" val="20001"/>
                    </a:ext>
                  </a:extLst>
                </a:gridCol>
              </a:tblGrid>
              <a:tr h="352000">
                <a:tc>
                  <a:txBody>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a:txBody>
                  <a:tcPr marL="91450" marR="91450" marT="45725" marB="45725"/>
                </a:tc>
                <a:tc>
                  <a:txBody>
                    <a:bodyPr/>
                    <a:lstStyle/>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a:txBody>
                  <a:tcPr marL="91450" marR="91450" marT="45725" marB="45725"/>
                </a:tc>
                <a:extLst>
                  <a:ext uri="{0D108BD9-81ED-4DB2-BD59-A6C34878D82A}">
                    <a16:rowId xmlns:a16="http://schemas.microsoft.com/office/drawing/2014/main" val="10000"/>
                  </a:ext>
                </a:extLst>
              </a:tr>
              <a:tr h="657475">
                <a:tc>
                  <a:txBody>
                    <a:bodyPr/>
                    <a:lstStyle/>
                    <a:p>
                      <a:pPr marL="0" marR="0" lvl="0" indent="0" algn="l" rtl="0">
                        <a:spcBef>
                          <a:spcPts val="0"/>
                        </a:spcBef>
                        <a:spcAft>
                          <a:spcPts val="0"/>
                        </a:spcAft>
                        <a:buNone/>
                      </a:pPr>
                      <a:r>
                        <a:rPr lang="en-US" sz="1800">
                          <a:solidFill>
                            <a:schemeClr val="dk1"/>
                          </a:solidFill>
                          <a:latin typeface="Libre Baskerville"/>
                          <a:ea typeface="Libre Baskerville"/>
                          <a:cs typeface="Libre Baskerville"/>
                          <a:sym typeface="Libre Baskerville"/>
                        </a:rPr>
                        <a:t>Latest driver Release</a:t>
                      </a:r>
                      <a:endParaRPr sz="1800">
                        <a:solidFill>
                          <a:schemeClr val="dk1"/>
                        </a:solidFill>
                        <a:latin typeface="Libre Baskerville"/>
                        <a:ea typeface="Libre Baskerville"/>
                        <a:cs typeface="Libre Baskerville"/>
                        <a:sym typeface="Libre Baskerville"/>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Libre Baskerville"/>
                          <a:ea typeface="Libre Baskerville"/>
                          <a:cs typeface="Libre Baskerville"/>
                          <a:sym typeface="Libre Baskerville"/>
                        </a:rPr>
                        <a:t>Microsoft JDBC Driver 12.4 for SQL Server</a:t>
                      </a:r>
                      <a:endParaRPr sz="1800">
                        <a:solidFill>
                          <a:schemeClr val="dk1"/>
                        </a:solidFill>
                        <a:latin typeface="Libre Baskerville"/>
                        <a:ea typeface="Libre Baskerville"/>
                        <a:cs typeface="Libre Baskerville"/>
                        <a:sym typeface="Libre Baskerville"/>
                      </a:endParaRPr>
                    </a:p>
                  </a:txBody>
                  <a:tcPr marL="91450" marR="91450" marT="45725" marB="45725"/>
                </a:tc>
                <a:extLst>
                  <a:ext uri="{0D108BD9-81ED-4DB2-BD59-A6C34878D82A}">
                    <a16:rowId xmlns:a16="http://schemas.microsoft.com/office/drawing/2014/main" val="10001"/>
                  </a:ext>
                </a:extLst>
              </a:tr>
              <a:tr h="352000">
                <a:tc>
                  <a:txBody>
                    <a:bodyPr/>
                    <a:lstStyle/>
                    <a:p>
                      <a:pPr marL="0" marR="0" lvl="0" indent="0" algn="l" rtl="0">
                        <a:spcBef>
                          <a:spcPts val="0"/>
                        </a:spcBef>
                        <a:spcAft>
                          <a:spcPts val="0"/>
                        </a:spcAft>
                        <a:buNone/>
                      </a:pPr>
                      <a:r>
                        <a:rPr lang="en-US" sz="1800"/>
                        <a:t>Last Update</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Libre Baskerville"/>
                          <a:ea typeface="Libre Baskerville"/>
                          <a:cs typeface="Libre Baskerville"/>
                          <a:sym typeface="Libre Baskerville"/>
                        </a:rPr>
                        <a:t>March 17, 2025</a:t>
                      </a:r>
                      <a:endParaRPr sz="1800"/>
                    </a:p>
                  </a:txBody>
                  <a:tcPr marL="91450" marR="91450" marT="45725" marB="45725"/>
                </a:tc>
                <a:extLst>
                  <a:ext uri="{0D108BD9-81ED-4DB2-BD59-A6C34878D82A}">
                    <a16:rowId xmlns:a16="http://schemas.microsoft.com/office/drawing/2014/main" val="10002"/>
                  </a:ext>
                </a:extLst>
              </a:tr>
              <a:tr h="352000">
                <a:tc>
                  <a:txBody>
                    <a:bodyPr/>
                    <a:lstStyle/>
                    <a:p>
                      <a:pPr marL="0" marR="0" lvl="0" indent="0" algn="l" rtl="0">
                        <a:spcBef>
                          <a:spcPts val="0"/>
                        </a:spcBef>
                        <a:spcAft>
                          <a:spcPts val="0"/>
                        </a:spcAft>
                        <a:buNone/>
                      </a:pPr>
                      <a:r>
                        <a:rPr lang="en-US" sz="1800"/>
                        <a:t>Java version</a:t>
                      </a:r>
                      <a:endParaRPr sz="1800"/>
                    </a:p>
                  </a:txBody>
                  <a:tcPr marL="91450" marR="91450" marT="45725" marB="45725"/>
                </a:tc>
                <a:tc>
                  <a:txBody>
                    <a:bodyPr/>
                    <a:lstStyle/>
                    <a:p>
                      <a:pPr marL="0" marR="0" lvl="0" indent="0" algn="l" rtl="0">
                        <a:spcBef>
                          <a:spcPts val="0"/>
                        </a:spcBef>
                        <a:spcAft>
                          <a:spcPts val="0"/>
                        </a:spcAft>
                        <a:buNone/>
                      </a:pPr>
                      <a:r>
                        <a:rPr lang="en-US" sz="1800" b="1"/>
                        <a:t>Java 8, 11, 17, 21</a:t>
                      </a:r>
                      <a:endParaRPr sz="1800"/>
                    </a:p>
                  </a:txBody>
                  <a:tcPr marL="91450" marR="91450" marT="45725" marB="45725"/>
                </a:tc>
                <a:extLst>
                  <a:ext uri="{0D108BD9-81ED-4DB2-BD59-A6C34878D82A}">
                    <a16:rowId xmlns:a16="http://schemas.microsoft.com/office/drawing/2014/main" val="10003"/>
                  </a:ext>
                </a:extLst>
              </a:tr>
              <a:tr h="460225">
                <a:tc>
                  <a:txBody>
                    <a:bodyPr/>
                    <a:lstStyle/>
                    <a:p>
                      <a:pPr marL="0" marR="0" lvl="0" indent="0" algn="l" rtl="0">
                        <a:spcBef>
                          <a:spcPts val="0"/>
                        </a:spcBef>
                        <a:spcAft>
                          <a:spcPts val="0"/>
                        </a:spcAft>
                        <a:buNone/>
                      </a:pPr>
                      <a:r>
                        <a:rPr lang="en-US" sz="1800"/>
                        <a:t>JDBC API Level</a:t>
                      </a:r>
                      <a:endParaRPr sz="1800"/>
                    </a:p>
                  </a:txBody>
                  <a:tcPr marL="91450" marR="91450" marT="45725" marB="45725"/>
                </a:tc>
                <a:tc>
                  <a:txBody>
                    <a:bodyPr/>
                    <a:lstStyle/>
                    <a:p>
                      <a:pPr marL="0" marR="0" lvl="0" indent="0" algn="l" rtl="0">
                        <a:spcBef>
                          <a:spcPts val="0"/>
                        </a:spcBef>
                        <a:spcAft>
                          <a:spcPts val="0"/>
                        </a:spcAft>
                        <a:buNone/>
                      </a:pPr>
                      <a:r>
                        <a:rPr lang="en-US" sz="1800"/>
                        <a:t>JDBC 4.2, JDBC 4.3 (Java 17+)</a:t>
                      </a:r>
                      <a:endParaRPr sz="1800"/>
                    </a:p>
                  </a:txBody>
                  <a:tcPr marL="91450" marR="91450" marT="45725" marB="45725"/>
                </a:tc>
                <a:extLst>
                  <a:ext uri="{0D108BD9-81ED-4DB2-BD59-A6C34878D82A}">
                    <a16:rowId xmlns:a16="http://schemas.microsoft.com/office/drawing/2014/main" val="10004"/>
                  </a:ext>
                </a:extLst>
              </a:tr>
              <a:tr h="352000">
                <a:tc>
                  <a:txBody>
                    <a:bodyPr/>
                    <a:lstStyle/>
                    <a:p>
                      <a:pPr marL="0" marR="0" lvl="0" indent="0" algn="l" rtl="0">
                        <a:spcBef>
                          <a:spcPts val="0"/>
                        </a:spcBef>
                        <a:spcAft>
                          <a:spcPts val="0"/>
                        </a:spcAft>
                        <a:buNone/>
                      </a:pPr>
                      <a:r>
                        <a:rPr lang="en-US" sz="1800"/>
                        <a:t>Driver Type</a:t>
                      </a:r>
                      <a:endParaRPr sz="1800"/>
                    </a:p>
                  </a:txBody>
                  <a:tcPr marL="91450" marR="91450" marT="45725" marB="45725"/>
                </a:tc>
                <a:tc>
                  <a:txBody>
                    <a:bodyPr/>
                    <a:lstStyle/>
                    <a:p>
                      <a:pPr marL="0" marR="0" lvl="0" indent="0" algn="l" rtl="0">
                        <a:spcBef>
                          <a:spcPts val="0"/>
                        </a:spcBef>
                        <a:spcAft>
                          <a:spcPts val="0"/>
                        </a:spcAft>
                        <a:buNone/>
                      </a:pPr>
                      <a:r>
                        <a:rPr lang="en-US" sz="1800"/>
                        <a:t>Type 4</a:t>
                      </a:r>
                      <a:endParaRPr sz="1800"/>
                    </a:p>
                  </a:txBody>
                  <a:tcPr marL="91450" marR="91450" marT="45725" marB="45725"/>
                </a:tc>
                <a:extLst>
                  <a:ext uri="{0D108BD9-81ED-4DB2-BD59-A6C34878D82A}">
                    <a16:rowId xmlns:a16="http://schemas.microsoft.com/office/drawing/2014/main" val="10005"/>
                  </a:ext>
                </a:extLst>
              </a:tr>
              <a:tr h="460225">
                <a:tc>
                  <a:txBody>
                    <a:bodyPr/>
                    <a:lstStyle/>
                    <a:p>
                      <a:pPr marL="0" marR="0" lvl="0" indent="0" algn="l" rtl="0">
                        <a:spcBef>
                          <a:spcPts val="0"/>
                        </a:spcBef>
                        <a:spcAft>
                          <a:spcPts val="0"/>
                        </a:spcAft>
                        <a:buNone/>
                      </a:pPr>
                      <a:r>
                        <a:rPr lang="en-US" sz="1800"/>
                        <a:t>Supported DBMS</a:t>
                      </a:r>
                      <a:endParaRPr sz="1800"/>
                    </a:p>
                  </a:txBody>
                  <a:tcPr marL="91450" marR="91450" marT="45725" marB="45725"/>
                </a:tc>
                <a:tc>
                  <a:txBody>
                    <a:bodyPr/>
                    <a:lstStyle/>
                    <a:p>
                      <a:pPr marL="0" marR="0" lvl="0" indent="0" algn="l" rtl="0">
                        <a:spcBef>
                          <a:spcPts val="0"/>
                        </a:spcBef>
                        <a:spcAft>
                          <a:spcPts val="0"/>
                        </a:spcAft>
                        <a:buNone/>
                      </a:pPr>
                      <a:r>
                        <a:rPr lang="en-US" sz="1800"/>
                        <a:t>SQL Server 2019, 2022</a:t>
                      </a:r>
                      <a:endParaRPr sz="1800"/>
                    </a:p>
                  </a:txBody>
                  <a:tcPr marL="91450" marR="91450" marT="45725" marB="45725"/>
                </a:tc>
                <a:extLst>
                  <a:ext uri="{0D108BD9-81ED-4DB2-BD59-A6C34878D82A}">
                    <a16:rowId xmlns:a16="http://schemas.microsoft.com/office/drawing/2014/main" val="10006"/>
                  </a:ext>
                </a:extLst>
              </a:tr>
              <a:tr h="352000">
                <a:tc>
                  <a:txBody>
                    <a:bodyPr/>
                    <a:lstStyle/>
                    <a:p>
                      <a:pPr marL="0" marR="0" lvl="0" indent="0" algn="l" rtl="0">
                        <a:spcBef>
                          <a:spcPts val="0"/>
                        </a:spcBef>
                        <a:spcAft>
                          <a:spcPts val="0"/>
                        </a:spcAft>
                        <a:buNone/>
                      </a:pPr>
                      <a:r>
                        <a:rPr lang="en-US" sz="1800"/>
                        <a:t>Download size</a:t>
                      </a:r>
                      <a:endParaRPr sz="1800"/>
                    </a:p>
                  </a:txBody>
                  <a:tcPr marL="91450" marR="91450" marT="45725" marB="45725"/>
                </a:tc>
                <a:tc>
                  <a:txBody>
                    <a:bodyPr/>
                    <a:lstStyle/>
                    <a:p>
                      <a:pPr marL="0" marR="0" lvl="0" indent="0" algn="l" rtl="0">
                        <a:spcBef>
                          <a:spcPts val="0"/>
                        </a:spcBef>
                        <a:spcAft>
                          <a:spcPts val="0"/>
                        </a:spcAft>
                        <a:buNone/>
                      </a:pPr>
                      <a:r>
                        <a:rPr lang="en-US" sz="1800"/>
                        <a:t>~8 MB</a:t>
                      </a:r>
                      <a:endParaRPr sz="1800"/>
                    </a:p>
                  </a:txBody>
                  <a:tcPr marL="91450" marR="91450" marT="45725" marB="45725"/>
                </a:tc>
                <a:extLst>
                  <a:ext uri="{0D108BD9-81ED-4DB2-BD59-A6C34878D82A}">
                    <a16:rowId xmlns:a16="http://schemas.microsoft.com/office/drawing/2014/main" val="10007"/>
                  </a:ext>
                </a:extLst>
              </a:tr>
              <a:tr h="352000">
                <a:tc>
                  <a:txBody>
                    <a:bodyPr/>
                    <a:lstStyle/>
                    <a:p>
                      <a:pPr marL="0" marR="0" lvl="0" indent="0" algn="l" rtl="0">
                        <a:spcBef>
                          <a:spcPts val="0"/>
                        </a:spcBef>
                        <a:spcAft>
                          <a:spcPts val="0"/>
                        </a:spcAft>
                        <a:buNone/>
                      </a:pPr>
                      <a:r>
                        <a:rPr lang="en-US" sz="1800"/>
                        <a:t>Driver size</a:t>
                      </a:r>
                      <a:endParaRPr sz="1800"/>
                    </a:p>
                  </a:txBody>
                  <a:tcPr marL="91450" marR="91450" marT="45725" marB="45725"/>
                </a:tc>
                <a:tc>
                  <a:txBody>
                    <a:bodyPr/>
                    <a:lstStyle/>
                    <a:p>
                      <a:pPr marL="0" marR="0" lvl="0" indent="0" algn="l" rtl="0">
                        <a:spcBef>
                          <a:spcPts val="0"/>
                        </a:spcBef>
                        <a:spcAft>
                          <a:spcPts val="0"/>
                        </a:spcAft>
                        <a:buNone/>
                      </a:pPr>
                      <a:r>
                        <a:rPr lang="en-US" sz="1800"/>
                        <a:t>~3 MB</a:t>
                      </a:r>
                      <a:endParaRPr sz="1800"/>
                    </a:p>
                  </a:txBody>
                  <a:tcPr marL="91450" marR="91450" marT="45725" marB="45725"/>
                </a:tc>
                <a:extLst>
                  <a:ext uri="{0D108BD9-81ED-4DB2-BD59-A6C34878D82A}">
                    <a16:rowId xmlns:a16="http://schemas.microsoft.com/office/drawing/2014/main" val="10008"/>
                  </a:ext>
                </a:extLst>
              </a:tr>
              <a:tr h="460225">
                <a:tc>
                  <a:txBody>
                    <a:bodyPr/>
                    <a:lstStyle/>
                    <a:p>
                      <a:pPr marL="0" marR="0" lvl="0" indent="0" algn="l" rtl="0">
                        <a:spcBef>
                          <a:spcPts val="0"/>
                        </a:spcBef>
                        <a:spcAft>
                          <a:spcPts val="0"/>
                        </a:spcAft>
                        <a:buNone/>
                      </a:pPr>
                      <a:r>
                        <a:rPr lang="en-US" sz="1800"/>
                        <a:t>Sun Certificate for J2EE 1.8</a:t>
                      </a:r>
                      <a:endParaRPr sz="1800"/>
                    </a:p>
                  </a:txBody>
                  <a:tcPr marL="91450" marR="91450" marT="45725" marB="45725"/>
                </a:tc>
                <a:tc>
                  <a:txBody>
                    <a:bodyPr/>
                    <a:lstStyle/>
                    <a:p>
                      <a:pPr marL="0" marR="0" lvl="0" indent="0" algn="l" rtl="0">
                        <a:spcBef>
                          <a:spcPts val="0"/>
                        </a:spcBef>
                        <a:spcAft>
                          <a:spcPts val="0"/>
                        </a:spcAft>
                        <a:buNone/>
                      </a:pPr>
                      <a:r>
                        <a:rPr lang="en-US" sz="1800"/>
                        <a:t>No</a:t>
                      </a:r>
                      <a:endParaRPr sz="1800"/>
                    </a:p>
                  </a:txBody>
                  <a:tcPr marL="91450" marR="91450" marT="45725" marB="45725"/>
                </a:tc>
                <a:extLst>
                  <a:ext uri="{0D108BD9-81ED-4DB2-BD59-A6C34878D82A}">
                    <a16:rowId xmlns:a16="http://schemas.microsoft.com/office/drawing/2014/main" val="10009"/>
                  </a:ext>
                </a:extLst>
              </a:tr>
            </a:tbl>
          </a:graphicData>
        </a:graphic>
      </p:graphicFrame>
      <p:pic>
        <p:nvPicPr>
          <p:cNvPr id="325" name="Google Shape;325;p18"/>
          <p:cNvPicPr preferRelativeResize="0"/>
          <p:nvPr/>
        </p:nvPicPr>
        <p:blipFill rotWithShape="1">
          <a:blip r:embed="rId3">
            <a:alphaModFix/>
          </a:blip>
          <a:srcRect/>
          <a:stretch/>
        </p:blipFill>
        <p:spPr>
          <a:xfrm>
            <a:off x="1371600" y="1905000"/>
            <a:ext cx="2971800" cy="514422"/>
          </a:xfrm>
          <a:prstGeom prst="rect">
            <a:avLst/>
          </a:prstGeom>
          <a:noFill/>
          <a:ln>
            <a:noFill/>
          </a:ln>
        </p:spPr>
      </p:pic>
      <p:pic>
        <p:nvPicPr>
          <p:cNvPr id="326" name="Google Shape;326;p18"/>
          <p:cNvPicPr preferRelativeResize="0"/>
          <p:nvPr/>
        </p:nvPicPr>
        <p:blipFill rotWithShape="1">
          <a:blip r:embed="rId4">
            <a:alphaModFix/>
          </a:blip>
          <a:srcRect/>
          <a:stretch/>
        </p:blipFill>
        <p:spPr>
          <a:xfrm>
            <a:off x="1371600" y="1295400"/>
            <a:ext cx="2895600" cy="5349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331" name="Google Shape;331;p19"/>
          <p:cNvPicPr preferRelativeResize="0"/>
          <p:nvPr/>
        </p:nvPicPr>
        <p:blipFill rotWithShape="1">
          <a:blip r:embed="rId3">
            <a:alphaModFix/>
          </a:blip>
          <a:srcRect/>
          <a:stretch/>
        </p:blipFill>
        <p:spPr>
          <a:xfrm>
            <a:off x="5372100" y="1524000"/>
            <a:ext cx="3771900" cy="4181475"/>
          </a:xfrm>
          <a:prstGeom prst="rect">
            <a:avLst/>
          </a:prstGeom>
          <a:noFill/>
          <a:ln>
            <a:noFill/>
          </a:ln>
        </p:spPr>
      </p:pic>
      <p:sp>
        <p:nvSpPr>
          <p:cNvPr id="332" name="Google Shape;332;p19"/>
          <p:cNvSpPr txBox="1">
            <a:spLocks noGrp="1"/>
          </p:cNvSpPr>
          <p:nvPr>
            <p:ph type="title"/>
          </p:nvPr>
        </p:nvSpPr>
        <p:spPr>
          <a:xfrm>
            <a:off x="762000" y="304800"/>
            <a:ext cx="7848600" cy="533400"/>
          </a:xfrm>
          <a:prstGeom prst="rect">
            <a:avLst/>
          </a:prstGeom>
          <a:noFill/>
          <a:ln>
            <a:noFill/>
          </a:ln>
        </p:spPr>
        <p:txBody>
          <a:bodyPr spcFirstLastPara="1" wrap="square" lIns="91425" tIns="45700" rIns="91425" bIns="91425" anchor="b" anchorCtr="0">
            <a:noAutofit/>
          </a:bodyPr>
          <a:lstStyle/>
          <a:p>
            <a:pPr marL="0" lvl="0" indent="0" algn="r" rtl="0">
              <a:spcBef>
                <a:spcPts val="0"/>
              </a:spcBef>
              <a:spcAft>
                <a:spcPts val="0"/>
              </a:spcAft>
              <a:buClr>
                <a:srgbClr val="0000FF"/>
              </a:buClr>
              <a:buSzPts val="2800"/>
              <a:buFont typeface="Arial"/>
              <a:buNone/>
            </a:pPr>
            <a:r>
              <a:rPr lang="en-US" sz="2800">
                <a:latin typeface="Arial"/>
                <a:ea typeface="Arial"/>
                <a:cs typeface="Arial"/>
                <a:sym typeface="Arial"/>
              </a:rPr>
              <a:t>Configure Ports, Protocols for SQL Server</a:t>
            </a:r>
            <a:endParaRPr/>
          </a:p>
        </p:txBody>
      </p:sp>
      <p:cxnSp>
        <p:nvCxnSpPr>
          <p:cNvPr id="333" name="Google Shape;333;p19"/>
          <p:cNvCxnSpPr/>
          <p:nvPr/>
        </p:nvCxnSpPr>
        <p:spPr>
          <a:xfrm>
            <a:off x="4419600" y="3657600"/>
            <a:ext cx="1066800" cy="533400"/>
          </a:xfrm>
          <a:prstGeom prst="straightConnector1">
            <a:avLst/>
          </a:prstGeom>
          <a:noFill/>
          <a:ln w="28575" cap="flat" cmpd="sng">
            <a:solidFill>
              <a:srgbClr val="0000CC"/>
            </a:solidFill>
            <a:prstDash val="solid"/>
            <a:round/>
            <a:headEnd type="none" w="sm" len="sm"/>
            <a:tailEnd type="stealth" w="med" len="med"/>
          </a:ln>
        </p:spPr>
      </p:cxnSp>
      <p:sp>
        <p:nvSpPr>
          <p:cNvPr id="334" name="Google Shape;334;p19"/>
          <p:cNvSpPr/>
          <p:nvPr/>
        </p:nvSpPr>
        <p:spPr>
          <a:xfrm>
            <a:off x="381000" y="1828800"/>
            <a:ext cx="4191000" cy="3048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Enable Server protocols and port</a:t>
            </a:r>
            <a:endParaRPr/>
          </a:p>
        </p:txBody>
      </p:sp>
      <p:sp>
        <p:nvSpPr>
          <p:cNvPr id="335" name="Google Shape;335;p19"/>
          <p:cNvSpPr/>
          <p:nvPr/>
        </p:nvSpPr>
        <p:spPr>
          <a:xfrm>
            <a:off x="5638800" y="5867400"/>
            <a:ext cx="3200400" cy="6639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Enable client protocols and port</a:t>
            </a:r>
            <a:endParaRPr/>
          </a:p>
        </p:txBody>
      </p:sp>
      <p:sp>
        <p:nvSpPr>
          <p:cNvPr id="336" name="Google Shape;336;p19"/>
          <p:cNvSpPr/>
          <p:nvPr/>
        </p:nvSpPr>
        <p:spPr>
          <a:xfrm>
            <a:off x="2209800" y="3886200"/>
            <a:ext cx="2362200" cy="381000"/>
          </a:xfrm>
          <a:prstGeom prst="rect">
            <a:avLst/>
          </a:prstGeom>
          <a:solidFill>
            <a:srgbClr val="FF0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Attention: Disable VIA</a:t>
            </a:r>
            <a:endParaRPr sz="1800">
              <a:solidFill>
                <a:schemeClr val="lt1"/>
              </a:solidFill>
              <a:latin typeface="Libre Baskerville"/>
              <a:ea typeface="Libre Baskerville"/>
              <a:cs typeface="Libre Baskerville"/>
              <a:sym typeface="Libre Baskerville"/>
            </a:endParaRPr>
          </a:p>
        </p:txBody>
      </p:sp>
      <p:pic>
        <p:nvPicPr>
          <p:cNvPr id="337" name="Google Shape;337;p19"/>
          <p:cNvPicPr preferRelativeResize="0"/>
          <p:nvPr/>
        </p:nvPicPr>
        <p:blipFill rotWithShape="1">
          <a:blip r:embed="rId4">
            <a:alphaModFix/>
          </a:blip>
          <a:srcRect/>
          <a:stretch/>
        </p:blipFill>
        <p:spPr>
          <a:xfrm>
            <a:off x="7239000" y="1828800"/>
            <a:ext cx="1390650" cy="1409700"/>
          </a:xfrm>
          <a:prstGeom prst="rect">
            <a:avLst/>
          </a:prstGeom>
          <a:noFill/>
          <a:ln w="9525" cap="flat" cmpd="sng">
            <a:solidFill>
              <a:srgbClr val="0000CC"/>
            </a:solidFill>
            <a:prstDash val="solid"/>
            <a:miter lim="800000"/>
            <a:headEnd type="none" w="sm" len="sm"/>
            <a:tailEnd type="none" w="sm" len="sm"/>
          </a:ln>
        </p:spPr>
      </p:pic>
      <p:cxnSp>
        <p:nvCxnSpPr>
          <p:cNvPr id="338" name="Google Shape;338;p19"/>
          <p:cNvCxnSpPr>
            <a:stCxn id="335" idx="1"/>
          </p:cNvCxnSpPr>
          <p:nvPr/>
        </p:nvCxnSpPr>
        <p:spPr>
          <a:xfrm rot="10800000" flipH="1">
            <a:off x="5638800" y="4752150"/>
            <a:ext cx="1034400" cy="1447200"/>
          </a:xfrm>
          <a:prstGeom prst="straightConnector1">
            <a:avLst/>
          </a:prstGeom>
          <a:noFill/>
          <a:ln w="9525" cap="flat" cmpd="sng">
            <a:solidFill>
              <a:srgbClr val="AE350A"/>
            </a:solidFill>
            <a:prstDash val="solid"/>
            <a:round/>
            <a:headEnd type="none" w="sm" len="sm"/>
            <a:tailEnd type="stealth" w="med" len="med"/>
          </a:ln>
        </p:spPr>
      </p:cxnSp>
      <p:pic>
        <p:nvPicPr>
          <p:cNvPr id="339" name="Google Shape;339;p19"/>
          <p:cNvPicPr preferRelativeResize="0"/>
          <p:nvPr/>
        </p:nvPicPr>
        <p:blipFill rotWithShape="1">
          <a:blip r:embed="rId5">
            <a:alphaModFix/>
          </a:blip>
          <a:srcRect/>
          <a:stretch/>
        </p:blipFill>
        <p:spPr>
          <a:xfrm>
            <a:off x="208280" y="914400"/>
            <a:ext cx="3477110" cy="838200"/>
          </a:xfrm>
          <a:prstGeom prst="rect">
            <a:avLst/>
          </a:prstGeom>
          <a:noFill/>
          <a:ln>
            <a:noFill/>
          </a:ln>
        </p:spPr>
      </p:pic>
      <p:pic>
        <p:nvPicPr>
          <p:cNvPr id="340" name="Google Shape;340;p19"/>
          <p:cNvPicPr preferRelativeResize="0"/>
          <p:nvPr/>
        </p:nvPicPr>
        <p:blipFill rotWithShape="1">
          <a:blip r:embed="rId6">
            <a:alphaModFix/>
          </a:blip>
          <a:srcRect/>
          <a:stretch/>
        </p:blipFill>
        <p:spPr>
          <a:xfrm>
            <a:off x="1" y="2247767"/>
            <a:ext cx="5029200" cy="1905266"/>
          </a:xfrm>
          <a:prstGeom prst="rect">
            <a:avLst/>
          </a:prstGeom>
          <a:noFill/>
          <a:ln>
            <a:noFill/>
          </a:ln>
        </p:spPr>
      </p:pic>
      <p:pic>
        <p:nvPicPr>
          <p:cNvPr id="341" name="Google Shape;341;p19"/>
          <p:cNvPicPr preferRelativeResize="0"/>
          <p:nvPr/>
        </p:nvPicPr>
        <p:blipFill rotWithShape="1">
          <a:blip r:embed="rId7">
            <a:alphaModFix/>
          </a:blip>
          <a:srcRect/>
          <a:stretch/>
        </p:blipFill>
        <p:spPr>
          <a:xfrm>
            <a:off x="262042" y="4539976"/>
            <a:ext cx="4614757" cy="15560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0"/>
          <p:cNvSpPr/>
          <p:nvPr/>
        </p:nvSpPr>
        <p:spPr>
          <a:xfrm>
            <a:off x="381000" y="1447800"/>
            <a:ext cx="8229600" cy="5334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Libre Baskerville"/>
                <a:ea typeface="Libre Baskerville"/>
                <a:cs typeface="Libre Baskerville"/>
                <a:sym typeface="Libre Baskerville"/>
              </a:rPr>
              <a:t>Stop then restart SQL Server and SQL Server Agent  for settings are affected.</a:t>
            </a:r>
            <a:endParaRPr/>
          </a:p>
        </p:txBody>
      </p:sp>
      <p:sp>
        <p:nvSpPr>
          <p:cNvPr id="347" name="Google Shape;347;p20"/>
          <p:cNvSpPr txBox="1"/>
          <p:nvPr/>
        </p:nvSpPr>
        <p:spPr>
          <a:xfrm>
            <a:off x="914400" y="457200"/>
            <a:ext cx="7848600" cy="5334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b="1">
                <a:solidFill>
                  <a:srgbClr val="0000FF"/>
                </a:solidFill>
                <a:latin typeface="Arial"/>
                <a:ea typeface="Arial"/>
                <a:cs typeface="Arial"/>
                <a:sym typeface="Arial"/>
              </a:rPr>
              <a:t>Configure Ports, Protocols for SQL Server…</a:t>
            </a:r>
            <a:endParaRPr sz="2800" b="1">
              <a:solidFill>
                <a:srgbClr val="0000FF"/>
              </a:solidFill>
              <a:latin typeface="Libre Baskerville"/>
              <a:ea typeface="Libre Baskerville"/>
              <a:cs typeface="Libre Baskerville"/>
              <a:sym typeface="Libre Baskerville"/>
            </a:endParaRPr>
          </a:p>
        </p:txBody>
      </p:sp>
      <p:sp>
        <p:nvSpPr>
          <p:cNvPr id="348" name="Google Shape;348;p20"/>
          <p:cNvSpPr/>
          <p:nvPr/>
        </p:nvSpPr>
        <p:spPr>
          <a:xfrm>
            <a:off x="4191000" y="4191000"/>
            <a:ext cx="609600" cy="685800"/>
          </a:xfrm>
          <a:prstGeom prst="rect">
            <a:avLst/>
          </a:prstGeom>
          <a:solidFill>
            <a:srgbClr val="008000"/>
          </a:solidFill>
          <a:ln w="12700" cap="flat" cmpd="sng">
            <a:solidFill>
              <a:srgbClr val="008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Libre Baskerville"/>
                <a:ea typeface="Libre Baskerville"/>
                <a:cs typeface="Libre Baskerville"/>
                <a:sym typeface="Libre Baskerville"/>
              </a:rPr>
              <a:t>Right</a:t>
            </a:r>
            <a:endParaRPr/>
          </a:p>
          <a:p>
            <a:pPr marL="0" marR="0" lvl="0" indent="0" algn="ctr" rtl="0">
              <a:spcBef>
                <a:spcPts val="0"/>
              </a:spcBef>
              <a:spcAft>
                <a:spcPts val="0"/>
              </a:spcAft>
              <a:buNone/>
            </a:pPr>
            <a:r>
              <a:rPr lang="en-US" sz="1600">
                <a:solidFill>
                  <a:schemeClr val="lt1"/>
                </a:solidFill>
                <a:latin typeface="Libre Baskerville"/>
                <a:ea typeface="Libre Baskerville"/>
                <a:cs typeface="Libre Baskerville"/>
                <a:sym typeface="Libre Baskerville"/>
              </a:rPr>
              <a:t>click</a:t>
            </a:r>
            <a:endParaRPr sz="1600">
              <a:solidFill>
                <a:schemeClr val="lt1"/>
              </a:solidFill>
              <a:latin typeface="Libre Baskerville"/>
              <a:ea typeface="Libre Baskerville"/>
              <a:cs typeface="Libre Baskerville"/>
              <a:sym typeface="Libre Baskerville"/>
            </a:endParaRPr>
          </a:p>
        </p:txBody>
      </p:sp>
      <p:pic>
        <p:nvPicPr>
          <p:cNvPr id="349" name="Google Shape;349;p20"/>
          <p:cNvPicPr preferRelativeResize="0"/>
          <p:nvPr/>
        </p:nvPicPr>
        <p:blipFill rotWithShape="1">
          <a:blip r:embed="rId3">
            <a:alphaModFix/>
          </a:blip>
          <a:srcRect/>
          <a:stretch/>
        </p:blipFill>
        <p:spPr>
          <a:xfrm>
            <a:off x="457200" y="2228576"/>
            <a:ext cx="8153400" cy="39248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1"/>
          <p:cNvSpPr txBox="1">
            <a:spLocks noGrp="1"/>
          </p:cNvSpPr>
          <p:nvPr>
            <p:ph type="title"/>
          </p:nvPr>
        </p:nvSpPr>
        <p:spPr>
          <a:xfrm>
            <a:off x="0" y="152400"/>
            <a:ext cx="8915400" cy="8382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4-Steps to Develop a JDBC Application</a:t>
            </a:r>
            <a:endParaRPr/>
          </a:p>
        </p:txBody>
      </p:sp>
      <p:graphicFrame>
        <p:nvGraphicFramePr>
          <p:cNvPr id="355" name="Google Shape;355;p21"/>
          <p:cNvGraphicFramePr/>
          <p:nvPr/>
        </p:nvGraphicFramePr>
        <p:xfrm>
          <a:off x="304800" y="1614488"/>
          <a:ext cx="3000000" cy="3000000"/>
        </p:xfrm>
        <a:graphic>
          <a:graphicData uri="http://schemas.openxmlformats.org/drawingml/2006/table">
            <a:tbl>
              <a:tblPr firstRow="1" bandRow="1">
                <a:noFill/>
                <a:tableStyleId>{810BC2B2-E8F3-4348-8BA1-EDFF65460300}</a:tableStyleId>
              </a:tblPr>
              <a:tblGrid>
                <a:gridCol w="626425">
                  <a:extLst>
                    <a:ext uri="{9D8B030D-6E8A-4147-A177-3AD203B41FA5}">
                      <a16:colId xmlns:a16="http://schemas.microsoft.com/office/drawing/2014/main" val="20000"/>
                    </a:ext>
                  </a:extLst>
                </a:gridCol>
                <a:gridCol w="1811975">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3276600">
                  <a:extLst>
                    <a:ext uri="{9D8B030D-6E8A-4147-A177-3AD203B41FA5}">
                      <a16:colId xmlns:a16="http://schemas.microsoft.com/office/drawing/2014/main" val="20003"/>
                    </a:ext>
                  </a:extLst>
                </a:gridCol>
              </a:tblGrid>
              <a:tr h="457200">
                <a:tc>
                  <a:txBody>
                    <a:bodyPr/>
                    <a:lstStyle/>
                    <a:p>
                      <a:pPr marL="0" marR="0" lvl="0" indent="0" algn="l" rtl="0">
                        <a:spcBef>
                          <a:spcPts val="0"/>
                        </a:spcBef>
                        <a:spcAft>
                          <a:spcPts val="0"/>
                        </a:spcAft>
                        <a:buNone/>
                      </a:pPr>
                      <a:r>
                        <a:rPr lang="en-US" sz="1800"/>
                        <a:t>Step</a:t>
                      </a:r>
                      <a:endParaRPr sz="1800"/>
                    </a:p>
                  </a:txBody>
                  <a:tcPr marL="91450" marR="91450" marT="45725" marB="45725"/>
                </a:tc>
                <a:tc>
                  <a:txBody>
                    <a:bodyPr/>
                    <a:lstStyle/>
                    <a:p>
                      <a:pPr marL="0" marR="0" lvl="0" indent="0" algn="l" rtl="0">
                        <a:spcBef>
                          <a:spcPts val="0"/>
                        </a:spcBef>
                        <a:spcAft>
                          <a:spcPts val="0"/>
                        </a:spcAft>
                        <a:buNone/>
                      </a:pPr>
                      <a:r>
                        <a:rPr lang="en-US" sz="1800"/>
                        <a:t>Description</a:t>
                      </a:r>
                      <a:endParaRPr sz="1800"/>
                    </a:p>
                  </a:txBody>
                  <a:tcPr marL="91450" marR="91450" marT="45725" marB="45725"/>
                </a:tc>
                <a:tc>
                  <a:txBody>
                    <a:bodyPr/>
                    <a:lstStyle/>
                    <a:p>
                      <a:pPr marL="0" marR="0" lvl="0" indent="0" algn="l" rtl="0">
                        <a:spcBef>
                          <a:spcPts val="0"/>
                        </a:spcBef>
                        <a:spcAft>
                          <a:spcPts val="0"/>
                        </a:spcAft>
                        <a:buNone/>
                      </a:pPr>
                      <a:r>
                        <a:rPr lang="en-US" sz="1800"/>
                        <a:t>Use ( java.sql package) </a:t>
                      </a:r>
                      <a:endParaRPr sz="1800"/>
                    </a:p>
                  </a:txBody>
                  <a:tcPr marL="91450" marR="91450" marT="45725" marB="45725"/>
                </a:tc>
                <a:tc>
                  <a:txBody>
                    <a:bodyPr/>
                    <a:lstStyle/>
                    <a:p>
                      <a:pPr marL="0" marR="0" lvl="0" indent="0" algn="l" rtl="0">
                        <a:spcBef>
                          <a:spcPts val="0"/>
                        </a:spcBef>
                        <a:spcAft>
                          <a:spcPts val="0"/>
                        </a:spcAft>
                        <a:buNone/>
                      </a:pPr>
                      <a:r>
                        <a:rPr lang="en-US" sz="1800"/>
                        <a:t>Methods</a:t>
                      </a:r>
                      <a:endParaRPr sz="1800"/>
                    </a:p>
                  </a:txBody>
                  <a:tcPr marL="91450" marR="91450" marT="45725" marB="45725"/>
                </a:tc>
                <a:extLst>
                  <a:ext uri="{0D108BD9-81ED-4DB2-BD59-A6C34878D82A}">
                    <a16:rowId xmlns:a16="http://schemas.microsoft.com/office/drawing/2014/main" val="10000"/>
                  </a:ext>
                </a:extLst>
              </a:tr>
              <a:tr h="595325">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b="1"/>
                        <a:t>Load JDBC Driver</a:t>
                      </a:r>
                      <a:endParaRPr sz="1800" b="1"/>
                    </a:p>
                  </a:txBody>
                  <a:tcPr marL="91450" marR="91450" marT="45725" marB="45725"/>
                </a:tc>
                <a:tc>
                  <a:txBody>
                    <a:bodyPr/>
                    <a:lstStyle/>
                    <a:p>
                      <a:pPr marL="0" marR="0" lvl="0" indent="0" algn="l" rtl="0">
                        <a:spcBef>
                          <a:spcPts val="0"/>
                        </a:spcBef>
                        <a:spcAft>
                          <a:spcPts val="0"/>
                        </a:spcAft>
                        <a:buNone/>
                      </a:pPr>
                      <a:r>
                        <a:rPr lang="en-US" sz="1800"/>
                        <a:t>Java.lang.Class</a:t>
                      </a:r>
                      <a:endParaRPr sz="1800"/>
                    </a:p>
                  </a:txBody>
                  <a:tcPr marL="91450" marR="91450" marT="45725" marB="45725"/>
                </a:tc>
                <a:tc>
                  <a:txBody>
                    <a:bodyPr/>
                    <a:lstStyle/>
                    <a:p>
                      <a:pPr marL="0" marR="0" lvl="0" indent="0" algn="l" rtl="0">
                        <a:spcBef>
                          <a:spcPts val="0"/>
                        </a:spcBef>
                        <a:spcAft>
                          <a:spcPts val="0"/>
                        </a:spcAft>
                        <a:buNone/>
                      </a:pPr>
                      <a:r>
                        <a:rPr lang="en-US" sz="1800"/>
                        <a:t>forName(…)</a:t>
                      </a:r>
                      <a:endParaRPr sz="1800"/>
                    </a:p>
                  </a:txBody>
                  <a:tcPr marL="91450" marR="91450" marT="45725" marB="45725"/>
                </a:tc>
                <a:extLst>
                  <a:ext uri="{0D108BD9-81ED-4DB2-BD59-A6C34878D82A}">
                    <a16:rowId xmlns:a16="http://schemas.microsoft.com/office/drawing/2014/main" val="10001"/>
                  </a:ext>
                </a:extLst>
              </a:tr>
              <a:tr h="770775">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b="1"/>
                        <a:t>Establish a DB connection</a:t>
                      </a:r>
                      <a:endParaRPr sz="1800" b="1"/>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Libre Baskerville"/>
                        <a:buNone/>
                      </a:pPr>
                      <a:r>
                        <a:rPr lang="en-US" sz="1800"/>
                        <a:t>java.sql.Connection</a:t>
                      </a:r>
                      <a:endParaRPr/>
                    </a:p>
                    <a:p>
                      <a:pPr marL="0" marR="0" lvl="0" indent="0" algn="l" rtl="0">
                        <a:lnSpc>
                          <a:spcPct val="100000"/>
                        </a:lnSpc>
                        <a:spcBef>
                          <a:spcPts val="0"/>
                        </a:spcBef>
                        <a:spcAft>
                          <a:spcPts val="0"/>
                        </a:spcAft>
                        <a:buClr>
                          <a:schemeClr val="dk1"/>
                        </a:buClr>
                        <a:buSzPts val="1800"/>
                        <a:buFont typeface="Libre Baskerville"/>
                        <a:buNone/>
                      </a:pPr>
                      <a:r>
                        <a:rPr lang="en-US" sz="1800"/>
                        <a:t> java.sql.DriverManager</a:t>
                      </a:r>
                      <a:endParaRPr/>
                    </a:p>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p>
                      <a:pPr marL="0" marR="0" lvl="0" indent="0" algn="l" rtl="0">
                        <a:spcBef>
                          <a:spcPts val="0"/>
                        </a:spcBef>
                        <a:spcAft>
                          <a:spcPts val="0"/>
                        </a:spcAft>
                        <a:buNone/>
                      </a:pPr>
                      <a:r>
                        <a:rPr lang="en-US" sz="1800"/>
                        <a:t>DriverManager getConnection(…)  🡪 Connection</a:t>
                      </a:r>
                      <a:endParaRPr sz="1800"/>
                    </a:p>
                  </a:txBody>
                  <a:tcPr marL="91450" marR="91450" marT="45725" marB="45725"/>
                </a:tc>
                <a:extLst>
                  <a:ext uri="{0D108BD9-81ED-4DB2-BD59-A6C34878D82A}">
                    <a16:rowId xmlns:a16="http://schemas.microsoft.com/office/drawing/2014/main" val="10002"/>
                  </a:ext>
                </a:extLst>
              </a:tr>
              <a:tr h="595325">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b="1"/>
                        <a:t>Create &amp; execute SQL statements</a:t>
                      </a:r>
                      <a:endParaRPr sz="1800" b="1"/>
                    </a:p>
                  </a:txBody>
                  <a:tcPr marL="91450" marR="91450" marT="45725" marB="45725"/>
                </a:tc>
                <a:tc>
                  <a:txBody>
                    <a:bodyPr/>
                    <a:lstStyle/>
                    <a:p>
                      <a:pPr marL="0" marR="0" lvl="0" indent="0" algn="l" rtl="0">
                        <a:spcBef>
                          <a:spcPts val="0"/>
                        </a:spcBef>
                        <a:spcAft>
                          <a:spcPts val="0"/>
                        </a:spcAft>
                        <a:buNone/>
                      </a:pPr>
                      <a:r>
                        <a:rPr lang="en-US" sz="1800"/>
                        <a:t>java.sql.Statement</a:t>
                      </a:r>
                      <a:endParaRPr/>
                    </a:p>
                    <a:p>
                      <a:pPr marL="0" marR="0" lvl="0" indent="0" algn="l" rtl="0">
                        <a:spcBef>
                          <a:spcPts val="0"/>
                        </a:spcBef>
                        <a:spcAft>
                          <a:spcPts val="0"/>
                        </a:spcAft>
                        <a:buNone/>
                      </a:pPr>
                      <a:r>
                        <a:rPr lang="en-US" sz="1800"/>
                        <a:t>java.sql.PrepareStatement</a:t>
                      </a:r>
                      <a:endParaRPr/>
                    </a:p>
                    <a:p>
                      <a:pPr marL="0" marR="0" lvl="0" indent="0" algn="l" rtl="0">
                        <a:spcBef>
                          <a:spcPts val="0"/>
                        </a:spcBef>
                        <a:spcAft>
                          <a:spcPts val="0"/>
                        </a:spcAft>
                        <a:buNone/>
                      </a:pPr>
                      <a:r>
                        <a:rPr lang="en-US" sz="1800"/>
                        <a:t>java.sql.CallableStatement</a:t>
                      </a:r>
                      <a:endParaRPr sz="1800"/>
                    </a:p>
                  </a:txBody>
                  <a:tcPr marL="91450" marR="91450" marT="45725" marB="45725"/>
                </a:tc>
                <a:tc>
                  <a:txBody>
                    <a:bodyPr/>
                    <a:lstStyle/>
                    <a:p>
                      <a:pPr marL="0" marR="0" lvl="0" indent="0" algn="l" rtl="0">
                        <a:spcBef>
                          <a:spcPts val="0"/>
                        </a:spcBef>
                        <a:spcAft>
                          <a:spcPts val="0"/>
                        </a:spcAft>
                        <a:buNone/>
                      </a:pPr>
                      <a:r>
                        <a:rPr lang="en-US" sz="1800"/>
                        <a:t>execute(…)</a:t>
                      </a:r>
                      <a:endParaRPr/>
                    </a:p>
                    <a:p>
                      <a:pPr marL="0" marR="0" lvl="0" indent="0" algn="l" rtl="0">
                        <a:spcBef>
                          <a:spcPts val="0"/>
                        </a:spcBef>
                        <a:spcAft>
                          <a:spcPts val="0"/>
                        </a:spcAft>
                        <a:buNone/>
                      </a:pPr>
                      <a:r>
                        <a:rPr lang="en-US" sz="1800"/>
                        <a:t>executeQuery(…)   🡪 SELECT</a:t>
                      </a:r>
                      <a:endParaRPr/>
                    </a:p>
                    <a:p>
                      <a:pPr marL="631825" marR="0" lvl="0" indent="-631825" algn="l" rtl="0">
                        <a:spcBef>
                          <a:spcPts val="0"/>
                        </a:spcBef>
                        <a:spcAft>
                          <a:spcPts val="0"/>
                        </a:spcAft>
                        <a:buNone/>
                      </a:pPr>
                      <a:r>
                        <a:rPr lang="en-US" sz="1800"/>
                        <a:t>executeUpdate(…) 🡪  INSERT/UPDATE/DELETE</a:t>
                      </a:r>
                      <a:endParaRPr sz="1800"/>
                    </a:p>
                  </a:txBody>
                  <a:tcPr marL="91450" marR="91450" marT="45725" marB="45725"/>
                </a:tc>
                <a:extLst>
                  <a:ext uri="{0D108BD9-81ED-4DB2-BD59-A6C34878D82A}">
                    <a16:rowId xmlns:a16="http://schemas.microsoft.com/office/drawing/2014/main" val="10003"/>
                  </a:ext>
                </a:extLst>
              </a:tr>
              <a:tr h="595325">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b="1"/>
                        <a:t>Process the results</a:t>
                      </a:r>
                      <a:endParaRPr sz="1800" b="1"/>
                    </a:p>
                  </a:txBody>
                  <a:tcPr marL="91450" marR="91450" marT="45725" marB="45725"/>
                </a:tc>
                <a:tc>
                  <a:txBody>
                    <a:bodyPr/>
                    <a:lstStyle/>
                    <a:p>
                      <a:pPr marL="0" marR="0" lvl="0" indent="0" algn="l" rtl="0">
                        <a:spcBef>
                          <a:spcPts val="0"/>
                        </a:spcBef>
                        <a:spcAft>
                          <a:spcPts val="0"/>
                        </a:spcAft>
                        <a:buNone/>
                      </a:pPr>
                      <a:r>
                        <a:rPr lang="en-US" sz="1800"/>
                        <a:t>java.sql.ResultSet</a:t>
                      </a:r>
                      <a:endParaRPr/>
                    </a:p>
                  </a:txBody>
                  <a:tcPr marL="91450" marR="91450" marT="45725" marB="45725"/>
                </a:tc>
                <a:tc>
                  <a:txBody>
                    <a:bodyPr/>
                    <a:lstStyle/>
                    <a:p>
                      <a:pPr marL="0" marR="0" lvl="0" indent="0" algn="l" rtl="0">
                        <a:spcBef>
                          <a:spcPts val="0"/>
                        </a:spcBef>
                        <a:spcAft>
                          <a:spcPts val="0"/>
                        </a:spcAft>
                        <a:buNone/>
                      </a:pPr>
                      <a:r>
                        <a:rPr lang="en-US" sz="1800"/>
                        <a:t>first(), last(), next(), previous()</a:t>
                      </a:r>
                      <a:endParaRPr/>
                    </a:p>
                    <a:p>
                      <a:pPr marL="0" marR="0" lvl="0" indent="0" algn="l" rtl="0">
                        <a:spcBef>
                          <a:spcPts val="0"/>
                        </a:spcBef>
                        <a:spcAft>
                          <a:spcPts val="0"/>
                        </a:spcAft>
                        <a:buNone/>
                      </a:pPr>
                      <a:r>
                        <a:rPr lang="en-US" sz="1800"/>
                        <a:t>getXXX(..)</a:t>
                      </a:r>
                      <a:endParaRPr sz="1800"/>
                    </a:p>
                  </a:txBody>
                  <a:tcPr marL="91450" marR="91450" marT="45725" marB="45725"/>
                </a:tc>
                <a:extLst>
                  <a:ext uri="{0D108BD9-81ED-4DB2-BD59-A6C34878D82A}">
                    <a16:rowId xmlns:a16="http://schemas.microsoft.com/office/drawing/2014/main" val="10004"/>
                  </a:ext>
                </a:extLst>
              </a:tr>
              <a:tr h="595325">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b="1"/>
                        <a:t>Close</a:t>
                      </a:r>
                      <a:endParaRPr sz="1800" b="1"/>
                    </a:p>
                  </a:txBody>
                  <a:tcPr marL="91450" marR="91450" marT="45725" marB="45725"/>
                </a:tc>
                <a:tc>
                  <a:txBody>
                    <a:bodyPr/>
                    <a:lstStyle/>
                    <a:p>
                      <a:pPr marL="0" marR="0" lvl="0" indent="0" algn="l" rtl="0">
                        <a:spcBef>
                          <a:spcPts val="0"/>
                        </a:spcBef>
                        <a:spcAft>
                          <a:spcPts val="0"/>
                        </a:spcAft>
                        <a:buNone/>
                      </a:pPr>
                      <a:r>
                        <a:rPr lang="en-US" sz="1800"/>
                        <a:t>ResultSet, Statement, Connection</a:t>
                      </a:r>
                      <a:endParaRPr sz="1800"/>
                    </a:p>
                  </a:txBody>
                  <a:tcPr marL="91450" marR="91450" marT="45725" marB="45725"/>
                </a:tc>
                <a:tc>
                  <a:txBody>
                    <a:bodyPr/>
                    <a:lstStyle/>
                    <a:p>
                      <a:pPr marL="0" marR="0" lvl="0" indent="0" algn="l" rtl="0">
                        <a:spcBef>
                          <a:spcPts val="0"/>
                        </a:spcBef>
                        <a:spcAft>
                          <a:spcPts val="0"/>
                        </a:spcAft>
                        <a:buNone/>
                      </a:pPr>
                      <a:r>
                        <a:rPr lang="en-US" sz="1800"/>
                        <a:t>close()</a:t>
                      </a:r>
                      <a:endParaRPr sz="180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2"/>
          <p:cNvSpPr txBox="1">
            <a:spLocks noGrp="1"/>
          </p:cNvSpPr>
          <p:nvPr>
            <p:ph type="title"/>
          </p:nvPr>
        </p:nvSpPr>
        <p:spPr>
          <a:xfrm>
            <a:off x="1447800" y="152400"/>
            <a:ext cx="7010400" cy="914400"/>
          </a:xfrm>
          <a:prstGeom prst="rect">
            <a:avLst/>
          </a:prstGeom>
          <a:noFill/>
          <a:ln>
            <a:noFill/>
          </a:ln>
        </p:spPr>
        <p:txBody>
          <a:bodyPr spcFirstLastPara="1" wrap="square" lIns="91425" tIns="45700" rIns="91425" bIns="91425" anchor="b" anchorCtr="0">
            <a:normAutofit fontScale="90000"/>
          </a:bodyPr>
          <a:lstStyle/>
          <a:p>
            <a:pPr marL="0" lvl="0" indent="0" algn="r" rtl="0">
              <a:spcBef>
                <a:spcPts val="0"/>
              </a:spcBef>
              <a:spcAft>
                <a:spcPts val="0"/>
              </a:spcAft>
              <a:buClr>
                <a:srgbClr val="0000FF"/>
              </a:buClr>
              <a:buSzPct val="100000"/>
              <a:buFont typeface="Arial"/>
              <a:buNone/>
            </a:pPr>
            <a:r>
              <a:rPr lang="en-US" sz="2800">
                <a:latin typeface="Arial"/>
                <a:ea typeface="Arial"/>
                <a:cs typeface="Arial"/>
                <a:sym typeface="Arial"/>
              </a:rPr>
              <a:t>Step 1: Register JDBC Driver</a:t>
            </a:r>
            <a:br>
              <a:rPr lang="en-US" sz="2800">
                <a:latin typeface="Arial"/>
                <a:ea typeface="Arial"/>
                <a:cs typeface="Arial"/>
                <a:sym typeface="Arial"/>
              </a:rPr>
            </a:br>
            <a:r>
              <a:rPr lang="en-US" sz="2800">
                <a:latin typeface="Arial"/>
                <a:ea typeface="Arial"/>
                <a:cs typeface="Arial"/>
                <a:sym typeface="Arial"/>
              </a:rPr>
              <a:t>Step 2: Establish a connection to DB </a:t>
            </a:r>
            <a:endParaRPr/>
          </a:p>
        </p:txBody>
      </p:sp>
      <p:pic>
        <p:nvPicPr>
          <p:cNvPr id="362" name="Google Shape;362;p22"/>
          <p:cNvPicPr preferRelativeResize="0"/>
          <p:nvPr/>
        </p:nvPicPr>
        <p:blipFill rotWithShape="1">
          <a:blip r:embed="rId3">
            <a:alphaModFix/>
          </a:blip>
          <a:srcRect/>
          <a:stretch/>
        </p:blipFill>
        <p:spPr>
          <a:xfrm>
            <a:off x="914400" y="1828800"/>
            <a:ext cx="7296150" cy="4495800"/>
          </a:xfrm>
          <a:prstGeom prst="rect">
            <a:avLst/>
          </a:prstGeom>
          <a:noFill/>
          <a:ln>
            <a:noFill/>
          </a:ln>
        </p:spPr>
      </p:pic>
      <p:sp>
        <p:nvSpPr>
          <p:cNvPr id="363" name="Google Shape;363;p22"/>
          <p:cNvSpPr/>
          <p:nvPr/>
        </p:nvSpPr>
        <p:spPr>
          <a:xfrm>
            <a:off x="1066800" y="1371600"/>
            <a:ext cx="7315200" cy="3698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u="sng">
                <a:solidFill>
                  <a:schemeClr val="dk1"/>
                </a:solidFill>
                <a:latin typeface="Libre Baskerville"/>
                <a:ea typeface="Libre Baskerville"/>
                <a:cs typeface="Libre Baskerville"/>
                <a:sym typeface="Libre Baskerville"/>
              </a:rPr>
              <a:t>Driver Type 1 </a:t>
            </a:r>
            <a:r>
              <a:rPr lang="en-US" sz="1800" b="1">
                <a:solidFill>
                  <a:schemeClr val="dk1"/>
                </a:solidFill>
                <a:latin typeface="Libre Baskerville"/>
                <a:ea typeface="Libre Baskerville"/>
                <a:cs typeface="Libre Baskerville"/>
                <a:sym typeface="Libre Baskerville"/>
              </a:rPr>
              <a:t>with Data Source Name registered in ODBC</a:t>
            </a:r>
            <a:endParaRPr/>
          </a:p>
        </p:txBody>
      </p:sp>
      <p:sp>
        <p:nvSpPr>
          <p:cNvPr id="364" name="Google Shape;364;p22"/>
          <p:cNvSpPr/>
          <p:nvPr/>
        </p:nvSpPr>
        <p:spPr>
          <a:xfrm>
            <a:off x="7543800" y="1066800"/>
            <a:ext cx="1447800" cy="3810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Driver Class</a:t>
            </a:r>
            <a:endParaRPr sz="1800">
              <a:solidFill>
                <a:schemeClr val="lt1"/>
              </a:solidFill>
              <a:latin typeface="Libre Baskerville"/>
              <a:ea typeface="Libre Baskerville"/>
              <a:cs typeface="Libre Baskerville"/>
              <a:sym typeface="Libre Baskerville"/>
            </a:endParaRPr>
          </a:p>
        </p:txBody>
      </p:sp>
      <p:cxnSp>
        <p:nvCxnSpPr>
          <p:cNvPr id="365" name="Google Shape;365;p22"/>
          <p:cNvCxnSpPr>
            <a:stCxn id="364" idx="2"/>
          </p:cNvCxnSpPr>
          <p:nvPr/>
        </p:nvCxnSpPr>
        <p:spPr>
          <a:xfrm flipH="1">
            <a:off x="5943600" y="1447800"/>
            <a:ext cx="2324100" cy="990600"/>
          </a:xfrm>
          <a:prstGeom prst="straightConnector1">
            <a:avLst/>
          </a:prstGeom>
          <a:noFill/>
          <a:ln w="9525" cap="flat" cmpd="sng">
            <a:solidFill>
              <a:srgbClr val="AE350A"/>
            </a:solidFill>
            <a:prstDash val="solid"/>
            <a:round/>
            <a:headEnd type="none" w="sm" len="sm"/>
            <a:tailEnd type="stealth" w="med" len="med"/>
          </a:ln>
        </p:spPr>
      </p:cxnSp>
      <p:sp>
        <p:nvSpPr>
          <p:cNvPr id="366" name="Google Shape;366;p22"/>
          <p:cNvSpPr/>
          <p:nvPr/>
        </p:nvSpPr>
        <p:spPr>
          <a:xfrm>
            <a:off x="5257800" y="3124200"/>
            <a:ext cx="3581400" cy="304800"/>
          </a:xfrm>
          <a:prstGeom prst="rect">
            <a:avLst/>
          </a:prstGeom>
          <a:solidFill>
            <a:srgbClr val="008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Libre Baskerville"/>
                <a:ea typeface="Libre Baskerville"/>
                <a:cs typeface="Libre Baskerville"/>
                <a:sym typeface="Libre Baskerville"/>
              </a:rPr>
              <a:t>Attention to the syntax of URL</a:t>
            </a:r>
            <a:endParaRPr sz="2000">
              <a:solidFill>
                <a:schemeClr val="lt1"/>
              </a:solidFill>
              <a:latin typeface="Libre Baskerville"/>
              <a:ea typeface="Libre Baskerville"/>
              <a:cs typeface="Libre Baskerville"/>
              <a:sym typeface="Libre Baskervill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3"/>
          <p:cNvSpPr txBox="1">
            <a:spLocks noGrp="1"/>
          </p:cNvSpPr>
          <p:nvPr>
            <p:ph type="title"/>
          </p:nvPr>
        </p:nvSpPr>
        <p:spPr>
          <a:xfrm>
            <a:off x="1447800" y="152400"/>
            <a:ext cx="7010400" cy="914400"/>
          </a:xfrm>
          <a:prstGeom prst="rect">
            <a:avLst/>
          </a:prstGeom>
          <a:noFill/>
          <a:ln>
            <a:noFill/>
          </a:ln>
        </p:spPr>
        <p:txBody>
          <a:bodyPr spcFirstLastPara="1" wrap="square" lIns="91425" tIns="45700" rIns="91425" bIns="91425" anchor="b" anchorCtr="0">
            <a:normAutofit fontScale="90000"/>
          </a:bodyPr>
          <a:lstStyle/>
          <a:p>
            <a:pPr marL="0" lvl="0" indent="0" algn="r" rtl="0">
              <a:spcBef>
                <a:spcPts val="0"/>
              </a:spcBef>
              <a:spcAft>
                <a:spcPts val="0"/>
              </a:spcAft>
              <a:buClr>
                <a:srgbClr val="0000FF"/>
              </a:buClr>
              <a:buSzPct val="100000"/>
              <a:buFont typeface="Arial"/>
              <a:buNone/>
            </a:pPr>
            <a:r>
              <a:rPr lang="en-US" sz="2800">
                <a:latin typeface="Arial"/>
                <a:ea typeface="Arial"/>
                <a:cs typeface="Arial"/>
                <a:sym typeface="Arial"/>
              </a:rPr>
              <a:t>Step 1: Register JDBC Driver</a:t>
            </a:r>
            <a:br>
              <a:rPr lang="en-US" sz="2800">
                <a:latin typeface="Arial"/>
                <a:ea typeface="Arial"/>
                <a:cs typeface="Arial"/>
                <a:sym typeface="Arial"/>
              </a:rPr>
            </a:br>
            <a:r>
              <a:rPr lang="en-US" sz="2800">
                <a:latin typeface="Arial"/>
                <a:ea typeface="Arial"/>
                <a:cs typeface="Arial"/>
                <a:sym typeface="Arial"/>
              </a:rPr>
              <a:t>Step 2: Establish a connection to DB </a:t>
            </a:r>
            <a:endParaRPr/>
          </a:p>
        </p:txBody>
      </p:sp>
      <p:pic>
        <p:nvPicPr>
          <p:cNvPr id="373" name="Google Shape;373;p23"/>
          <p:cNvPicPr preferRelativeResize="0"/>
          <p:nvPr/>
        </p:nvPicPr>
        <p:blipFill rotWithShape="1">
          <a:blip r:embed="rId3">
            <a:alphaModFix/>
          </a:blip>
          <a:srcRect/>
          <a:stretch/>
        </p:blipFill>
        <p:spPr>
          <a:xfrm>
            <a:off x="325200" y="1204850"/>
            <a:ext cx="8657800" cy="55252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4"/>
          <p:cNvSpPr txBox="1">
            <a:spLocks noGrp="1"/>
          </p:cNvSpPr>
          <p:nvPr>
            <p:ph type="title"/>
          </p:nvPr>
        </p:nvSpPr>
        <p:spPr>
          <a:xfrm>
            <a:off x="381000" y="152400"/>
            <a:ext cx="8077200" cy="8382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2800"/>
              <a:buFont typeface="Arial"/>
              <a:buNone/>
            </a:pPr>
            <a:r>
              <a:rPr lang="en-US" sz="2800">
                <a:latin typeface="Arial"/>
                <a:ea typeface="Arial"/>
                <a:cs typeface="Arial"/>
                <a:sym typeface="Arial"/>
              </a:rPr>
              <a:t>Step 3: Create &amp;Execute a SQL statement</a:t>
            </a:r>
            <a:endParaRPr/>
          </a:p>
        </p:txBody>
      </p:sp>
      <p:sp>
        <p:nvSpPr>
          <p:cNvPr id="379" name="Google Shape;379;p24"/>
          <p:cNvSpPr/>
          <p:nvPr/>
        </p:nvSpPr>
        <p:spPr>
          <a:xfrm>
            <a:off x="152400" y="1600200"/>
            <a:ext cx="8991600" cy="1752600"/>
          </a:xfrm>
          <a:prstGeom prst="rect">
            <a:avLst/>
          </a:prstGeom>
          <a:solidFill>
            <a:srgbClr val="FFFF99"/>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a:solidFill>
                  <a:srgbClr val="0000CC"/>
                </a:solidFill>
                <a:latin typeface="Arial"/>
                <a:ea typeface="Arial"/>
                <a:cs typeface="Arial"/>
                <a:sym typeface="Arial"/>
              </a:rPr>
              <a:t>String sql1 = “SELECT  columns FROM table1, table2, …  WHERE condition”;</a:t>
            </a:r>
            <a:endParaRPr/>
          </a:p>
          <a:p>
            <a:pPr marL="0" marR="0" lvl="0" indent="0" algn="l" rtl="0">
              <a:spcBef>
                <a:spcPts val="0"/>
              </a:spcBef>
              <a:spcAft>
                <a:spcPts val="0"/>
              </a:spcAft>
              <a:buNone/>
            </a:pPr>
            <a:r>
              <a:rPr lang="en-US" sz="1800" b="1">
                <a:solidFill>
                  <a:srgbClr val="0000CC"/>
                </a:solidFill>
                <a:latin typeface="Arial"/>
                <a:ea typeface="Arial"/>
                <a:cs typeface="Arial"/>
                <a:sym typeface="Arial"/>
              </a:rPr>
              <a:t>String sql2 = “UPDATE table SET column = value, … WHERE  condition”;</a:t>
            </a:r>
            <a:endParaRPr/>
          </a:p>
          <a:p>
            <a:pPr marL="0" marR="0" lvl="0" indent="0" algn="l" rtl="0">
              <a:spcBef>
                <a:spcPts val="0"/>
              </a:spcBef>
              <a:spcAft>
                <a:spcPts val="0"/>
              </a:spcAft>
              <a:buNone/>
            </a:pPr>
            <a:r>
              <a:rPr lang="en-US" sz="1800" b="1">
                <a:solidFill>
                  <a:srgbClr val="0000CC"/>
                </a:solidFill>
                <a:latin typeface="Arial"/>
                <a:ea typeface="Arial"/>
                <a:cs typeface="Arial"/>
                <a:sym typeface="Arial"/>
              </a:rPr>
              <a:t>String sql3 = “INSERT INTO table VALUES ( val1, val2, … )” ;</a:t>
            </a:r>
            <a:endParaRPr/>
          </a:p>
          <a:p>
            <a:pPr marL="0" marR="0" lvl="0" indent="0" algn="l" rtl="0">
              <a:spcBef>
                <a:spcPts val="0"/>
              </a:spcBef>
              <a:spcAft>
                <a:spcPts val="0"/>
              </a:spcAft>
              <a:buNone/>
            </a:pPr>
            <a:r>
              <a:rPr lang="en-US" sz="1800" b="1">
                <a:solidFill>
                  <a:srgbClr val="0000CC"/>
                </a:solidFill>
                <a:latin typeface="Arial"/>
                <a:ea typeface="Arial"/>
                <a:cs typeface="Arial"/>
                <a:sym typeface="Arial"/>
              </a:rPr>
              <a:t>String sql4 = “INSERT INTO table  (col1, col2, col3) VALUES ( val1, val2, val3)” ;</a:t>
            </a:r>
            <a:endParaRPr/>
          </a:p>
          <a:p>
            <a:pPr marL="0" marR="0" lvl="0" indent="0" algn="l" rtl="0">
              <a:spcBef>
                <a:spcPts val="0"/>
              </a:spcBef>
              <a:spcAft>
                <a:spcPts val="0"/>
              </a:spcAft>
              <a:buNone/>
            </a:pPr>
            <a:r>
              <a:rPr lang="en-US" sz="1800" b="1">
                <a:solidFill>
                  <a:srgbClr val="FF0000"/>
                </a:solidFill>
                <a:latin typeface="Arial"/>
                <a:ea typeface="Arial"/>
                <a:cs typeface="Arial"/>
                <a:sym typeface="Arial"/>
              </a:rPr>
              <a:t>String sql5 =  “UPDATE table SET col1 = ?, col2=?  WHERE  condition”;</a:t>
            </a:r>
            <a:endParaRPr/>
          </a:p>
        </p:txBody>
      </p:sp>
      <p:sp>
        <p:nvSpPr>
          <p:cNvPr id="380" name="Google Shape;380;p24"/>
          <p:cNvSpPr/>
          <p:nvPr/>
        </p:nvSpPr>
        <p:spPr>
          <a:xfrm>
            <a:off x="152400" y="3505200"/>
            <a:ext cx="8991600" cy="3124200"/>
          </a:xfrm>
          <a:prstGeom prst="rect">
            <a:avLst/>
          </a:prstGeom>
          <a:solidFill>
            <a:srgbClr val="99FFCC"/>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0000CC"/>
                </a:solidFill>
                <a:latin typeface="Arial"/>
                <a:ea typeface="Arial"/>
                <a:cs typeface="Arial"/>
                <a:sym typeface="Arial"/>
              </a:rPr>
              <a:t>// Connection con was created</a:t>
            </a:r>
            <a:endParaRPr/>
          </a:p>
          <a:p>
            <a:pPr marL="0" marR="0" lvl="0" indent="0" algn="l" rtl="0">
              <a:spcBef>
                <a:spcPts val="0"/>
              </a:spcBef>
              <a:spcAft>
                <a:spcPts val="0"/>
              </a:spcAft>
              <a:buNone/>
            </a:pPr>
            <a:r>
              <a:rPr lang="en-US" sz="2000" b="1">
                <a:solidFill>
                  <a:srgbClr val="0000CC"/>
                </a:solidFill>
                <a:latin typeface="Arial"/>
                <a:ea typeface="Arial"/>
                <a:cs typeface="Arial"/>
                <a:sym typeface="Arial"/>
              </a:rPr>
              <a:t>Statement stmt= con.createStatement();</a:t>
            </a:r>
            <a:endParaRPr/>
          </a:p>
          <a:p>
            <a:pPr marL="0" marR="0" lvl="0" indent="0" algn="l" rtl="0">
              <a:spcBef>
                <a:spcPts val="0"/>
              </a:spcBef>
              <a:spcAft>
                <a:spcPts val="0"/>
              </a:spcAft>
              <a:buNone/>
            </a:pPr>
            <a:r>
              <a:rPr lang="en-US" sz="2000" b="1">
                <a:solidFill>
                  <a:srgbClr val="0000CC"/>
                </a:solidFill>
                <a:latin typeface="Arial"/>
                <a:ea typeface="Arial"/>
                <a:cs typeface="Arial"/>
                <a:sym typeface="Arial"/>
              </a:rPr>
              <a:t>ResultSet rs= stmt.executeQuery(sql1);</a:t>
            </a:r>
            <a:endParaRPr/>
          </a:p>
          <a:p>
            <a:pPr marL="0" marR="0" lvl="0" indent="0" algn="l" rtl="0">
              <a:spcBef>
                <a:spcPts val="0"/>
              </a:spcBef>
              <a:spcAft>
                <a:spcPts val="0"/>
              </a:spcAft>
              <a:buNone/>
            </a:pPr>
            <a:r>
              <a:rPr lang="en-US" sz="2000" b="1">
                <a:solidFill>
                  <a:srgbClr val="0000CC"/>
                </a:solidFill>
                <a:latin typeface="Arial"/>
                <a:ea typeface="Arial"/>
                <a:cs typeface="Arial"/>
                <a:sym typeface="Arial"/>
              </a:rPr>
              <a:t>int numOfInfectedRows = stmt.executeUpdate(sql2);</a:t>
            </a:r>
            <a:endParaRPr/>
          </a:p>
          <a:p>
            <a:pPr marL="0" marR="0" lvl="0" indent="0" algn="l" rtl="0">
              <a:spcBef>
                <a:spcPts val="0"/>
              </a:spcBef>
              <a:spcAft>
                <a:spcPts val="0"/>
              </a:spcAft>
              <a:buNone/>
            </a:pPr>
            <a:r>
              <a:rPr lang="en-US" sz="2000" b="1">
                <a:solidFill>
                  <a:srgbClr val="0000CC"/>
                </a:solidFill>
                <a:latin typeface="Arial"/>
                <a:ea typeface="Arial"/>
                <a:cs typeface="Arial"/>
                <a:sym typeface="Arial"/>
              </a:rPr>
              <a:t>int numOfInfectedRows = stmt.executeUpdate(sql3);</a:t>
            </a:r>
            <a:endParaRPr/>
          </a:p>
          <a:p>
            <a:pPr marL="0" marR="0" lvl="0" indent="0" algn="l" rtl="0">
              <a:spcBef>
                <a:spcPts val="0"/>
              </a:spcBef>
              <a:spcAft>
                <a:spcPts val="0"/>
              </a:spcAft>
              <a:buNone/>
            </a:pPr>
            <a:r>
              <a:rPr lang="en-US" sz="2000" b="1">
                <a:solidFill>
                  <a:srgbClr val="0000CC"/>
                </a:solidFill>
                <a:latin typeface="Arial"/>
                <a:ea typeface="Arial"/>
                <a:cs typeface="Arial"/>
                <a:sym typeface="Arial"/>
              </a:rPr>
              <a:t>int numOfInfectedRows = stmt.executeUpdate(sql4);</a:t>
            </a:r>
            <a:endParaRPr/>
          </a:p>
          <a:p>
            <a:pPr marL="0" marR="0" lvl="0" indent="0" algn="l" rtl="0">
              <a:spcBef>
                <a:spcPts val="0"/>
              </a:spcBef>
              <a:spcAft>
                <a:spcPts val="0"/>
              </a:spcAft>
              <a:buNone/>
            </a:pPr>
            <a:endParaRPr sz="2000" b="1">
              <a:solidFill>
                <a:srgbClr val="0000CC"/>
              </a:solidFill>
              <a:latin typeface="Arial"/>
              <a:ea typeface="Arial"/>
              <a:cs typeface="Arial"/>
              <a:sym typeface="Arial"/>
            </a:endParaRPr>
          </a:p>
          <a:p>
            <a:pPr marL="0" marR="0" lvl="0" indent="0" algn="l" rtl="0">
              <a:spcBef>
                <a:spcPts val="0"/>
              </a:spcBef>
              <a:spcAft>
                <a:spcPts val="0"/>
              </a:spcAft>
              <a:buNone/>
            </a:pPr>
            <a:r>
              <a:rPr lang="en-US" sz="2000" b="1">
                <a:solidFill>
                  <a:srgbClr val="FF0000"/>
                </a:solidFill>
                <a:latin typeface="Arial"/>
                <a:ea typeface="Arial"/>
                <a:cs typeface="Arial"/>
                <a:sym typeface="Arial"/>
              </a:rPr>
              <a:t>PreparedStatement pStmt = con.preparedStatement(sql5);</a:t>
            </a:r>
            <a:endParaRPr/>
          </a:p>
          <a:p>
            <a:pPr marL="0" marR="0" lvl="0" indent="0" algn="l" rtl="0">
              <a:spcBef>
                <a:spcPts val="0"/>
              </a:spcBef>
              <a:spcAft>
                <a:spcPts val="0"/>
              </a:spcAft>
              <a:buNone/>
            </a:pPr>
            <a:r>
              <a:rPr lang="en-US" sz="2000" b="1">
                <a:solidFill>
                  <a:srgbClr val="FF0000"/>
                </a:solidFill>
                <a:latin typeface="Arial"/>
                <a:ea typeface="Arial"/>
                <a:cs typeface="Arial"/>
                <a:sym typeface="Arial"/>
              </a:rPr>
              <a:t>pStmt.setXXX (index, val);  // from 1</a:t>
            </a:r>
            <a:endParaRPr/>
          </a:p>
          <a:p>
            <a:pPr marL="0" marR="0" lvl="0" indent="0" algn="l" rtl="0">
              <a:spcBef>
                <a:spcPts val="0"/>
              </a:spcBef>
              <a:spcAft>
                <a:spcPts val="0"/>
              </a:spcAft>
              <a:buNone/>
            </a:pPr>
            <a:r>
              <a:rPr lang="en-US" sz="2000" b="1">
                <a:solidFill>
                  <a:srgbClr val="FF0000"/>
                </a:solidFill>
                <a:latin typeface="Arial"/>
                <a:ea typeface="Arial"/>
                <a:cs typeface="Arial"/>
                <a:sym typeface="Arial"/>
              </a:rPr>
              <a:t>int numOfInfectedRows = pStmt.executeUpdate(); // no argument</a:t>
            </a:r>
            <a:endParaRPr/>
          </a:p>
        </p:txBody>
      </p:sp>
      <p:cxnSp>
        <p:nvCxnSpPr>
          <p:cNvPr id="381" name="Google Shape;381;p24"/>
          <p:cNvCxnSpPr/>
          <p:nvPr/>
        </p:nvCxnSpPr>
        <p:spPr>
          <a:xfrm rot="-5400000">
            <a:off x="2057400" y="3429000"/>
            <a:ext cx="2895600" cy="2286000"/>
          </a:xfrm>
          <a:prstGeom prst="straightConnector1">
            <a:avLst/>
          </a:prstGeom>
          <a:noFill/>
          <a:ln w="9525" cap="flat" cmpd="sng">
            <a:solidFill>
              <a:srgbClr val="AE350A"/>
            </a:solidFill>
            <a:prstDash val="solid"/>
            <a:round/>
            <a:headEnd type="none" w="sm" len="sm"/>
            <a:tailEnd type="stealth"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5"/>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Step 4: Process the results</a:t>
            </a:r>
            <a:endParaRPr/>
          </a:p>
        </p:txBody>
      </p:sp>
      <p:grpSp>
        <p:nvGrpSpPr>
          <p:cNvPr id="387" name="Google Shape;387;p25"/>
          <p:cNvGrpSpPr/>
          <p:nvPr/>
        </p:nvGrpSpPr>
        <p:grpSpPr>
          <a:xfrm>
            <a:off x="228600" y="1143000"/>
            <a:ext cx="8686800" cy="4191000"/>
            <a:chOff x="76200" y="1524000"/>
            <a:chExt cx="8686800" cy="4191000"/>
          </a:xfrm>
        </p:grpSpPr>
        <p:sp>
          <p:nvSpPr>
            <p:cNvPr id="388" name="Google Shape;388;p25"/>
            <p:cNvSpPr/>
            <p:nvPr/>
          </p:nvSpPr>
          <p:spPr>
            <a:xfrm>
              <a:off x="685800" y="5334000"/>
              <a:ext cx="1676400" cy="381000"/>
            </a:xfrm>
            <a:prstGeom prst="rect">
              <a:avLst/>
            </a:prstGeom>
            <a:solidFill>
              <a:srgbClr val="008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Libre Baskerville"/>
                  <a:ea typeface="Libre Baskerville"/>
                  <a:cs typeface="Libre Baskerville"/>
                  <a:sym typeface="Libre Baskerville"/>
                </a:rPr>
                <a:t>ResultSet</a:t>
              </a:r>
              <a:endParaRPr/>
            </a:p>
          </p:txBody>
        </p:sp>
        <p:sp>
          <p:nvSpPr>
            <p:cNvPr id="389" name="Google Shape;389;p25"/>
            <p:cNvSpPr/>
            <p:nvPr/>
          </p:nvSpPr>
          <p:spPr>
            <a:xfrm>
              <a:off x="457200" y="47244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EOF</a:t>
              </a:r>
              <a:endParaRPr/>
            </a:p>
          </p:txBody>
        </p:sp>
        <p:sp>
          <p:nvSpPr>
            <p:cNvPr id="390" name="Google Shape;390;p25"/>
            <p:cNvSpPr/>
            <p:nvPr/>
          </p:nvSpPr>
          <p:spPr>
            <a:xfrm>
              <a:off x="457200" y="42672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a:t>
              </a:r>
              <a:endParaRPr/>
            </a:p>
          </p:txBody>
        </p:sp>
        <p:sp>
          <p:nvSpPr>
            <p:cNvPr id="391" name="Google Shape;391;p25"/>
            <p:cNvSpPr/>
            <p:nvPr/>
          </p:nvSpPr>
          <p:spPr>
            <a:xfrm>
              <a:off x="457200" y="15240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BOF</a:t>
              </a:r>
              <a:endParaRPr/>
            </a:p>
          </p:txBody>
        </p:sp>
        <p:sp>
          <p:nvSpPr>
            <p:cNvPr id="392" name="Google Shape;392;p25"/>
            <p:cNvSpPr/>
            <p:nvPr/>
          </p:nvSpPr>
          <p:spPr>
            <a:xfrm>
              <a:off x="457200" y="19812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Record 1</a:t>
              </a:r>
              <a:endParaRPr/>
            </a:p>
          </p:txBody>
        </p:sp>
        <p:sp>
          <p:nvSpPr>
            <p:cNvPr id="393" name="Google Shape;393;p25"/>
            <p:cNvSpPr/>
            <p:nvPr/>
          </p:nvSpPr>
          <p:spPr>
            <a:xfrm>
              <a:off x="457200" y="24384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Record 2</a:t>
              </a:r>
              <a:endParaRPr/>
            </a:p>
          </p:txBody>
        </p:sp>
        <p:sp>
          <p:nvSpPr>
            <p:cNvPr id="394" name="Google Shape;394;p25"/>
            <p:cNvSpPr/>
            <p:nvPr/>
          </p:nvSpPr>
          <p:spPr>
            <a:xfrm>
              <a:off x="457200" y="28956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Record 3</a:t>
              </a:r>
              <a:endParaRPr/>
            </a:p>
          </p:txBody>
        </p:sp>
        <p:sp>
          <p:nvSpPr>
            <p:cNvPr id="395" name="Google Shape;395;p25"/>
            <p:cNvSpPr/>
            <p:nvPr/>
          </p:nvSpPr>
          <p:spPr>
            <a:xfrm>
              <a:off x="457200" y="33528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a:t>
              </a:r>
              <a:endParaRPr/>
            </a:p>
          </p:txBody>
        </p:sp>
        <p:sp>
          <p:nvSpPr>
            <p:cNvPr id="396" name="Google Shape;396;p25"/>
            <p:cNvSpPr/>
            <p:nvPr/>
          </p:nvSpPr>
          <p:spPr>
            <a:xfrm>
              <a:off x="457200" y="3810000"/>
              <a:ext cx="1981200" cy="4572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a:t>
              </a:r>
              <a:endParaRPr/>
            </a:p>
          </p:txBody>
        </p:sp>
        <p:cxnSp>
          <p:nvCxnSpPr>
            <p:cNvPr id="397" name="Google Shape;397;p25"/>
            <p:cNvCxnSpPr/>
            <p:nvPr/>
          </p:nvCxnSpPr>
          <p:spPr>
            <a:xfrm>
              <a:off x="76200" y="1751013"/>
              <a:ext cx="381000" cy="1587"/>
            </a:xfrm>
            <a:prstGeom prst="straightConnector1">
              <a:avLst/>
            </a:prstGeom>
            <a:noFill/>
            <a:ln w="25400" cap="flat" cmpd="sng">
              <a:solidFill>
                <a:srgbClr val="FF0000"/>
              </a:solidFill>
              <a:prstDash val="solid"/>
              <a:round/>
              <a:headEnd type="none" w="sm" len="sm"/>
              <a:tailEnd type="stealth" w="med" len="med"/>
            </a:ln>
          </p:spPr>
        </p:cxnSp>
        <p:sp>
          <p:nvSpPr>
            <p:cNvPr id="398" name="Google Shape;398;p25"/>
            <p:cNvSpPr/>
            <p:nvPr/>
          </p:nvSpPr>
          <p:spPr>
            <a:xfrm>
              <a:off x="2667000" y="1524000"/>
              <a:ext cx="6096000" cy="1066800"/>
            </a:xfrm>
            <a:prstGeom prst="rect">
              <a:avLst/>
            </a:prstGeom>
            <a:solidFill>
              <a:srgbClr val="FFFF99"/>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FF0000"/>
                  </a:solidFill>
                  <a:latin typeface="Libre Baskerville"/>
                  <a:ea typeface="Libre Baskerville"/>
                  <a:cs typeface="Libre Baskerville"/>
                  <a:sym typeface="Libre Baskerville"/>
                </a:rPr>
                <a:t>Move the current row:</a:t>
              </a:r>
              <a:endParaRPr sz="2000">
                <a:solidFill>
                  <a:srgbClr val="FF0000"/>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US" sz="2000" b="1">
                  <a:solidFill>
                    <a:srgbClr val="0000CC"/>
                  </a:solidFill>
                  <a:latin typeface="Libre Baskerville"/>
                  <a:ea typeface="Libre Baskerville"/>
                  <a:cs typeface="Libre Baskerville"/>
                  <a:sym typeface="Libre Baskerville"/>
                </a:rPr>
                <a:t>boolean  next(), previous(), first(), last()</a:t>
              </a:r>
              <a:endParaRPr/>
            </a:p>
            <a:p>
              <a:pPr marL="0" marR="0" lvl="0" indent="0" algn="l" rtl="0">
                <a:spcBef>
                  <a:spcPts val="0"/>
                </a:spcBef>
                <a:spcAft>
                  <a:spcPts val="0"/>
                </a:spcAft>
                <a:buNone/>
              </a:pPr>
              <a:r>
                <a:rPr lang="en-US" sz="2000" b="1">
                  <a:solidFill>
                    <a:srgbClr val="FF0000"/>
                  </a:solidFill>
                  <a:latin typeface="Libre Baskerville"/>
                  <a:ea typeface="Libre Baskerville"/>
                  <a:cs typeface="Libre Baskerville"/>
                  <a:sym typeface="Libre Baskerville"/>
                </a:rPr>
                <a:t>Default: Result set moves forward only.</a:t>
              </a:r>
              <a:endParaRPr/>
            </a:p>
          </p:txBody>
        </p:sp>
        <p:sp>
          <p:nvSpPr>
            <p:cNvPr id="399" name="Google Shape;399;p25"/>
            <p:cNvSpPr/>
            <p:nvPr/>
          </p:nvSpPr>
          <p:spPr>
            <a:xfrm>
              <a:off x="2667000" y="2743200"/>
              <a:ext cx="6096000" cy="1295400"/>
            </a:xfrm>
            <a:prstGeom prst="rect">
              <a:avLst/>
            </a:prstGeom>
            <a:solidFill>
              <a:srgbClr val="FFFF99"/>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FF0000"/>
                  </a:solidFill>
                  <a:latin typeface="Libre Baskerville"/>
                  <a:ea typeface="Libre Baskerville"/>
                  <a:cs typeface="Libre Baskerville"/>
                  <a:sym typeface="Libre Baskerville"/>
                </a:rPr>
                <a:t>Get data in columns of  the current  row:</a:t>
              </a:r>
              <a:endParaRPr/>
            </a:p>
            <a:p>
              <a:pPr marL="0" marR="0" lvl="0" indent="0" algn="l" rtl="0">
                <a:spcBef>
                  <a:spcPts val="0"/>
                </a:spcBef>
                <a:spcAft>
                  <a:spcPts val="0"/>
                </a:spcAft>
                <a:buNone/>
              </a:pPr>
              <a:r>
                <a:rPr lang="en-US" sz="2000" b="1">
                  <a:solidFill>
                    <a:srgbClr val="0000CC"/>
                  </a:solidFill>
                  <a:latin typeface="Libre Baskerville"/>
                  <a:ea typeface="Libre Baskerville"/>
                  <a:cs typeface="Libre Baskerville"/>
                  <a:sym typeface="Libre Baskerville"/>
                </a:rPr>
                <a:t>TYPE   getTYPE ( int columnIndex) </a:t>
              </a:r>
              <a:r>
                <a:rPr lang="en-US" sz="1600" b="1">
                  <a:solidFill>
                    <a:srgbClr val="FF0000"/>
                  </a:solidFill>
                  <a:latin typeface="Libre Baskerville"/>
                  <a:ea typeface="Libre Baskerville"/>
                  <a:cs typeface="Libre Baskerville"/>
                  <a:sym typeface="Libre Baskerville"/>
                </a:rPr>
                <a:t>// begin from 1</a:t>
              </a:r>
              <a:endParaRPr/>
            </a:p>
            <a:p>
              <a:pPr marL="0" marR="0" lvl="0" indent="0" algn="l" rtl="0">
                <a:spcBef>
                  <a:spcPts val="0"/>
                </a:spcBef>
                <a:spcAft>
                  <a:spcPts val="0"/>
                </a:spcAft>
                <a:buNone/>
              </a:pPr>
              <a:r>
                <a:rPr lang="en-US" sz="2000" b="1">
                  <a:solidFill>
                    <a:srgbClr val="0000CC"/>
                  </a:solidFill>
                  <a:latin typeface="Libre Baskerville"/>
                  <a:ea typeface="Libre Baskerville"/>
                  <a:cs typeface="Libre Baskerville"/>
                  <a:sym typeface="Libre Baskerville"/>
                </a:rPr>
                <a:t>TYPE   getTYPE ( String columnLabel)</a:t>
              </a:r>
              <a:endParaRPr/>
            </a:p>
          </p:txBody>
        </p:sp>
        <p:sp>
          <p:nvSpPr>
            <p:cNvPr id="400" name="Google Shape;400;p25"/>
            <p:cNvSpPr/>
            <p:nvPr/>
          </p:nvSpPr>
          <p:spPr>
            <a:xfrm>
              <a:off x="2667000" y="4191000"/>
              <a:ext cx="6096000" cy="1219200"/>
            </a:xfrm>
            <a:prstGeom prst="rect">
              <a:avLst/>
            </a:prstGeom>
            <a:solidFill>
              <a:srgbClr val="FFFF99"/>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SELECT  desc AS description FROM T_employee</a:t>
              </a:r>
              <a:endParaRPr/>
            </a:p>
            <a:p>
              <a:pPr marL="0" marR="0" lvl="0" indent="-152400" algn="l" rtl="0">
                <a:spcBef>
                  <a:spcPts val="0"/>
                </a:spcBef>
                <a:spcAft>
                  <a:spcPts val="0"/>
                </a:spcAft>
                <a:buClr>
                  <a:srgbClr val="0000CC"/>
                </a:buClr>
                <a:buSzPts val="2400"/>
                <a:buFont typeface="Noto Sans Symbols"/>
                <a:buChar char="🡺"/>
              </a:pPr>
              <a:r>
                <a:rPr lang="en-US" sz="2400" b="1">
                  <a:solidFill>
                    <a:srgbClr val="0000CC"/>
                  </a:solidFill>
                  <a:latin typeface="Libre Baskerville"/>
                  <a:ea typeface="Libre Baskerville"/>
                  <a:cs typeface="Libre Baskerville"/>
                  <a:sym typeface="Libre Baskerville"/>
                </a:rPr>
                <a:t>Column name: desc</a:t>
              </a:r>
              <a:endParaRPr/>
            </a:p>
            <a:p>
              <a:pPr marL="0" marR="0" lvl="0" indent="-152400" algn="l" rtl="0">
                <a:spcBef>
                  <a:spcPts val="0"/>
                </a:spcBef>
                <a:spcAft>
                  <a:spcPts val="0"/>
                </a:spcAft>
                <a:buClr>
                  <a:srgbClr val="0000CC"/>
                </a:buClr>
                <a:buSzPts val="2400"/>
                <a:buFont typeface="Noto Sans Symbols"/>
                <a:buChar char="🡺"/>
              </a:pPr>
              <a:r>
                <a:rPr lang="en-US" sz="2400" b="1">
                  <a:solidFill>
                    <a:srgbClr val="0000CC"/>
                  </a:solidFill>
                  <a:latin typeface="Libre Baskerville"/>
                  <a:ea typeface="Libre Baskerville"/>
                  <a:cs typeface="Libre Baskerville"/>
                  <a:sym typeface="Libre Baskerville"/>
                </a:rPr>
                <a:t>Column Label: description</a:t>
              </a:r>
              <a:endParaRPr sz="2400" b="1">
                <a:solidFill>
                  <a:srgbClr val="0000CC"/>
                </a:solidFill>
                <a:latin typeface="Libre Baskerville"/>
                <a:ea typeface="Libre Baskerville"/>
                <a:cs typeface="Libre Baskerville"/>
                <a:sym typeface="Libre Baskerville"/>
              </a:endParaRPr>
            </a:p>
          </p:txBody>
        </p:sp>
      </p:grpSp>
      <p:sp>
        <p:nvSpPr>
          <p:cNvPr id="401" name="Google Shape;401;p25"/>
          <p:cNvSpPr/>
          <p:nvPr/>
        </p:nvSpPr>
        <p:spPr>
          <a:xfrm>
            <a:off x="914400" y="5562600"/>
            <a:ext cx="8001000" cy="914400"/>
          </a:xfrm>
          <a:prstGeom prst="rect">
            <a:avLst/>
          </a:prstGeom>
          <a:solidFill>
            <a:srgbClr val="0000FF"/>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a:solidFill>
                  <a:schemeClr val="lt1"/>
                </a:solidFill>
                <a:latin typeface="Libre Baskerville"/>
                <a:ea typeface="Libre Baskerville"/>
                <a:cs typeface="Libre Baskerville"/>
                <a:sym typeface="Libre Baskerville"/>
              </a:rPr>
              <a:t>At a time, resultset maintains a current position. When the resultset is initialized, the position is the BOF position. An exception is thrown when the current position is  out of its scope.</a:t>
            </a:r>
            <a:endParaRPr sz="2000">
              <a:solidFill>
                <a:schemeClr val="lt1"/>
              </a:solidFill>
              <a:latin typeface="Libre Baskerville"/>
              <a:ea typeface="Libre Baskerville"/>
              <a:cs typeface="Libre Baskerville"/>
              <a:sym typeface="Libre Baskerville"/>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6"/>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Step 5: Close the connection</a:t>
            </a:r>
            <a:endParaRPr/>
          </a:p>
        </p:txBody>
      </p:sp>
      <p:sp>
        <p:nvSpPr>
          <p:cNvPr id="407" name="Google Shape;407;p26"/>
          <p:cNvSpPr/>
          <p:nvPr/>
        </p:nvSpPr>
        <p:spPr>
          <a:xfrm>
            <a:off x="152400" y="990600"/>
            <a:ext cx="1828800" cy="5334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Opening Order:</a:t>
            </a:r>
            <a:endParaRPr/>
          </a:p>
        </p:txBody>
      </p:sp>
      <p:sp>
        <p:nvSpPr>
          <p:cNvPr id="408" name="Google Shape;408;p26"/>
          <p:cNvSpPr/>
          <p:nvPr/>
        </p:nvSpPr>
        <p:spPr>
          <a:xfrm>
            <a:off x="152400" y="1752600"/>
            <a:ext cx="1828800" cy="533400"/>
          </a:xfrm>
          <a:prstGeom prst="rect">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ibre Baskerville"/>
                <a:ea typeface="Libre Baskerville"/>
                <a:cs typeface="Libre Baskerville"/>
                <a:sym typeface="Libre Baskerville"/>
              </a:rPr>
              <a:t>Closing Order:</a:t>
            </a:r>
            <a:endParaRPr/>
          </a:p>
        </p:txBody>
      </p:sp>
      <p:sp>
        <p:nvSpPr>
          <p:cNvPr id="409" name="Google Shape;409;p26"/>
          <p:cNvSpPr/>
          <p:nvPr/>
        </p:nvSpPr>
        <p:spPr>
          <a:xfrm>
            <a:off x="2438400" y="990600"/>
            <a:ext cx="1828800" cy="533400"/>
          </a:xfrm>
          <a:prstGeom prst="rect">
            <a:avLst/>
          </a:prstGeom>
          <a:solidFill>
            <a:srgbClr val="99FFCC"/>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Libre Baskerville"/>
                <a:ea typeface="Libre Baskerville"/>
                <a:cs typeface="Libre Baskerville"/>
                <a:sym typeface="Libre Baskerville"/>
              </a:rPr>
              <a:t>Connection</a:t>
            </a:r>
            <a:endParaRPr/>
          </a:p>
        </p:txBody>
      </p:sp>
      <p:sp>
        <p:nvSpPr>
          <p:cNvPr id="410" name="Google Shape;410;p26"/>
          <p:cNvSpPr/>
          <p:nvPr/>
        </p:nvSpPr>
        <p:spPr>
          <a:xfrm>
            <a:off x="4724400" y="990600"/>
            <a:ext cx="1828800" cy="533400"/>
          </a:xfrm>
          <a:prstGeom prst="rect">
            <a:avLst/>
          </a:prstGeom>
          <a:solidFill>
            <a:srgbClr val="99FFCC"/>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Libre Baskerville"/>
                <a:ea typeface="Libre Baskerville"/>
                <a:cs typeface="Libre Baskerville"/>
                <a:sym typeface="Libre Baskerville"/>
              </a:rPr>
              <a:t>Statement</a:t>
            </a:r>
            <a:endParaRPr/>
          </a:p>
        </p:txBody>
      </p:sp>
      <p:sp>
        <p:nvSpPr>
          <p:cNvPr id="411" name="Google Shape;411;p26"/>
          <p:cNvSpPr/>
          <p:nvPr/>
        </p:nvSpPr>
        <p:spPr>
          <a:xfrm>
            <a:off x="7010400" y="990600"/>
            <a:ext cx="1828800" cy="533400"/>
          </a:xfrm>
          <a:prstGeom prst="rect">
            <a:avLst/>
          </a:prstGeom>
          <a:solidFill>
            <a:srgbClr val="99FFCC"/>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Libre Baskerville"/>
                <a:ea typeface="Libre Baskerville"/>
                <a:cs typeface="Libre Baskerville"/>
                <a:sym typeface="Libre Baskerville"/>
              </a:rPr>
              <a:t>ResultSet</a:t>
            </a:r>
            <a:endParaRPr/>
          </a:p>
        </p:txBody>
      </p:sp>
      <p:cxnSp>
        <p:nvCxnSpPr>
          <p:cNvPr id="412" name="Google Shape;412;p26"/>
          <p:cNvCxnSpPr>
            <a:stCxn id="409" idx="3"/>
            <a:endCxn id="410" idx="1"/>
          </p:cNvCxnSpPr>
          <p:nvPr/>
        </p:nvCxnSpPr>
        <p:spPr>
          <a:xfrm>
            <a:off x="4267200" y="1257300"/>
            <a:ext cx="457200" cy="0"/>
          </a:xfrm>
          <a:prstGeom prst="straightConnector1">
            <a:avLst/>
          </a:prstGeom>
          <a:noFill/>
          <a:ln w="25400" cap="flat" cmpd="sng">
            <a:solidFill>
              <a:srgbClr val="AE350A"/>
            </a:solidFill>
            <a:prstDash val="solid"/>
            <a:round/>
            <a:headEnd type="none" w="sm" len="sm"/>
            <a:tailEnd type="stealth" w="med" len="med"/>
          </a:ln>
        </p:spPr>
      </p:cxnSp>
      <p:cxnSp>
        <p:nvCxnSpPr>
          <p:cNvPr id="413" name="Google Shape;413;p26"/>
          <p:cNvCxnSpPr/>
          <p:nvPr/>
        </p:nvCxnSpPr>
        <p:spPr>
          <a:xfrm>
            <a:off x="6553200" y="1219200"/>
            <a:ext cx="457200" cy="1588"/>
          </a:xfrm>
          <a:prstGeom prst="straightConnector1">
            <a:avLst/>
          </a:prstGeom>
          <a:noFill/>
          <a:ln w="25400" cap="flat" cmpd="sng">
            <a:solidFill>
              <a:srgbClr val="AE350A"/>
            </a:solidFill>
            <a:prstDash val="solid"/>
            <a:round/>
            <a:headEnd type="none" w="sm" len="sm"/>
            <a:tailEnd type="stealth" w="med" len="med"/>
          </a:ln>
        </p:spPr>
      </p:cxnSp>
      <p:sp>
        <p:nvSpPr>
          <p:cNvPr id="414" name="Google Shape;414;p26"/>
          <p:cNvSpPr/>
          <p:nvPr/>
        </p:nvSpPr>
        <p:spPr>
          <a:xfrm>
            <a:off x="2438400" y="1752600"/>
            <a:ext cx="1828800" cy="533400"/>
          </a:xfrm>
          <a:prstGeom prst="rect">
            <a:avLst/>
          </a:prstGeom>
          <a:solidFill>
            <a:srgbClr val="99FFCC"/>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Libre Baskerville"/>
                <a:ea typeface="Libre Baskerville"/>
                <a:cs typeface="Libre Baskerville"/>
                <a:sym typeface="Libre Baskerville"/>
              </a:rPr>
              <a:t>ResultSet</a:t>
            </a:r>
            <a:endParaRPr/>
          </a:p>
        </p:txBody>
      </p:sp>
      <p:sp>
        <p:nvSpPr>
          <p:cNvPr id="415" name="Google Shape;415;p26"/>
          <p:cNvSpPr/>
          <p:nvPr/>
        </p:nvSpPr>
        <p:spPr>
          <a:xfrm>
            <a:off x="4724400" y="1752600"/>
            <a:ext cx="1828800" cy="533400"/>
          </a:xfrm>
          <a:prstGeom prst="rect">
            <a:avLst/>
          </a:prstGeom>
          <a:solidFill>
            <a:srgbClr val="99FFCC"/>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Libre Baskerville"/>
                <a:ea typeface="Libre Baskerville"/>
                <a:cs typeface="Libre Baskerville"/>
                <a:sym typeface="Libre Baskerville"/>
              </a:rPr>
              <a:t>Statement</a:t>
            </a:r>
            <a:endParaRPr/>
          </a:p>
        </p:txBody>
      </p:sp>
      <p:sp>
        <p:nvSpPr>
          <p:cNvPr id="416" name="Google Shape;416;p26"/>
          <p:cNvSpPr/>
          <p:nvPr/>
        </p:nvSpPr>
        <p:spPr>
          <a:xfrm>
            <a:off x="7010400" y="1752600"/>
            <a:ext cx="1828800" cy="533400"/>
          </a:xfrm>
          <a:prstGeom prst="rect">
            <a:avLst/>
          </a:prstGeom>
          <a:solidFill>
            <a:srgbClr val="99FFCC"/>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FF0000"/>
                </a:solidFill>
                <a:latin typeface="Libre Baskerville"/>
                <a:ea typeface="Libre Baskerville"/>
                <a:cs typeface="Libre Baskerville"/>
                <a:sym typeface="Libre Baskerville"/>
              </a:rPr>
              <a:t>Connection</a:t>
            </a:r>
            <a:endParaRPr/>
          </a:p>
        </p:txBody>
      </p:sp>
      <p:cxnSp>
        <p:nvCxnSpPr>
          <p:cNvPr id="417" name="Google Shape;417;p26"/>
          <p:cNvCxnSpPr>
            <a:stCxn id="414" idx="3"/>
            <a:endCxn id="415" idx="1"/>
          </p:cNvCxnSpPr>
          <p:nvPr/>
        </p:nvCxnSpPr>
        <p:spPr>
          <a:xfrm>
            <a:off x="4267200" y="2019300"/>
            <a:ext cx="457200" cy="0"/>
          </a:xfrm>
          <a:prstGeom prst="straightConnector1">
            <a:avLst/>
          </a:prstGeom>
          <a:noFill/>
          <a:ln w="25400" cap="flat" cmpd="sng">
            <a:solidFill>
              <a:srgbClr val="AE350A"/>
            </a:solidFill>
            <a:prstDash val="solid"/>
            <a:round/>
            <a:headEnd type="none" w="sm" len="sm"/>
            <a:tailEnd type="stealth" w="med" len="med"/>
          </a:ln>
        </p:spPr>
      </p:cxnSp>
      <p:cxnSp>
        <p:nvCxnSpPr>
          <p:cNvPr id="418" name="Google Shape;418;p26"/>
          <p:cNvCxnSpPr/>
          <p:nvPr/>
        </p:nvCxnSpPr>
        <p:spPr>
          <a:xfrm>
            <a:off x="6553200" y="1981200"/>
            <a:ext cx="457200" cy="1588"/>
          </a:xfrm>
          <a:prstGeom prst="straightConnector1">
            <a:avLst/>
          </a:prstGeom>
          <a:noFill/>
          <a:ln w="25400" cap="flat" cmpd="sng">
            <a:solidFill>
              <a:srgbClr val="AE350A"/>
            </a:solidFill>
            <a:prstDash val="solid"/>
            <a:round/>
            <a:headEnd type="none" w="sm" len="sm"/>
            <a:tailEnd type="stealth" w="med" len="med"/>
          </a:ln>
        </p:spPr>
      </p:cxnSp>
      <p:sp>
        <p:nvSpPr>
          <p:cNvPr id="419" name="Google Shape;419;p26"/>
          <p:cNvSpPr/>
          <p:nvPr/>
        </p:nvSpPr>
        <p:spPr>
          <a:xfrm>
            <a:off x="381000" y="2667000"/>
            <a:ext cx="8458200" cy="3505200"/>
          </a:xfrm>
          <a:prstGeom prst="rect">
            <a:avLst/>
          </a:prstGeom>
          <a:solidFill>
            <a:srgbClr val="00000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a:solidFill>
                  <a:schemeClr val="lt1"/>
                </a:solidFill>
                <a:latin typeface="Libre Baskerville"/>
                <a:ea typeface="Libre Baskerville"/>
                <a:cs typeface="Libre Baskerville"/>
                <a:sym typeface="Libre Baskerville"/>
              </a:rPr>
              <a:t>Attention!!!</a:t>
            </a:r>
            <a:endParaRPr/>
          </a:p>
          <a:p>
            <a:pPr marL="0" marR="0" lvl="0" indent="0" algn="l" rtl="0">
              <a:spcBef>
                <a:spcPts val="0"/>
              </a:spcBef>
              <a:spcAft>
                <a:spcPts val="0"/>
              </a:spcAft>
              <a:buNone/>
            </a:pPr>
            <a:r>
              <a:rPr lang="en-US" sz="2000">
                <a:solidFill>
                  <a:schemeClr val="lt1"/>
                </a:solidFill>
                <a:latin typeface="Libre Baskerville"/>
                <a:ea typeface="Libre Baskerville"/>
                <a:cs typeface="Libre Baskerville"/>
                <a:sym typeface="Libre Baskerville"/>
              </a:rPr>
              <a:t>At a time, a connection can be bound with ONLY ONE result set.</a:t>
            </a:r>
            <a:endParaRPr/>
          </a:p>
          <a:p>
            <a:pPr marL="0" marR="0" lvl="0" indent="0" algn="l" rtl="0">
              <a:spcBef>
                <a:spcPts val="0"/>
              </a:spcBef>
              <a:spcAft>
                <a:spcPts val="0"/>
              </a:spcAft>
              <a:buNone/>
            </a:pPr>
            <a:r>
              <a:rPr lang="en-US" sz="2000">
                <a:solidFill>
                  <a:schemeClr val="lt1"/>
                </a:solidFill>
                <a:latin typeface="Libre Baskerville"/>
                <a:ea typeface="Libre Baskerville"/>
                <a:cs typeface="Libre Baskerville"/>
                <a:sym typeface="Libre Baskerville"/>
              </a:rPr>
              <a:t>An exception will be thrown if we try binding a connection with another result set.</a:t>
            </a:r>
            <a:endParaRPr/>
          </a:p>
          <a:p>
            <a:pPr marL="0" marR="0" lvl="0" indent="0" algn="l" rtl="0">
              <a:spcBef>
                <a:spcPts val="0"/>
              </a:spcBef>
              <a:spcAft>
                <a:spcPts val="0"/>
              </a:spcAft>
              <a:buNone/>
            </a:pPr>
            <a:r>
              <a:rPr lang="en-US" sz="2000">
                <a:solidFill>
                  <a:srgbClr val="FFFF66"/>
                </a:solidFill>
                <a:latin typeface="Libre Baskerville"/>
                <a:ea typeface="Libre Baskerville"/>
                <a:cs typeface="Libre Baskerville"/>
                <a:sym typeface="Libre Baskerville"/>
              </a:rPr>
              <a:t>EX:</a:t>
            </a:r>
            <a:endParaRPr/>
          </a:p>
          <a:p>
            <a:pPr marL="0" marR="0" lvl="0" indent="0" algn="l" rtl="0">
              <a:spcBef>
                <a:spcPts val="0"/>
              </a:spcBef>
              <a:spcAft>
                <a:spcPts val="0"/>
              </a:spcAft>
              <a:buNone/>
            </a:pPr>
            <a:r>
              <a:rPr lang="en-US" sz="2000">
                <a:solidFill>
                  <a:srgbClr val="FFFF66"/>
                </a:solidFill>
                <a:latin typeface="Libre Baskerville"/>
                <a:ea typeface="Libre Baskerville"/>
                <a:cs typeface="Libre Baskerville"/>
                <a:sym typeface="Libre Baskerville"/>
              </a:rPr>
              <a:t>String sql1 =“SELECT…”;</a:t>
            </a:r>
            <a:endParaRPr/>
          </a:p>
          <a:p>
            <a:pPr marL="0" marR="0" lvl="0" indent="0" algn="l" rtl="0">
              <a:spcBef>
                <a:spcPts val="0"/>
              </a:spcBef>
              <a:spcAft>
                <a:spcPts val="0"/>
              </a:spcAft>
              <a:buNone/>
            </a:pPr>
            <a:r>
              <a:rPr lang="en-US" sz="2000">
                <a:solidFill>
                  <a:srgbClr val="FFFF66"/>
                </a:solidFill>
                <a:latin typeface="Libre Baskerville"/>
                <a:ea typeface="Libre Baskerville"/>
                <a:cs typeface="Libre Baskerville"/>
                <a:sym typeface="Libre Baskerville"/>
              </a:rPr>
              <a:t>String sql2 =“SELECT…”;</a:t>
            </a:r>
            <a:endParaRPr/>
          </a:p>
          <a:p>
            <a:pPr marL="0" marR="0" lvl="0" indent="0" algn="l" rtl="0">
              <a:spcBef>
                <a:spcPts val="0"/>
              </a:spcBef>
              <a:spcAft>
                <a:spcPts val="0"/>
              </a:spcAft>
              <a:buNone/>
            </a:pPr>
            <a:r>
              <a:rPr lang="en-US" sz="2000">
                <a:solidFill>
                  <a:srgbClr val="FFFF66"/>
                </a:solidFill>
                <a:latin typeface="Libre Baskerville"/>
                <a:ea typeface="Libre Baskerville"/>
                <a:cs typeface="Libre Baskerville"/>
                <a:sym typeface="Libre Baskerville"/>
              </a:rPr>
              <a:t>ResultSet rs1= stmt.executeQuery(sql1);</a:t>
            </a:r>
            <a:endParaRPr/>
          </a:p>
          <a:p>
            <a:pPr marL="0" marR="0" lvl="0" indent="0" algn="l" rtl="0">
              <a:spcBef>
                <a:spcPts val="0"/>
              </a:spcBef>
              <a:spcAft>
                <a:spcPts val="0"/>
              </a:spcAft>
              <a:buNone/>
            </a:pPr>
            <a:r>
              <a:rPr lang="en-US" sz="2000">
                <a:solidFill>
                  <a:srgbClr val="FFFF66"/>
                </a:solidFill>
                <a:latin typeface="Libre Baskerville"/>
                <a:ea typeface="Libre Baskerville"/>
                <a:cs typeface="Libre Baskerville"/>
                <a:sym typeface="Libre Baskerville"/>
              </a:rPr>
              <a:t>ResultSet rs2= stmt.executeQuery(sql2);</a:t>
            </a:r>
            <a:r>
              <a:rPr lang="en-US" sz="2000">
                <a:solidFill>
                  <a:schemeClr val="lt1"/>
                </a:solidFill>
                <a:latin typeface="Libre Baskerville"/>
                <a:ea typeface="Libre Baskerville"/>
                <a:cs typeface="Libre Baskerville"/>
                <a:sym typeface="Libre Baskerville"/>
              </a:rPr>
              <a:t> 🡺 EXCEPTION</a:t>
            </a:r>
            <a:endParaRPr/>
          </a:p>
          <a:p>
            <a:pPr marL="0" marR="0" lvl="0" indent="-127000" algn="l" rtl="0">
              <a:spcBef>
                <a:spcPts val="0"/>
              </a:spcBef>
              <a:spcAft>
                <a:spcPts val="0"/>
              </a:spcAft>
              <a:buClr>
                <a:schemeClr val="dk1"/>
              </a:buClr>
              <a:buSzPts val="2000"/>
              <a:buFont typeface="Noto Sans Symbols"/>
              <a:buChar char="🡺"/>
            </a:pPr>
            <a:r>
              <a:rPr lang="en-US" sz="2000">
                <a:solidFill>
                  <a:schemeClr val="dk1"/>
                </a:solidFill>
                <a:latin typeface="Libre Baskerville"/>
                <a:ea typeface="Libre Baskerville"/>
                <a:cs typeface="Libre Baskerville"/>
                <a:sym typeface="Libre Baskerville"/>
              </a:rPr>
              <a:t>You should close the rs1 before trying get the rs2 result set</a:t>
            </a:r>
            <a:endParaRPr/>
          </a:p>
          <a:p>
            <a:pPr marL="0" marR="0" lvl="0" indent="-127000" algn="l" rtl="0">
              <a:spcBef>
                <a:spcPts val="0"/>
              </a:spcBef>
              <a:spcAft>
                <a:spcPts val="0"/>
              </a:spcAft>
              <a:buClr>
                <a:schemeClr val="lt1"/>
              </a:buClr>
              <a:buSzPts val="2000"/>
              <a:buFont typeface="Noto Sans Symbols"/>
              <a:buChar char="🡺"/>
            </a:pPr>
            <a:r>
              <a:rPr lang="en-US" sz="2000">
                <a:solidFill>
                  <a:schemeClr val="lt1"/>
                </a:solidFill>
                <a:latin typeface="Libre Baskerville"/>
                <a:ea typeface="Libre Baskerville"/>
                <a:cs typeface="Libre Baskerville"/>
                <a:sym typeface="Libre Baskerville"/>
              </a:rPr>
              <a:t>Solution: Transfer data in the rs1 to ArrayList (or Vector) then close rs1 before get new data to rs2.</a:t>
            </a:r>
            <a:endParaRPr sz="2400">
              <a:solidFill>
                <a:schemeClr val="lt1"/>
              </a:solidFill>
              <a:latin typeface="Libre Baskerville"/>
              <a:ea typeface="Libre Baskerville"/>
              <a:cs typeface="Libre Baskerville"/>
              <a:sym typeface="Libre Baskervill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7"/>
          <p:cNvSpPr txBox="1">
            <a:spLocks noGrp="1"/>
          </p:cNvSpPr>
          <p:nvPr>
            <p:ph type="title"/>
          </p:nvPr>
        </p:nvSpPr>
        <p:spPr>
          <a:xfrm>
            <a:off x="990600" y="297180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t>Demonstrations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8"/>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1) Create database</a:t>
            </a:r>
            <a:endParaRPr/>
          </a:p>
        </p:txBody>
      </p:sp>
      <p:sp>
        <p:nvSpPr>
          <p:cNvPr id="430" name="Google Shape;430;p28"/>
          <p:cNvSpPr txBox="1">
            <a:spLocks noGrp="1"/>
          </p:cNvSpPr>
          <p:nvPr>
            <p:ph type="body" idx="1"/>
          </p:nvPr>
        </p:nvSpPr>
        <p:spPr>
          <a:xfrm>
            <a:off x="533400" y="1143000"/>
            <a:ext cx="8229600" cy="1676400"/>
          </a:xfrm>
          <a:prstGeom prst="rect">
            <a:avLst/>
          </a:prstGeom>
          <a:noFill/>
          <a:ln>
            <a:noFill/>
          </a:ln>
        </p:spPr>
        <p:txBody>
          <a:bodyPr spcFirstLastPara="1" wrap="square" lIns="91425" tIns="45700" rIns="91425" bIns="45700" anchor="t" anchorCtr="0">
            <a:normAutofit/>
          </a:bodyPr>
          <a:lstStyle/>
          <a:p>
            <a:pPr marL="548640" lvl="1" indent="-228600" algn="l" rtl="0">
              <a:spcBef>
                <a:spcPts val="0"/>
              </a:spcBef>
              <a:spcAft>
                <a:spcPts val="0"/>
              </a:spcAft>
              <a:buSzPts val="2040"/>
              <a:buChar char="⚫"/>
            </a:pPr>
            <a:r>
              <a:rPr lang="en-US">
                <a:latin typeface="Arial"/>
                <a:ea typeface="Arial"/>
                <a:cs typeface="Arial"/>
                <a:sym typeface="Arial"/>
              </a:rPr>
              <a:t>Use MS SQL Server 2019</a:t>
            </a:r>
            <a:endParaRPr/>
          </a:p>
          <a:p>
            <a:pPr marL="548640" lvl="1" indent="-228600" algn="l" rtl="0">
              <a:spcBef>
                <a:spcPts val="370"/>
              </a:spcBef>
              <a:spcAft>
                <a:spcPts val="0"/>
              </a:spcAft>
              <a:buSzPts val="2040"/>
              <a:buChar char="⚫"/>
            </a:pPr>
            <a:r>
              <a:rPr lang="en-US">
                <a:latin typeface="Arial"/>
                <a:ea typeface="Arial"/>
                <a:cs typeface="Arial"/>
                <a:sym typeface="Arial"/>
              </a:rPr>
              <a:t>Database name: Human </a:t>
            </a:r>
            <a:endParaRPr/>
          </a:p>
          <a:p>
            <a:pPr marL="548640" lvl="1" indent="-228600" algn="l" rtl="0">
              <a:spcBef>
                <a:spcPts val="370"/>
              </a:spcBef>
              <a:spcAft>
                <a:spcPts val="0"/>
              </a:spcAft>
              <a:buSzPts val="2040"/>
              <a:buChar char="⚫"/>
            </a:pPr>
            <a:r>
              <a:rPr lang="en-US">
                <a:latin typeface="Arial"/>
                <a:ea typeface="Arial"/>
                <a:cs typeface="Arial"/>
                <a:sym typeface="Arial"/>
              </a:rPr>
              <a:t>Tables and Relationship:</a:t>
            </a:r>
            <a:endParaRPr/>
          </a:p>
        </p:txBody>
      </p:sp>
      <p:sp>
        <p:nvSpPr>
          <p:cNvPr id="431" name="Google Shape;431;p28"/>
          <p:cNvSpPr/>
          <p:nvPr/>
        </p:nvSpPr>
        <p:spPr>
          <a:xfrm>
            <a:off x="685800" y="5638800"/>
            <a:ext cx="7543800" cy="685800"/>
          </a:xfrm>
          <a:prstGeom prst="rect">
            <a:avLst/>
          </a:prstGeom>
          <a:solidFill>
            <a:srgbClr val="92D050"/>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rgbClr val="0000CC"/>
                </a:solidFill>
                <a:latin typeface="Libre Baskerville"/>
                <a:ea typeface="Libre Baskerville"/>
                <a:cs typeface="Libre Baskerville"/>
                <a:sym typeface="Libre Baskerville"/>
              </a:rPr>
              <a:t>You can download this database file from CMS.</a:t>
            </a:r>
            <a:endParaRPr/>
          </a:p>
        </p:txBody>
      </p:sp>
      <p:pic>
        <p:nvPicPr>
          <p:cNvPr id="432" name="Google Shape;432;p28"/>
          <p:cNvPicPr preferRelativeResize="0"/>
          <p:nvPr/>
        </p:nvPicPr>
        <p:blipFill rotWithShape="1">
          <a:blip r:embed="rId3">
            <a:alphaModFix/>
          </a:blip>
          <a:srcRect/>
          <a:stretch/>
        </p:blipFill>
        <p:spPr>
          <a:xfrm>
            <a:off x="533400" y="2819400"/>
            <a:ext cx="8221816" cy="232403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9"/>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1) Create database…</a:t>
            </a:r>
            <a:endParaRPr/>
          </a:p>
        </p:txBody>
      </p:sp>
      <p:sp>
        <p:nvSpPr>
          <p:cNvPr id="438" name="Google Shape;438;p29"/>
          <p:cNvSpPr txBox="1">
            <a:spLocks noGrp="1"/>
          </p:cNvSpPr>
          <p:nvPr>
            <p:ph type="body" idx="1"/>
          </p:nvPr>
        </p:nvSpPr>
        <p:spPr>
          <a:xfrm>
            <a:off x="152400" y="990600"/>
            <a:ext cx="4724400" cy="45720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85000"/>
              <a:buFont typeface="Arial"/>
              <a:buNone/>
            </a:pPr>
            <a:r>
              <a:rPr lang="en-US" sz="2800">
                <a:latin typeface="Arial"/>
                <a:ea typeface="Arial"/>
                <a:cs typeface="Arial"/>
                <a:sym typeface="Arial"/>
              </a:rPr>
              <a:t>Initial data:</a:t>
            </a:r>
            <a:endParaRPr/>
          </a:p>
        </p:txBody>
      </p:sp>
      <p:pic>
        <p:nvPicPr>
          <p:cNvPr id="439" name="Google Shape;439;p29"/>
          <p:cNvPicPr preferRelativeResize="0"/>
          <p:nvPr/>
        </p:nvPicPr>
        <p:blipFill rotWithShape="1">
          <a:blip r:embed="rId3">
            <a:alphaModFix/>
          </a:blip>
          <a:srcRect/>
          <a:stretch/>
        </p:blipFill>
        <p:spPr>
          <a:xfrm>
            <a:off x="1905000" y="3581400"/>
            <a:ext cx="7041373" cy="2438400"/>
          </a:xfrm>
          <a:prstGeom prst="rect">
            <a:avLst/>
          </a:prstGeom>
          <a:noFill/>
          <a:ln>
            <a:noFill/>
          </a:ln>
        </p:spPr>
      </p:pic>
      <p:pic>
        <p:nvPicPr>
          <p:cNvPr id="440" name="Google Shape;440;p29"/>
          <p:cNvPicPr preferRelativeResize="0"/>
          <p:nvPr/>
        </p:nvPicPr>
        <p:blipFill rotWithShape="1">
          <a:blip r:embed="rId4">
            <a:alphaModFix/>
          </a:blip>
          <a:srcRect/>
          <a:stretch/>
        </p:blipFill>
        <p:spPr>
          <a:xfrm>
            <a:off x="1905000" y="1447800"/>
            <a:ext cx="4114800" cy="187161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0"/>
          <p:cNvSpPr txBox="1">
            <a:spLocks noGrp="1"/>
          </p:cNvSpPr>
          <p:nvPr>
            <p:ph type="title"/>
          </p:nvPr>
        </p:nvSpPr>
        <p:spPr>
          <a:xfrm>
            <a:off x="152400" y="228600"/>
            <a:ext cx="8991600" cy="12192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200"/>
              <a:buFont typeface="Arial"/>
              <a:buNone/>
            </a:pPr>
            <a:r>
              <a:rPr lang="en-US" sz="3200">
                <a:latin typeface="Arial"/>
                <a:ea typeface="Arial"/>
                <a:cs typeface="Arial"/>
                <a:sym typeface="Arial"/>
              </a:rPr>
              <a:t>(Demo 3) Develop the program for managing items using MS Sql Server JDBC</a:t>
            </a:r>
            <a:endParaRPr/>
          </a:p>
        </p:txBody>
      </p:sp>
      <p:sp>
        <p:nvSpPr>
          <p:cNvPr id="446" name="Google Shape;446;p30"/>
          <p:cNvSpPr txBox="1">
            <a:spLocks noGrp="1"/>
          </p:cNvSpPr>
          <p:nvPr>
            <p:ph type="body" idx="1"/>
          </p:nvPr>
        </p:nvSpPr>
        <p:spPr>
          <a:xfrm>
            <a:off x="457200" y="1524000"/>
            <a:ext cx="2438400" cy="533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210"/>
              <a:buChar char="⚫"/>
            </a:pPr>
            <a:r>
              <a:rPr lang="en-US">
                <a:latin typeface="Arial"/>
                <a:ea typeface="Arial"/>
                <a:cs typeface="Arial"/>
                <a:sym typeface="Arial"/>
              </a:rPr>
              <a:t>Database:</a:t>
            </a:r>
            <a:endParaRPr/>
          </a:p>
        </p:txBody>
      </p:sp>
      <p:sp>
        <p:nvSpPr>
          <p:cNvPr id="447" name="Google Shape;447;p30"/>
          <p:cNvSpPr txBox="1"/>
          <p:nvPr/>
        </p:nvSpPr>
        <p:spPr>
          <a:xfrm>
            <a:off x="457200" y="2590800"/>
            <a:ext cx="2438400" cy="533400"/>
          </a:xfrm>
          <a:prstGeom prst="rect">
            <a:avLst/>
          </a:prstGeom>
          <a:noFill/>
          <a:ln>
            <a:noFill/>
          </a:ln>
        </p:spPr>
        <p:txBody>
          <a:bodyPr spcFirstLastPara="1" wrap="square" lIns="91425" tIns="45700" rIns="91425" bIns="45700" anchor="t" anchorCtr="0">
            <a:normAutofit/>
          </a:bodyPr>
          <a:lstStyle/>
          <a:p>
            <a:pPr marL="274320" marR="0" lvl="0" indent="-274320" algn="l" rtl="0">
              <a:lnSpc>
                <a:spcPct val="100000"/>
              </a:lnSpc>
              <a:spcBef>
                <a:spcPts val="0"/>
              </a:spcBef>
              <a:spcAft>
                <a:spcPts val="0"/>
              </a:spcAft>
              <a:buClr>
                <a:schemeClr val="accent1"/>
              </a:buClr>
              <a:buSzPts val="2210"/>
              <a:buFont typeface="Noto Sans Symbols"/>
              <a:buChar char="⚫"/>
            </a:pPr>
            <a:r>
              <a:rPr lang="en-US" sz="2600">
                <a:solidFill>
                  <a:schemeClr val="dk1"/>
                </a:solidFill>
                <a:latin typeface="Arial"/>
                <a:ea typeface="Arial"/>
                <a:cs typeface="Arial"/>
                <a:sym typeface="Arial"/>
              </a:rPr>
              <a:t>Program GUI</a:t>
            </a:r>
            <a:endParaRPr sz="2600" b="0" i="0" u="none" strike="noStrike" cap="none">
              <a:solidFill>
                <a:schemeClr val="dk1"/>
              </a:solidFill>
              <a:latin typeface="Arial"/>
              <a:ea typeface="Arial"/>
              <a:cs typeface="Arial"/>
              <a:sym typeface="Arial"/>
            </a:endParaRPr>
          </a:p>
        </p:txBody>
      </p:sp>
      <p:pic>
        <p:nvPicPr>
          <p:cNvPr id="448" name="Google Shape;448;p30"/>
          <p:cNvPicPr preferRelativeResize="0"/>
          <p:nvPr/>
        </p:nvPicPr>
        <p:blipFill rotWithShape="1">
          <a:blip r:embed="rId3">
            <a:alphaModFix/>
          </a:blip>
          <a:srcRect/>
          <a:stretch/>
        </p:blipFill>
        <p:spPr>
          <a:xfrm>
            <a:off x="2895600" y="1524000"/>
            <a:ext cx="5334000" cy="1507744"/>
          </a:xfrm>
          <a:prstGeom prst="rect">
            <a:avLst/>
          </a:prstGeom>
          <a:noFill/>
          <a:ln>
            <a:noFill/>
          </a:ln>
        </p:spPr>
      </p:pic>
      <p:pic>
        <p:nvPicPr>
          <p:cNvPr id="449" name="Google Shape;449;p30"/>
          <p:cNvPicPr preferRelativeResize="0"/>
          <p:nvPr/>
        </p:nvPicPr>
        <p:blipFill rotWithShape="1">
          <a:blip r:embed="rId4">
            <a:alphaModFix/>
          </a:blip>
          <a:srcRect/>
          <a:stretch/>
        </p:blipFill>
        <p:spPr>
          <a:xfrm>
            <a:off x="838200" y="3124200"/>
            <a:ext cx="6172200" cy="3377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1"/>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sp>
        <p:nvSpPr>
          <p:cNvPr id="455" name="Google Shape;455;p31"/>
          <p:cNvSpPr txBox="1">
            <a:spLocks noGrp="1"/>
          </p:cNvSpPr>
          <p:nvPr>
            <p:ph type="body" idx="1"/>
          </p:nvPr>
        </p:nvSpPr>
        <p:spPr>
          <a:xfrm>
            <a:off x="533400" y="1143000"/>
            <a:ext cx="8229600" cy="533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040"/>
              <a:buChar char="⚫"/>
            </a:pPr>
            <a:r>
              <a:rPr lang="en-US" sz="2400" b="1">
                <a:latin typeface="Arial"/>
                <a:ea typeface="Arial"/>
                <a:cs typeface="Arial"/>
                <a:sym typeface="Arial"/>
              </a:rPr>
              <a:t>Add MS SQL Server JDBC to the NetBeans:</a:t>
            </a:r>
            <a:endParaRPr/>
          </a:p>
        </p:txBody>
      </p:sp>
      <p:cxnSp>
        <p:nvCxnSpPr>
          <p:cNvPr id="456" name="Google Shape;456;p31"/>
          <p:cNvCxnSpPr>
            <a:endCxn id="457" idx="1"/>
          </p:cNvCxnSpPr>
          <p:nvPr/>
        </p:nvCxnSpPr>
        <p:spPr>
          <a:xfrm>
            <a:off x="2285980" y="3581282"/>
            <a:ext cx="1224300" cy="54900"/>
          </a:xfrm>
          <a:prstGeom prst="straightConnector1">
            <a:avLst/>
          </a:prstGeom>
          <a:noFill/>
          <a:ln w="38100" cap="flat" cmpd="sng">
            <a:solidFill>
              <a:srgbClr val="FF0000"/>
            </a:solidFill>
            <a:prstDash val="solid"/>
            <a:round/>
            <a:headEnd type="none" w="sm" len="sm"/>
            <a:tailEnd type="stealth" w="med" len="med"/>
          </a:ln>
        </p:spPr>
      </p:cxnSp>
      <p:cxnSp>
        <p:nvCxnSpPr>
          <p:cNvPr id="458" name="Google Shape;458;p31"/>
          <p:cNvCxnSpPr/>
          <p:nvPr/>
        </p:nvCxnSpPr>
        <p:spPr>
          <a:xfrm>
            <a:off x="5334000" y="3835484"/>
            <a:ext cx="697358" cy="47917"/>
          </a:xfrm>
          <a:prstGeom prst="straightConnector1">
            <a:avLst/>
          </a:prstGeom>
          <a:noFill/>
          <a:ln w="38100" cap="flat" cmpd="sng">
            <a:solidFill>
              <a:srgbClr val="FF0000"/>
            </a:solidFill>
            <a:prstDash val="solid"/>
            <a:round/>
            <a:headEnd type="none" w="sm" len="sm"/>
            <a:tailEnd type="stealth" w="med" len="med"/>
          </a:ln>
        </p:spPr>
      </p:cxnSp>
      <p:pic>
        <p:nvPicPr>
          <p:cNvPr id="459" name="Google Shape;459;p31"/>
          <p:cNvPicPr preferRelativeResize="0"/>
          <p:nvPr/>
        </p:nvPicPr>
        <p:blipFill rotWithShape="1">
          <a:blip r:embed="rId3">
            <a:alphaModFix/>
          </a:blip>
          <a:srcRect/>
          <a:stretch/>
        </p:blipFill>
        <p:spPr>
          <a:xfrm>
            <a:off x="80801" y="2513944"/>
            <a:ext cx="3119599" cy="1619476"/>
          </a:xfrm>
          <a:prstGeom prst="rect">
            <a:avLst/>
          </a:prstGeom>
          <a:noFill/>
          <a:ln>
            <a:noFill/>
          </a:ln>
        </p:spPr>
      </p:pic>
      <p:pic>
        <p:nvPicPr>
          <p:cNvPr id="457" name="Google Shape;457;p31"/>
          <p:cNvPicPr preferRelativeResize="0"/>
          <p:nvPr/>
        </p:nvPicPr>
        <p:blipFill rotWithShape="1">
          <a:blip r:embed="rId4">
            <a:alphaModFix/>
          </a:blip>
          <a:srcRect/>
          <a:stretch/>
        </p:blipFill>
        <p:spPr>
          <a:xfrm>
            <a:off x="3510280" y="3429000"/>
            <a:ext cx="2738120" cy="414363"/>
          </a:xfrm>
          <a:prstGeom prst="rect">
            <a:avLst/>
          </a:prstGeom>
          <a:noFill/>
          <a:ln>
            <a:noFill/>
          </a:ln>
        </p:spPr>
      </p:pic>
      <p:pic>
        <p:nvPicPr>
          <p:cNvPr id="460" name="Google Shape;460;p31"/>
          <p:cNvPicPr preferRelativeResize="0"/>
          <p:nvPr/>
        </p:nvPicPr>
        <p:blipFill rotWithShape="1">
          <a:blip r:embed="rId5">
            <a:alphaModFix/>
          </a:blip>
          <a:srcRect/>
          <a:stretch/>
        </p:blipFill>
        <p:spPr>
          <a:xfrm>
            <a:off x="6031358" y="2513944"/>
            <a:ext cx="2590800" cy="251525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2"/>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pic>
        <p:nvPicPr>
          <p:cNvPr id="466" name="Google Shape;466;p32"/>
          <p:cNvPicPr preferRelativeResize="0"/>
          <p:nvPr/>
        </p:nvPicPr>
        <p:blipFill rotWithShape="1">
          <a:blip r:embed="rId3">
            <a:alphaModFix/>
          </a:blip>
          <a:srcRect/>
          <a:stretch/>
        </p:blipFill>
        <p:spPr>
          <a:xfrm>
            <a:off x="1119097" y="685800"/>
            <a:ext cx="7286805" cy="588988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3"/>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pic>
        <p:nvPicPr>
          <p:cNvPr id="472" name="Google Shape;472;p33"/>
          <p:cNvPicPr preferRelativeResize="0"/>
          <p:nvPr/>
        </p:nvPicPr>
        <p:blipFill rotWithShape="1">
          <a:blip r:embed="rId3">
            <a:alphaModFix/>
          </a:blip>
          <a:srcRect/>
          <a:stretch/>
        </p:blipFill>
        <p:spPr>
          <a:xfrm>
            <a:off x="762000" y="721359"/>
            <a:ext cx="5105400" cy="5961747"/>
          </a:xfrm>
          <a:prstGeom prst="rect">
            <a:avLst/>
          </a:prstGeom>
          <a:noFill/>
          <a:ln>
            <a:noFill/>
          </a:ln>
        </p:spPr>
      </p:pic>
      <p:pic>
        <p:nvPicPr>
          <p:cNvPr id="473" name="Google Shape;473;p33"/>
          <p:cNvPicPr preferRelativeResize="0"/>
          <p:nvPr/>
        </p:nvPicPr>
        <p:blipFill rotWithShape="1">
          <a:blip r:embed="rId4">
            <a:alphaModFix/>
          </a:blip>
          <a:srcRect/>
          <a:stretch/>
        </p:blipFill>
        <p:spPr>
          <a:xfrm>
            <a:off x="5926494" y="2817022"/>
            <a:ext cx="2972058" cy="2406752"/>
          </a:xfrm>
          <a:prstGeom prst="rect">
            <a:avLst/>
          </a:prstGeom>
          <a:noFill/>
          <a:ln>
            <a:noFill/>
          </a:ln>
        </p:spPr>
      </p:pic>
      <p:pic>
        <p:nvPicPr>
          <p:cNvPr id="474" name="Google Shape;474;p33"/>
          <p:cNvPicPr preferRelativeResize="0"/>
          <p:nvPr/>
        </p:nvPicPr>
        <p:blipFill rotWithShape="1">
          <a:blip r:embed="rId5">
            <a:alphaModFix/>
          </a:blip>
          <a:srcRect/>
          <a:stretch/>
        </p:blipFill>
        <p:spPr>
          <a:xfrm>
            <a:off x="5911254" y="914400"/>
            <a:ext cx="3004404" cy="1887382"/>
          </a:xfrm>
          <a:prstGeom prst="rect">
            <a:avLst/>
          </a:prstGeom>
          <a:noFill/>
          <a:ln>
            <a:noFill/>
          </a:ln>
        </p:spPr>
      </p:pic>
      <p:pic>
        <p:nvPicPr>
          <p:cNvPr id="475" name="Google Shape;475;p33"/>
          <p:cNvPicPr preferRelativeResize="0"/>
          <p:nvPr/>
        </p:nvPicPr>
        <p:blipFill rotWithShape="1">
          <a:blip r:embed="rId6">
            <a:alphaModFix/>
          </a:blip>
          <a:srcRect/>
          <a:stretch/>
        </p:blipFill>
        <p:spPr>
          <a:xfrm>
            <a:off x="5868344" y="5943600"/>
            <a:ext cx="1574659" cy="2772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34"/>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pic>
        <p:nvPicPr>
          <p:cNvPr id="481" name="Google Shape;481;p34"/>
          <p:cNvPicPr preferRelativeResize="0"/>
          <p:nvPr/>
        </p:nvPicPr>
        <p:blipFill rotWithShape="1">
          <a:blip r:embed="rId3">
            <a:alphaModFix/>
          </a:blip>
          <a:srcRect/>
          <a:stretch/>
        </p:blipFill>
        <p:spPr>
          <a:xfrm>
            <a:off x="848360" y="762000"/>
            <a:ext cx="7772400" cy="581257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5"/>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pic>
        <p:nvPicPr>
          <p:cNvPr id="487" name="Google Shape;487;p35"/>
          <p:cNvPicPr preferRelativeResize="0"/>
          <p:nvPr/>
        </p:nvPicPr>
        <p:blipFill rotWithShape="1">
          <a:blip r:embed="rId3">
            <a:alphaModFix/>
          </a:blip>
          <a:srcRect/>
          <a:stretch/>
        </p:blipFill>
        <p:spPr>
          <a:xfrm>
            <a:off x="304800" y="990600"/>
            <a:ext cx="8656720" cy="539973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6"/>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pic>
        <p:nvPicPr>
          <p:cNvPr id="493" name="Google Shape;493;p36"/>
          <p:cNvPicPr preferRelativeResize="0"/>
          <p:nvPr/>
        </p:nvPicPr>
        <p:blipFill rotWithShape="1">
          <a:blip r:embed="rId3">
            <a:alphaModFix/>
          </a:blip>
          <a:srcRect/>
          <a:stretch/>
        </p:blipFill>
        <p:spPr>
          <a:xfrm>
            <a:off x="722763" y="1143000"/>
            <a:ext cx="8079474" cy="4876800"/>
          </a:xfrm>
          <a:prstGeom prst="rect">
            <a:avLst/>
          </a:prstGeom>
          <a:noFill/>
          <a:ln>
            <a:noFill/>
          </a:ln>
        </p:spPr>
      </p:pic>
      <p:pic>
        <p:nvPicPr>
          <p:cNvPr id="494" name="Google Shape;494;p36"/>
          <p:cNvPicPr preferRelativeResize="0"/>
          <p:nvPr/>
        </p:nvPicPr>
        <p:blipFill rotWithShape="1">
          <a:blip r:embed="rId4">
            <a:alphaModFix/>
          </a:blip>
          <a:srcRect/>
          <a:stretch/>
        </p:blipFill>
        <p:spPr>
          <a:xfrm>
            <a:off x="5979968" y="2438400"/>
            <a:ext cx="2822269" cy="130314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37"/>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pic>
        <p:nvPicPr>
          <p:cNvPr id="500" name="Google Shape;500;p37"/>
          <p:cNvPicPr preferRelativeResize="0"/>
          <p:nvPr/>
        </p:nvPicPr>
        <p:blipFill rotWithShape="1">
          <a:blip r:embed="rId3">
            <a:alphaModFix/>
          </a:blip>
          <a:srcRect/>
          <a:stretch/>
        </p:blipFill>
        <p:spPr>
          <a:xfrm>
            <a:off x="1196166" y="655320"/>
            <a:ext cx="7132668" cy="608175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38"/>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Demo 3…</a:t>
            </a:r>
            <a:endParaRPr/>
          </a:p>
        </p:txBody>
      </p:sp>
      <p:pic>
        <p:nvPicPr>
          <p:cNvPr id="506" name="Google Shape;506;p38"/>
          <p:cNvPicPr preferRelativeResize="0"/>
          <p:nvPr/>
        </p:nvPicPr>
        <p:blipFill rotWithShape="1">
          <a:blip r:embed="rId3">
            <a:alphaModFix/>
          </a:blip>
          <a:srcRect/>
          <a:stretch/>
        </p:blipFill>
        <p:spPr>
          <a:xfrm>
            <a:off x="-5080" y="914400"/>
            <a:ext cx="9144000" cy="572729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9"/>
          <p:cNvSpPr txBox="1">
            <a:spLocks noGrp="1"/>
          </p:cNvSpPr>
          <p:nvPr>
            <p:ph type="title"/>
          </p:nvPr>
        </p:nvSpPr>
        <p:spPr>
          <a:xfrm>
            <a:off x="914400" y="0"/>
            <a:ext cx="7696200" cy="6858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Summary</a:t>
            </a:r>
            <a:endParaRPr/>
          </a:p>
        </p:txBody>
      </p:sp>
      <p:sp>
        <p:nvSpPr>
          <p:cNvPr id="512" name="Google Shape;512;p39"/>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210"/>
              <a:buChar char="⚫"/>
            </a:pPr>
            <a:r>
              <a:rPr lang="en-US">
                <a:latin typeface="Arial"/>
                <a:ea typeface="Arial"/>
                <a:cs typeface="Arial"/>
                <a:sym typeface="Arial"/>
              </a:rPr>
              <a:t>Introduction to databases</a:t>
            </a:r>
            <a:endParaRPr/>
          </a:p>
          <a:p>
            <a:pPr marL="274320" lvl="0" indent="-274320" algn="l" rtl="0">
              <a:spcBef>
                <a:spcPts val="580"/>
              </a:spcBef>
              <a:spcAft>
                <a:spcPts val="0"/>
              </a:spcAft>
              <a:buSzPts val="2210"/>
              <a:buChar char="⚫"/>
            </a:pPr>
            <a:r>
              <a:rPr lang="en-US">
                <a:latin typeface="Arial"/>
                <a:ea typeface="Arial"/>
                <a:cs typeface="Arial"/>
                <a:sym typeface="Arial"/>
              </a:rPr>
              <a:t>Relational Database Overview</a:t>
            </a:r>
            <a:endParaRPr/>
          </a:p>
          <a:p>
            <a:pPr marL="274320" lvl="0" indent="-274320" algn="l" rtl="0">
              <a:spcBef>
                <a:spcPts val="580"/>
              </a:spcBef>
              <a:spcAft>
                <a:spcPts val="0"/>
              </a:spcAft>
              <a:buSzPts val="2210"/>
              <a:buChar char="⚫"/>
            </a:pPr>
            <a:r>
              <a:rPr lang="en-US">
                <a:latin typeface="Arial"/>
                <a:ea typeface="Arial"/>
                <a:cs typeface="Arial"/>
                <a:sym typeface="Arial"/>
              </a:rPr>
              <a:t>JDBC and JDBC Drivers</a:t>
            </a:r>
            <a:endParaRPr/>
          </a:p>
          <a:p>
            <a:pPr marL="274320" lvl="0" indent="-274320" algn="l" rtl="0">
              <a:spcBef>
                <a:spcPts val="580"/>
              </a:spcBef>
              <a:spcAft>
                <a:spcPts val="0"/>
              </a:spcAft>
              <a:buSzPts val="2210"/>
              <a:buChar char="⚫"/>
            </a:pPr>
            <a:r>
              <a:rPr lang="en-US">
                <a:latin typeface="Arial"/>
                <a:ea typeface="Arial"/>
                <a:cs typeface="Arial"/>
                <a:sym typeface="Arial"/>
              </a:rPr>
              <a:t>Steps to develop a JDBC application.</a:t>
            </a:r>
            <a:endParaRPr/>
          </a:p>
          <a:p>
            <a:pPr marL="274320" lvl="0" indent="-274320" algn="l" rtl="0">
              <a:spcBef>
                <a:spcPts val="580"/>
              </a:spcBef>
              <a:spcAft>
                <a:spcPts val="0"/>
              </a:spcAft>
              <a:buSzPts val="2210"/>
              <a:buChar char="⚫"/>
            </a:pPr>
            <a:r>
              <a:rPr lang="en-US">
                <a:latin typeface="Arial"/>
                <a:ea typeface="Arial"/>
                <a:cs typeface="Arial"/>
                <a:sym typeface="Arial"/>
              </a:rPr>
              <a:t>Demonstrations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0"/>
          <p:cNvSpPr txBox="1">
            <a:spLocks noGrp="1"/>
          </p:cNvSpPr>
          <p:nvPr>
            <p:ph type="title"/>
          </p:nvPr>
        </p:nvSpPr>
        <p:spPr>
          <a:xfrm>
            <a:off x="838200" y="2514600"/>
            <a:ext cx="7010400" cy="914400"/>
          </a:xfrm>
          <a:prstGeom prst="rect">
            <a:avLst/>
          </a:prstGeom>
          <a:noFill/>
          <a:ln>
            <a:noFill/>
          </a:ln>
        </p:spPr>
        <p:txBody>
          <a:bodyPr spcFirstLastPara="1" wrap="square" lIns="91425" tIns="45700" rIns="91425" bIns="91425" anchor="b" anchorCtr="0">
            <a:normAutofit/>
          </a:bodyPr>
          <a:lstStyle/>
          <a:p>
            <a:pPr marL="0" lvl="0" indent="0" algn="r" rtl="0">
              <a:spcBef>
                <a:spcPts val="0"/>
              </a:spcBef>
              <a:spcAft>
                <a:spcPts val="0"/>
              </a:spcAft>
              <a:buClr>
                <a:srgbClr val="0000FF"/>
              </a:buClr>
              <a:buSzPts val="3600"/>
              <a:buFont typeface="Arial"/>
              <a:buNone/>
            </a:pPr>
            <a:r>
              <a:rPr lang="en-US">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1807</Words>
  <Application>Microsoft Office PowerPoint</Application>
  <PresentationFormat>On-screen Show (4:3)</PresentationFormat>
  <Paragraphs>320</Paragraphs>
  <Slides>40</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Calibri</vt:lpstr>
      <vt:lpstr>Tahoma</vt:lpstr>
      <vt:lpstr>Noto Sans Symbols</vt:lpstr>
      <vt:lpstr>Libre Franklin</vt:lpstr>
      <vt:lpstr>Libre Baskerville</vt:lpstr>
      <vt:lpstr>Arial</vt:lpstr>
      <vt:lpstr>Times New Roman</vt:lpstr>
      <vt:lpstr>Equity</vt:lpstr>
      <vt:lpstr>Lecture 05 JDBC Database Access</vt:lpstr>
      <vt:lpstr>Why should you study this lecture?</vt:lpstr>
      <vt:lpstr>Objectives</vt:lpstr>
      <vt:lpstr>Contents</vt:lpstr>
      <vt:lpstr>1- Database and DBMS</vt:lpstr>
      <vt:lpstr>2- Relational Database Overview</vt:lpstr>
      <vt:lpstr>RDBMS:  Structure Query Language (SQL)</vt:lpstr>
      <vt:lpstr>RDBMS:  SQL…</vt:lpstr>
      <vt:lpstr>3-JDBC and JDBC Driver</vt:lpstr>
      <vt:lpstr>JDBC and JDBC Driver…</vt:lpstr>
      <vt:lpstr>JDBC and JDBC Driver…</vt:lpstr>
      <vt:lpstr>JDBC and JDBC Driver…</vt:lpstr>
      <vt:lpstr>Type 1-Driver : JDBC-ODBC Bridge</vt:lpstr>
      <vt:lpstr>Type 1-Driver : JDBC-ODBC…</vt:lpstr>
      <vt:lpstr>Type 2-Driver: Native API</vt:lpstr>
      <vt:lpstr>Type 3-Driver: Network Protocol</vt:lpstr>
      <vt:lpstr>Type 4-Driver: Native Protocol</vt:lpstr>
      <vt:lpstr>Download Type 4 SQL Server JDBC </vt:lpstr>
      <vt:lpstr>Configure Ports, Protocols for SQL Server</vt:lpstr>
      <vt:lpstr>PowerPoint Presentation</vt:lpstr>
      <vt:lpstr>4-Steps to Develop a JDBC Application</vt:lpstr>
      <vt:lpstr>Step 1: Register JDBC Driver Step 2: Establish a connection to DB </vt:lpstr>
      <vt:lpstr>Step 1: Register JDBC Driver Step 2: Establish a connection to DB </vt:lpstr>
      <vt:lpstr>Step 3: Create &amp;Execute a SQL statement</vt:lpstr>
      <vt:lpstr>Step 4: Process the results</vt:lpstr>
      <vt:lpstr>Step 5: Close the connection</vt:lpstr>
      <vt:lpstr>Demonstrations</vt:lpstr>
      <vt:lpstr>(Demo 1) Create database</vt:lpstr>
      <vt:lpstr>(Demo 1) Create database…</vt:lpstr>
      <vt:lpstr>(Demo 3) Develop the program for managing items using MS Sql Server JDBC</vt:lpstr>
      <vt:lpstr>Demo 3…</vt:lpstr>
      <vt:lpstr>Demo 3…</vt:lpstr>
      <vt:lpstr>Demo 3…</vt:lpstr>
      <vt:lpstr>Demo 3…</vt:lpstr>
      <vt:lpstr>Demo 3…</vt:lpstr>
      <vt:lpstr>Demo 3…</vt:lpstr>
      <vt:lpstr>Demo 3…</vt:lpstr>
      <vt:lpstr>Demo 3…</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05 JDBC Database Access</dc:title>
  <dc:creator>USER</dc:creator>
  <cp:lastModifiedBy>chu hung</cp:lastModifiedBy>
  <cp:revision>1</cp:revision>
  <dcterms:created xsi:type="dcterms:W3CDTF">2014-12-30T03:31:12Z</dcterms:created>
  <dcterms:modified xsi:type="dcterms:W3CDTF">2025-04-28T11:40:14Z</dcterms:modified>
</cp:coreProperties>
</file>