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g0cjnU9DliKWGfKmkLZ9s63gwq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4" name="Google Shape;20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Idempotent: An idempotent request is meant to have the same result no</a:t>
            </a:r>
            <a:endParaRPr/>
          </a:p>
          <a:p>
            <a:pPr indent="0" lvl="0" marL="0" rtl="0" algn="l">
              <a:spcBef>
                <a:spcPts val="0"/>
              </a:spcBef>
              <a:spcAft>
                <a:spcPts val="0"/>
              </a:spcAft>
              <a:buSzPts val="1800"/>
              <a:buNone/>
            </a:pPr>
            <a:r>
              <a:rPr lang="en-US"/>
              <a:t>matter how many times it is executed.</a:t>
            </a:r>
            <a:endParaRPr/>
          </a:p>
          <a:p>
            <a:pPr indent="0" lvl="0" marL="0" rtl="0" algn="l">
              <a:spcBef>
                <a:spcPts val="0"/>
              </a:spcBef>
              <a:spcAft>
                <a:spcPts val="0"/>
              </a:spcAft>
              <a:buNone/>
            </a:pPr>
            <a:r>
              <a:t/>
            </a:r>
            <a:endParaRPr/>
          </a:p>
        </p:txBody>
      </p:sp>
      <p:sp>
        <p:nvSpPr>
          <p:cNvPr id="205" name="Google Shape;205;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01" name="Google Shape;40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MINE-Multi-purpose Internet Mail Extensions</a:t>
            </a:r>
            <a:endParaRPr/>
          </a:p>
        </p:txBody>
      </p:sp>
      <p:sp>
        <p:nvSpPr>
          <p:cNvPr id="402" name="Google Shape;402;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5"/>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4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91160" lvl="0" marL="457200" algn="l">
              <a:spcBef>
                <a:spcPts val="640"/>
              </a:spcBef>
              <a:spcAft>
                <a:spcPts val="0"/>
              </a:spcAft>
              <a:buClr>
                <a:srgbClr val="538CD5"/>
              </a:buClr>
              <a:buSzPts val="2560"/>
              <a:buFont typeface="Noto Sans Symbols"/>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vl2pPr>
            <a:lvl3pPr indent="-381000" lvl="2" marL="1371600" algn="l">
              <a:spcBef>
                <a:spcPts val="480"/>
              </a:spcBef>
              <a:spcAft>
                <a:spcPts val="0"/>
              </a:spcAft>
              <a:buClr>
                <a:schemeClr val="dk1"/>
              </a:buClr>
              <a:buSzPts val="2400"/>
              <a:buChar char="•"/>
              <a:defRPr/>
            </a:lvl3pPr>
            <a:lvl4pPr indent="-355600" lvl="3" marL="1828800" algn="l">
              <a:spcBef>
                <a:spcPts val="400"/>
              </a:spcBef>
              <a:spcAft>
                <a:spcPts val="0"/>
              </a:spcAft>
              <a:buClr>
                <a:schemeClr val="dk1"/>
              </a:buClr>
              <a:buSzPts val="2000"/>
              <a:buChar char="–"/>
              <a:defRPr/>
            </a:lvl4pPr>
            <a:lvl5pPr indent="-355600" lvl="4" marL="2286000" algn="l">
              <a:spcBef>
                <a:spcPts val="400"/>
              </a:spcBef>
              <a:spcAft>
                <a:spcPts val="0"/>
              </a:spcAft>
              <a:buClr>
                <a:schemeClr val="dk1"/>
              </a:buClr>
              <a:buSzPts val="20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8" name="Shape 28"/>
        <p:cNvGrpSpPr/>
        <p:nvPr/>
      </p:nvGrpSpPr>
      <p:grpSpPr>
        <a:xfrm>
          <a:off x="0" y="0"/>
          <a:ext cx="0" cy="0"/>
          <a:chOff x="0" y="0"/>
          <a:chExt cx="0" cy="0"/>
        </a:xfrm>
      </p:grpSpPr>
      <p:sp>
        <p:nvSpPr>
          <p:cNvPr id="29" name="Google Shape;29;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7"/>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4" name="Shape 34"/>
        <p:cNvGrpSpPr/>
        <p:nvPr/>
      </p:nvGrpSpPr>
      <p:grpSpPr>
        <a:xfrm>
          <a:off x="0" y="0"/>
          <a:ext cx="0" cy="0"/>
          <a:chOff x="0" y="0"/>
          <a:chExt cx="0" cy="0"/>
        </a:xfrm>
      </p:grpSpPr>
      <p:sp>
        <p:nvSpPr>
          <p:cNvPr id="35" name="Google Shape;35;p4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4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8"/>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0" name="Shape 40"/>
        <p:cNvGrpSpPr/>
        <p:nvPr/>
      </p:nvGrpSpPr>
      <p:grpSpPr>
        <a:xfrm>
          <a:off x="0" y="0"/>
          <a:ext cx="0" cy="0"/>
          <a:chOff x="0" y="0"/>
          <a:chExt cx="0" cy="0"/>
        </a:xfrm>
      </p:grpSpPr>
      <p:sp>
        <p:nvSpPr>
          <p:cNvPr id="41" name="Google Shape;41;p4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49"/>
          <p:cNvSpPr/>
          <p:nvPr>
            <p:ph idx="2" type="pic"/>
          </p:nvPr>
        </p:nvSpPr>
        <p:spPr>
          <a:xfrm>
            <a:off x="1792288" y="612775"/>
            <a:ext cx="5486400" cy="4114800"/>
          </a:xfrm>
          <a:prstGeom prst="rect">
            <a:avLst/>
          </a:prstGeom>
          <a:noFill/>
          <a:ln>
            <a:noFill/>
          </a:ln>
        </p:spPr>
      </p:sp>
      <p:sp>
        <p:nvSpPr>
          <p:cNvPr id="43" name="Google Shape;43;p4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9"/>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7" name="Shape 47"/>
        <p:cNvGrpSpPr/>
        <p:nvPr/>
      </p:nvGrpSpPr>
      <p:grpSpPr>
        <a:xfrm>
          <a:off x="0" y="0"/>
          <a:ext cx="0" cy="0"/>
          <a:chOff x="0" y="0"/>
          <a:chExt cx="0" cy="0"/>
        </a:xfrm>
      </p:grpSpPr>
      <p:sp>
        <p:nvSpPr>
          <p:cNvPr id="48" name="Google Shape;48;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0" name="Google Shape;50;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1" name="Google Shape;51;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0"/>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1"/>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2"/>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5" name="Google Shape;65;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6" name="Google Shape;66;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7" name="Google Shape;67;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8" name="Google Shape;68;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9" name="Google Shape;69;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3"/>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2" name="Shape 72"/>
        <p:cNvGrpSpPr/>
        <p:nvPr/>
      </p:nvGrpSpPr>
      <p:grpSpPr>
        <a:xfrm>
          <a:off x="0" y="0"/>
          <a:ext cx="0" cy="0"/>
          <a:chOff x="0" y="0"/>
          <a:chExt cx="0" cy="0"/>
        </a:xfrm>
      </p:grpSpPr>
      <p:sp>
        <p:nvSpPr>
          <p:cNvPr id="73" name="Google Shape;73;p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5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5" name="Google Shape;75;p5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6" name="Google Shape;7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4"/>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sp>
        <p:nvSpPr>
          <p:cNvPr id="80" name="Google Shape;80;p5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5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82" name="Google Shape;8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5"/>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4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4"/>
          <p:cNvSpPr txBox="1"/>
          <p:nvPr>
            <p:ph idx="11" type="ftr"/>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/41</a:t>
            </a:r>
            <a:endParaRPr sz="1400">
              <a:solidFill>
                <a:srgbClr val="000000"/>
              </a:solidFill>
            </a:endParaRPr>
          </a:p>
        </p:txBody>
      </p:sp>
      <p:pic>
        <p:nvPicPr>
          <p:cNvPr descr="logo05" id="15" name="Google Shape;15;p44"/>
          <p:cNvPicPr preferRelativeResize="0"/>
          <p:nvPr/>
        </p:nvPicPr>
        <p:blipFill rotWithShape="1">
          <a:blip r:embed="rId1">
            <a:alphaModFix/>
          </a:blip>
          <a:srcRect b="0" l="0" r="0" t="0"/>
          <a:stretch/>
        </p:blipFill>
        <p:spPr>
          <a:xfrm>
            <a:off x="0" y="0"/>
            <a:ext cx="1600200" cy="4762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en.wikipedia.org/wiki/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90" name="Google Shape;90;p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91" name="Google Shape;91;p1"/>
          <p:cNvSpPr txBox="1"/>
          <p:nvPr>
            <p:ph type="ctrTitle"/>
          </p:nvPr>
        </p:nvSpPr>
        <p:spPr>
          <a:xfrm>
            <a:off x="304800" y="1676400"/>
            <a:ext cx="8534400" cy="2438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Arial"/>
              <a:buNone/>
            </a:pPr>
            <a:r>
              <a:rPr b="0" i="0" lang="en-US" sz="4000" u="none">
                <a:solidFill>
                  <a:schemeClr val="dk1"/>
                </a:solidFill>
                <a:latin typeface="Arial"/>
                <a:ea typeface="Arial"/>
                <a:cs typeface="Arial"/>
                <a:sym typeface="Arial"/>
              </a:rPr>
              <a:t>Session 1, Introduction to Basic Java Web Application</a:t>
            </a:r>
            <a:br>
              <a:rPr b="0" i="0" lang="en-US" sz="4000" u="none">
                <a:solidFill>
                  <a:schemeClr val="dk1"/>
                </a:solidFill>
                <a:latin typeface="Arial"/>
                <a:ea typeface="Arial"/>
                <a:cs typeface="Arial"/>
                <a:sym typeface="Arial"/>
              </a:rPr>
            </a:br>
            <a:br>
              <a:rPr b="0" i="0" lang="en-US" sz="4000" u="none">
                <a:solidFill>
                  <a:schemeClr val="dk1"/>
                </a:solidFill>
                <a:latin typeface="Arial"/>
                <a:ea typeface="Arial"/>
                <a:cs typeface="Arial"/>
                <a:sym typeface="Arial"/>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97" name="Google Shape;97;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98" name="Google Shape;98;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Objectives</a:t>
            </a:r>
            <a:endParaRPr/>
          </a:p>
        </p:txBody>
      </p:sp>
      <p:sp>
        <p:nvSpPr>
          <p:cNvPr id="99" name="Google Shape;99;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600"/>
              <a:buNone/>
            </a:pPr>
            <a:r>
              <a:rPr b="1" i="0" lang="en-US" sz="2000" u="none">
                <a:solidFill>
                  <a:schemeClr val="dk1"/>
                </a:solidFill>
                <a:latin typeface="Arial"/>
                <a:ea typeface="Arial"/>
                <a:cs typeface="Arial"/>
                <a:sym typeface="Arial"/>
              </a:rPr>
              <a:t>Introduction to java web application</a:t>
            </a:r>
            <a:endParaRPr/>
          </a:p>
          <a:p>
            <a:pPr indent="-342900" lvl="0" marL="342900" rtl="0" algn="l">
              <a:lnSpc>
                <a:spcPct val="100000"/>
              </a:lnSpc>
              <a:spcBef>
                <a:spcPts val="400"/>
              </a:spcBef>
              <a:spcAft>
                <a:spcPts val="0"/>
              </a:spcAft>
              <a:buSzPts val="1600"/>
              <a:buNone/>
            </a:pPr>
            <a:r>
              <a:rPr b="0" i="0" lang="en-US" sz="2000" u="none">
                <a:solidFill>
                  <a:schemeClr val="dk1"/>
                </a:solidFill>
                <a:latin typeface="Arial"/>
                <a:ea typeface="Arial"/>
                <a:cs typeface="Arial"/>
                <a:sym typeface="Arial"/>
              </a:rPr>
              <a:t>+ The core and basic of Java web server technologies</a:t>
            </a:r>
            <a:endParaRPr/>
          </a:p>
          <a:p>
            <a:pPr indent="-342900" lvl="0" marL="342900" rtl="0" algn="l">
              <a:lnSpc>
                <a:spcPct val="100000"/>
              </a:lnSpc>
              <a:spcBef>
                <a:spcPts val="400"/>
              </a:spcBef>
              <a:spcAft>
                <a:spcPts val="0"/>
              </a:spcAft>
              <a:buSzPts val="1600"/>
              <a:buNone/>
            </a:pPr>
            <a:r>
              <a:rPr b="0" i="0" lang="en-US" sz="2000" u="none">
                <a:solidFill>
                  <a:schemeClr val="dk1"/>
                </a:solidFill>
                <a:latin typeface="Arial"/>
                <a:ea typeface="Arial"/>
                <a:cs typeface="Arial"/>
                <a:sym typeface="Arial"/>
              </a:rPr>
              <a:t>+ Web design vs server technologies</a:t>
            </a:r>
            <a:endParaRPr/>
          </a:p>
          <a:p>
            <a:pPr indent="-342900" lvl="0" marL="342900" rtl="0" algn="l">
              <a:lnSpc>
                <a:spcPct val="100000"/>
              </a:lnSpc>
              <a:spcBef>
                <a:spcPts val="400"/>
              </a:spcBef>
              <a:spcAft>
                <a:spcPts val="0"/>
              </a:spcAft>
              <a:buSzPts val="1600"/>
              <a:buNone/>
            </a:pPr>
            <a:r>
              <a:rPr b="1" i="0" lang="en-US" sz="2000" u="none">
                <a:solidFill>
                  <a:schemeClr val="dk1"/>
                </a:solidFill>
                <a:latin typeface="Arial"/>
                <a:ea typeface="Arial"/>
                <a:cs typeface="Arial"/>
                <a:sym typeface="Arial"/>
              </a:rPr>
              <a:t>Setup Environment :</a:t>
            </a:r>
            <a:endParaRPr/>
          </a:p>
          <a:p>
            <a:pPr indent="-342900" lvl="0" marL="342900" rtl="0" algn="l">
              <a:lnSpc>
                <a:spcPct val="100000"/>
              </a:lnSpc>
              <a:spcBef>
                <a:spcPts val="400"/>
              </a:spcBef>
              <a:spcAft>
                <a:spcPts val="0"/>
              </a:spcAft>
              <a:buSzPts val="1600"/>
              <a:buNone/>
            </a:pPr>
            <a:r>
              <a:rPr b="0" i="0" lang="en-US" sz="2000" u="none">
                <a:solidFill>
                  <a:schemeClr val="dk1"/>
                </a:solidFill>
                <a:latin typeface="Arial"/>
                <a:ea typeface="Arial"/>
                <a:cs typeface="Arial"/>
                <a:sym typeface="Arial"/>
              </a:rPr>
              <a:t>JDK: 1.8 or higher</a:t>
            </a:r>
            <a:endParaRPr/>
          </a:p>
          <a:p>
            <a:pPr indent="-342900" lvl="0" marL="342900" rtl="0" algn="l">
              <a:lnSpc>
                <a:spcPct val="100000"/>
              </a:lnSpc>
              <a:spcBef>
                <a:spcPts val="400"/>
              </a:spcBef>
              <a:spcAft>
                <a:spcPts val="0"/>
              </a:spcAft>
              <a:buSzPts val="1600"/>
              <a:buNone/>
            </a:pPr>
            <a:r>
              <a:rPr b="0" i="0" lang="en-US" sz="2000" u="none">
                <a:solidFill>
                  <a:schemeClr val="dk1"/>
                </a:solidFill>
                <a:latin typeface="Arial"/>
                <a:ea typeface="Arial"/>
                <a:cs typeface="Arial"/>
                <a:sym typeface="Arial"/>
              </a:rPr>
              <a:t>Servlet container: Tomcat 10 or higher</a:t>
            </a:r>
            <a:endParaRPr/>
          </a:p>
          <a:p>
            <a:pPr indent="-342900" lvl="0" marL="342900" rtl="0" algn="l">
              <a:lnSpc>
                <a:spcPct val="100000"/>
              </a:lnSpc>
              <a:spcBef>
                <a:spcPts val="400"/>
              </a:spcBef>
              <a:spcAft>
                <a:spcPts val="0"/>
              </a:spcAft>
              <a:buSzPts val="1600"/>
              <a:buNone/>
            </a:pPr>
            <a:r>
              <a:rPr b="0" i="0" lang="en-US" sz="2000" u="none">
                <a:solidFill>
                  <a:schemeClr val="dk1"/>
                </a:solidFill>
                <a:latin typeface="Arial"/>
                <a:ea typeface="Arial"/>
                <a:cs typeface="Arial"/>
                <a:sym typeface="Arial"/>
              </a:rPr>
              <a:t>Intergrate Netbeans 13 or higher with the web container.</a:t>
            </a:r>
            <a:endParaRPr/>
          </a:p>
          <a:p>
            <a:pPr indent="-342900" lvl="0" marL="342900" rtl="0" algn="l">
              <a:lnSpc>
                <a:spcPct val="100000"/>
              </a:lnSpc>
              <a:spcBef>
                <a:spcPts val="400"/>
              </a:spcBef>
              <a:spcAft>
                <a:spcPts val="0"/>
              </a:spcAft>
              <a:buSzPts val="1600"/>
              <a:buNone/>
            </a:pPr>
            <a:r>
              <a:rPr b="1" i="0" lang="en-US" sz="2000" u="none">
                <a:solidFill>
                  <a:schemeClr val="dk1"/>
                </a:solidFill>
                <a:latin typeface="Arial"/>
                <a:ea typeface="Arial"/>
                <a:cs typeface="Arial"/>
                <a:sym typeface="Arial"/>
              </a:rPr>
              <a:t>Creating/Building the first application:</a:t>
            </a:r>
            <a:endParaRPr/>
          </a:p>
          <a:p>
            <a:pPr indent="-342900" lvl="0" marL="342900" rtl="0" algn="l">
              <a:lnSpc>
                <a:spcPct val="100000"/>
              </a:lnSpc>
              <a:spcBef>
                <a:spcPts val="400"/>
              </a:spcBef>
              <a:spcAft>
                <a:spcPts val="0"/>
              </a:spcAft>
              <a:buSzPts val="1600"/>
              <a:buNone/>
            </a:pPr>
            <a:r>
              <a:rPr b="0" i="0" lang="en-US" sz="2000" u="none">
                <a:solidFill>
                  <a:schemeClr val="dk1"/>
                </a:solidFill>
                <a:latin typeface="Arial"/>
                <a:ea typeface="Arial"/>
                <a:cs typeface="Arial"/>
                <a:sym typeface="Arial"/>
              </a:rPr>
              <a:t>Learn to create Servlet</a:t>
            </a:r>
            <a:endParaRPr/>
          </a:p>
          <a:p>
            <a:pPr indent="-342900" lvl="0" marL="342900" rtl="0" algn="l">
              <a:lnSpc>
                <a:spcPct val="100000"/>
              </a:lnSpc>
              <a:spcBef>
                <a:spcPts val="400"/>
              </a:spcBef>
              <a:spcAft>
                <a:spcPts val="0"/>
              </a:spcAft>
              <a:buSzPts val="1600"/>
              <a:buNone/>
            </a:pPr>
            <a:r>
              <a:rPr b="0" i="0" lang="en-US" sz="2000" u="none">
                <a:solidFill>
                  <a:schemeClr val="dk1"/>
                </a:solidFill>
                <a:latin typeface="Arial"/>
                <a:ea typeface="Arial"/>
                <a:cs typeface="Arial"/>
                <a:sym typeface="Arial"/>
              </a:rPr>
              <a:t>Learn to create JSP</a:t>
            </a:r>
            <a:endParaRPr/>
          </a:p>
          <a:p>
            <a:pPr indent="-342900" lvl="0" marL="342900" rtl="0" algn="l">
              <a:lnSpc>
                <a:spcPct val="100000"/>
              </a:lnSpc>
              <a:spcBef>
                <a:spcPts val="400"/>
              </a:spcBef>
              <a:spcAft>
                <a:spcPts val="0"/>
              </a:spcAft>
              <a:buSzPts val="1600"/>
              <a:buNone/>
            </a:pPr>
            <a:r>
              <a:rPr b="1" i="0" lang="en-US" sz="2000" u="none">
                <a:solidFill>
                  <a:schemeClr val="dk1"/>
                </a:solidFill>
                <a:latin typeface="Arial"/>
                <a:ea typeface="Arial"/>
                <a:cs typeface="Arial"/>
                <a:sym typeface="Arial"/>
              </a:rPr>
              <a:t>Deploy the web application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105" name="Google Shape;105;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106" name="Google Shape;106;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What is HTML? </a:t>
            </a:r>
            <a:endParaRPr/>
          </a:p>
        </p:txBody>
      </p:sp>
      <p:sp>
        <p:nvSpPr>
          <p:cNvPr id="107" name="Google Shape;107;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None/>
            </a:pPr>
            <a:r>
              <a:rPr b="0" i="0" lang="en-US" sz="2800" u="none">
                <a:solidFill>
                  <a:schemeClr val="dk1"/>
                </a:solidFill>
                <a:latin typeface="Calibri"/>
                <a:ea typeface="Calibri"/>
                <a:cs typeface="Calibri"/>
                <a:sym typeface="Calibri"/>
              </a:rPr>
              <a:t>HTML is a language for describing web pages.</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HTML stands for </a:t>
            </a:r>
            <a:r>
              <a:rPr b="1" i="0" lang="en-US" sz="2800" u="none">
                <a:solidFill>
                  <a:schemeClr val="dk1"/>
                </a:solidFill>
                <a:latin typeface="Calibri"/>
                <a:ea typeface="Calibri"/>
                <a:cs typeface="Calibri"/>
                <a:sym typeface="Calibri"/>
              </a:rPr>
              <a:t>H</a:t>
            </a:r>
            <a:r>
              <a:rPr b="0" i="0" lang="en-US" sz="2800" u="none">
                <a:solidFill>
                  <a:schemeClr val="dk1"/>
                </a:solidFill>
                <a:latin typeface="Calibri"/>
                <a:ea typeface="Calibri"/>
                <a:cs typeface="Calibri"/>
                <a:sym typeface="Calibri"/>
              </a:rPr>
              <a:t>yper </a:t>
            </a:r>
            <a:r>
              <a:rPr b="1" i="0" lang="en-US" sz="2800" u="none">
                <a:solidFill>
                  <a:schemeClr val="dk1"/>
                </a:solidFill>
                <a:latin typeface="Calibri"/>
                <a:ea typeface="Calibri"/>
                <a:cs typeface="Calibri"/>
                <a:sym typeface="Calibri"/>
              </a:rPr>
              <a:t>T</a:t>
            </a:r>
            <a:r>
              <a:rPr b="0" i="0" lang="en-US" sz="2800" u="none">
                <a:solidFill>
                  <a:schemeClr val="dk1"/>
                </a:solidFill>
                <a:latin typeface="Calibri"/>
                <a:ea typeface="Calibri"/>
                <a:cs typeface="Calibri"/>
                <a:sym typeface="Calibri"/>
              </a:rPr>
              <a:t>ext </a:t>
            </a:r>
            <a:r>
              <a:rPr b="1" i="0" lang="en-US" sz="2800" u="none">
                <a:solidFill>
                  <a:schemeClr val="dk1"/>
                </a:solidFill>
                <a:latin typeface="Calibri"/>
                <a:ea typeface="Calibri"/>
                <a:cs typeface="Calibri"/>
                <a:sym typeface="Calibri"/>
              </a:rPr>
              <a:t>M</a:t>
            </a:r>
            <a:r>
              <a:rPr b="0" i="0" lang="en-US" sz="2800" u="none">
                <a:solidFill>
                  <a:schemeClr val="dk1"/>
                </a:solidFill>
                <a:latin typeface="Calibri"/>
                <a:ea typeface="Calibri"/>
                <a:cs typeface="Calibri"/>
                <a:sym typeface="Calibri"/>
              </a:rPr>
              <a:t>arkup </a:t>
            </a:r>
            <a:r>
              <a:rPr b="1" i="0" lang="en-US" sz="2800" u="none">
                <a:solidFill>
                  <a:schemeClr val="dk1"/>
                </a:solidFill>
                <a:latin typeface="Calibri"/>
                <a:ea typeface="Calibri"/>
                <a:cs typeface="Calibri"/>
                <a:sym typeface="Calibri"/>
              </a:rPr>
              <a:t>L</a:t>
            </a:r>
            <a:r>
              <a:rPr b="0" i="0" lang="en-US" sz="2800" u="none">
                <a:solidFill>
                  <a:schemeClr val="dk1"/>
                </a:solidFill>
                <a:latin typeface="Calibri"/>
                <a:ea typeface="Calibri"/>
                <a:cs typeface="Calibri"/>
                <a:sym typeface="Calibri"/>
              </a:rPr>
              <a:t>anguage </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HTML is not a programming language, it is a </a:t>
            </a:r>
            <a:r>
              <a:rPr b="1" i="0" lang="en-US" sz="2800" u="none">
                <a:solidFill>
                  <a:schemeClr val="dk1"/>
                </a:solidFill>
                <a:latin typeface="Calibri"/>
                <a:ea typeface="Calibri"/>
                <a:cs typeface="Calibri"/>
                <a:sym typeface="Calibri"/>
              </a:rPr>
              <a:t>markup language</a:t>
            </a:r>
            <a:r>
              <a:rPr b="0" i="0" lang="en-US" sz="2800" u="none">
                <a:solidFill>
                  <a:schemeClr val="dk1"/>
                </a:solidFill>
                <a:latin typeface="Calibri"/>
                <a:ea typeface="Calibri"/>
                <a:cs typeface="Calibri"/>
                <a:sym typeface="Calibri"/>
              </a:rPr>
              <a:t> </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A markup language is a set of </a:t>
            </a:r>
            <a:r>
              <a:rPr b="1" i="0" lang="en-US" sz="2800" u="none">
                <a:solidFill>
                  <a:schemeClr val="dk1"/>
                </a:solidFill>
                <a:latin typeface="Calibri"/>
                <a:ea typeface="Calibri"/>
                <a:cs typeface="Calibri"/>
                <a:sym typeface="Calibri"/>
              </a:rPr>
              <a:t>markup tags</a:t>
            </a:r>
            <a:r>
              <a:rPr b="0" i="0" lang="en-US" sz="2800" u="none">
                <a:solidFill>
                  <a:schemeClr val="dk1"/>
                </a:solidFill>
                <a:latin typeface="Calibri"/>
                <a:ea typeface="Calibri"/>
                <a:cs typeface="Calibri"/>
                <a:sym typeface="Calibri"/>
              </a:rPr>
              <a:t> </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HTML uses </a:t>
            </a:r>
            <a:r>
              <a:rPr b="1" i="0" lang="en-US" sz="2800" u="none">
                <a:solidFill>
                  <a:schemeClr val="dk1"/>
                </a:solidFill>
                <a:latin typeface="Calibri"/>
                <a:ea typeface="Calibri"/>
                <a:cs typeface="Calibri"/>
                <a:sym typeface="Calibri"/>
              </a:rPr>
              <a:t>markup tags</a:t>
            </a:r>
            <a:r>
              <a:rPr b="0" i="0" lang="en-US" sz="2800" u="none">
                <a:solidFill>
                  <a:schemeClr val="dk1"/>
                </a:solidFill>
                <a:latin typeface="Calibri"/>
                <a:ea typeface="Calibri"/>
                <a:cs typeface="Calibri"/>
                <a:sym typeface="Calibri"/>
              </a:rPr>
              <a:t> to describe web pages </a:t>
            </a:r>
            <a:endParaRPr/>
          </a:p>
          <a:p>
            <a:pPr indent="-200660" lvl="0" marL="342900" rtl="0" algn="l">
              <a:spcBef>
                <a:spcPts val="560"/>
              </a:spcBef>
              <a:spcAft>
                <a:spcPts val="0"/>
              </a:spcAft>
              <a:buClr>
                <a:srgbClr val="538CD5"/>
              </a:buClr>
              <a:buSzPts val="2240"/>
              <a:buFont typeface="Noto Sans Symbols"/>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113" name="Google Shape;113;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114" name="Google Shape;114;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HTML Tags</a:t>
            </a:r>
            <a:endParaRPr/>
          </a:p>
        </p:txBody>
      </p:sp>
      <p:sp>
        <p:nvSpPr>
          <p:cNvPr id="115" name="Google Shape;115;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None/>
            </a:pPr>
            <a:r>
              <a:rPr b="0" i="0" lang="en-US" sz="2800" u="none">
                <a:solidFill>
                  <a:schemeClr val="dk1"/>
                </a:solidFill>
                <a:latin typeface="Calibri"/>
                <a:ea typeface="Calibri"/>
                <a:cs typeface="Calibri"/>
                <a:sym typeface="Calibri"/>
              </a:rPr>
              <a:t>HTML markup tags are usually called HTML tags</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HTML tags are keywords surrounded by </a:t>
            </a:r>
            <a:r>
              <a:rPr b="1" i="0" lang="en-US" sz="2800" u="none">
                <a:solidFill>
                  <a:schemeClr val="dk1"/>
                </a:solidFill>
                <a:latin typeface="Calibri"/>
                <a:ea typeface="Calibri"/>
                <a:cs typeface="Calibri"/>
                <a:sym typeface="Calibri"/>
              </a:rPr>
              <a:t>angle brackets </a:t>
            </a:r>
            <a:r>
              <a:rPr b="0" i="0" lang="en-US" sz="2800" u="none">
                <a:solidFill>
                  <a:schemeClr val="dk1"/>
                </a:solidFill>
                <a:latin typeface="Calibri"/>
                <a:ea typeface="Calibri"/>
                <a:cs typeface="Calibri"/>
                <a:sym typeface="Calibri"/>
              </a:rPr>
              <a:t>like &lt;html&gt; </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HTML tags normally </a:t>
            </a:r>
            <a:r>
              <a:rPr b="1" i="0" lang="en-US" sz="2800" u="none">
                <a:solidFill>
                  <a:schemeClr val="dk1"/>
                </a:solidFill>
                <a:latin typeface="Calibri"/>
                <a:ea typeface="Calibri"/>
                <a:cs typeface="Calibri"/>
                <a:sym typeface="Calibri"/>
              </a:rPr>
              <a:t>come in pairs</a:t>
            </a:r>
            <a:r>
              <a:rPr b="0" i="0" lang="en-US" sz="2800" u="none">
                <a:solidFill>
                  <a:schemeClr val="dk1"/>
                </a:solidFill>
                <a:latin typeface="Calibri"/>
                <a:ea typeface="Calibri"/>
                <a:cs typeface="Calibri"/>
                <a:sym typeface="Calibri"/>
              </a:rPr>
              <a:t> like &lt;b&gt; and &lt;/b&gt; </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The first tag in a pair is the </a:t>
            </a:r>
            <a:r>
              <a:rPr b="1" i="0" lang="en-US" sz="2800" u="none">
                <a:solidFill>
                  <a:schemeClr val="dk1"/>
                </a:solidFill>
                <a:latin typeface="Calibri"/>
                <a:ea typeface="Calibri"/>
                <a:cs typeface="Calibri"/>
                <a:sym typeface="Calibri"/>
              </a:rPr>
              <a:t>start tag,</a:t>
            </a:r>
            <a:r>
              <a:rPr b="0" i="0" lang="en-US" sz="2800" u="none">
                <a:solidFill>
                  <a:schemeClr val="dk1"/>
                </a:solidFill>
                <a:latin typeface="Calibri"/>
                <a:ea typeface="Calibri"/>
                <a:cs typeface="Calibri"/>
                <a:sym typeface="Calibri"/>
              </a:rPr>
              <a:t> the second tag is the </a:t>
            </a:r>
            <a:r>
              <a:rPr b="1" i="0" lang="en-US" sz="2800" u="none">
                <a:solidFill>
                  <a:schemeClr val="dk1"/>
                </a:solidFill>
                <a:latin typeface="Calibri"/>
                <a:ea typeface="Calibri"/>
                <a:cs typeface="Calibri"/>
                <a:sym typeface="Calibri"/>
              </a:rPr>
              <a:t>end tag</a:t>
            </a:r>
            <a:r>
              <a:rPr b="0" i="0" lang="en-US" sz="2800" u="none">
                <a:solidFill>
                  <a:schemeClr val="dk1"/>
                </a:solidFill>
                <a:latin typeface="Calibri"/>
                <a:ea typeface="Calibri"/>
                <a:cs typeface="Calibri"/>
                <a:sym typeface="Calibri"/>
              </a:rPr>
              <a:t> </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Start and end tags are also called </a:t>
            </a:r>
            <a:r>
              <a:rPr b="1" i="0" lang="en-US" sz="2800" u="none">
                <a:solidFill>
                  <a:schemeClr val="dk1"/>
                </a:solidFill>
                <a:latin typeface="Calibri"/>
                <a:ea typeface="Calibri"/>
                <a:cs typeface="Calibri"/>
                <a:sym typeface="Calibri"/>
              </a:rPr>
              <a:t>opening tags</a:t>
            </a:r>
            <a:r>
              <a:rPr b="0" i="0" lang="en-US" sz="2800" u="none">
                <a:solidFill>
                  <a:schemeClr val="dk1"/>
                </a:solidFill>
                <a:latin typeface="Calibri"/>
                <a:ea typeface="Calibri"/>
                <a:cs typeface="Calibri"/>
                <a:sym typeface="Calibri"/>
              </a:rPr>
              <a:t> and </a:t>
            </a:r>
            <a:r>
              <a:rPr b="1" i="0" lang="en-US" sz="2800" u="none">
                <a:solidFill>
                  <a:schemeClr val="dk1"/>
                </a:solidFill>
                <a:latin typeface="Calibri"/>
                <a:ea typeface="Calibri"/>
                <a:cs typeface="Calibri"/>
                <a:sym typeface="Calibri"/>
              </a:rPr>
              <a:t>closing tags</a:t>
            </a:r>
            <a:r>
              <a:rPr b="0" i="0" lang="en-US" sz="2800" u="none">
                <a:solidFill>
                  <a:schemeClr val="dk1"/>
                </a:solidFill>
                <a:latin typeface="Calibri"/>
                <a:ea typeface="Calibri"/>
                <a:cs typeface="Calibri"/>
                <a:sym typeface="Calibri"/>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121" name="Google Shape;121;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122" name="Google Shape;122;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HTML Documents = Web Pages </a:t>
            </a:r>
            <a:endParaRPr/>
          </a:p>
        </p:txBody>
      </p:sp>
      <p:sp>
        <p:nvSpPr>
          <p:cNvPr id="123" name="Google Shape;123;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560"/>
              <a:buFont typeface="Arial"/>
              <a:buChar char="•"/>
            </a:pPr>
            <a:r>
              <a:rPr b="0" i="0" lang="en-US" sz="3200" u="none">
                <a:solidFill>
                  <a:schemeClr val="dk1"/>
                </a:solidFill>
                <a:latin typeface="Calibri"/>
                <a:ea typeface="Calibri"/>
                <a:cs typeface="Calibri"/>
                <a:sym typeface="Calibri"/>
              </a:rPr>
              <a:t>HTML documents </a:t>
            </a:r>
            <a:r>
              <a:rPr b="1" i="0" lang="en-US" sz="3200" u="none">
                <a:solidFill>
                  <a:schemeClr val="dk1"/>
                </a:solidFill>
                <a:latin typeface="Calibri"/>
                <a:ea typeface="Calibri"/>
                <a:cs typeface="Calibri"/>
                <a:sym typeface="Calibri"/>
              </a:rPr>
              <a:t>describe web pages</a:t>
            </a:r>
            <a:r>
              <a:rPr b="0" i="0" lang="en-US" sz="3200" u="none">
                <a:solidFill>
                  <a:schemeClr val="dk1"/>
                </a:solidFill>
                <a:latin typeface="Calibri"/>
                <a:ea typeface="Calibri"/>
                <a:cs typeface="Calibri"/>
                <a:sym typeface="Calibri"/>
              </a:rPr>
              <a:t> </a:t>
            </a:r>
            <a:endParaRPr/>
          </a:p>
          <a:p>
            <a:pPr indent="-342900" lvl="0" marL="342900" rtl="0" algn="l">
              <a:lnSpc>
                <a:spcPct val="100000"/>
              </a:lnSpc>
              <a:spcBef>
                <a:spcPts val="640"/>
              </a:spcBef>
              <a:spcAft>
                <a:spcPts val="0"/>
              </a:spcAft>
              <a:buSzPts val="2560"/>
              <a:buFont typeface="Arial"/>
              <a:buChar char="•"/>
            </a:pPr>
            <a:r>
              <a:rPr b="0" i="0" lang="en-US" sz="3200" u="none">
                <a:solidFill>
                  <a:schemeClr val="dk1"/>
                </a:solidFill>
                <a:latin typeface="Calibri"/>
                <a:ea typeface="Calibri"/>
                <a:cs typeface="Calibri"/>
                <a:sym typeface="Calibri"/>
              </a:rPr>
              <a:t>HTML documents </a:t>
            </a:r>
            <a:r>
              <a:rPr b="1" i="0" lang="en-US" sz="3200" u="none">
                <a:solidFill>
                  <a:schemeClr val="dk1"/>
                </a:solidFill>
                <a:latin typeface="Calibri"/>
                <a:ea typeface="Calibri"/>
                <a:cs typeface="Calibri"/>
                <a:sym typeface="Calibri"/>
              </a:rPr>
              <a:t>contain HTML tags</a:t>
            </a:r>
            <a:r>
              <a:rPr b="0" i="0" lang="en-US" sz="3200" u="none">
                <a:solidFill>
                  <a:schemeClr val="dk1"/>
                </a:solidFill>
                <a:latin typeface="Calibri"/>
                <a:ea typeface="Calibri"/>
                <a:cs typeface="Calibri"/>
                <a:sym typeface="Calibri"/>
              </a:rPr>
              <a:t> and plain text </a:t>
            </a:r>
            <a:endParaRPr/>
          </a:p>
          <a:p>
            <a:pPr indent="-342900" lvl="0" marL="342900" rtl="0" algn="l">
              <a:lnSpc>
                <a:spcPct val="100000"/>
              </a:lnSpc>
              <a:spcBef>
                <a:spcPts val="640"/>
              </a:spcBef>
              <a:spcAft>
                <a:spcPts val="0"/>
              </a:spcAft>
              <a:buSzPts val="2560"/>
              <a:buFont typeface="Arial"/>
              <a:buChar char="•"/>
            </a:pPr>
            <a:r>
              <a:rPr b="0" i="0" lang="en-US" sz="3200" u="none">
                <a:solidFill>
                  <a:schemeClr val="dk1"/>
                </a:solidFill>
                <a:latin typeface="Calibri"/>
                <a:ea typeface="Calibri"/>
                <a:cs typeface="Calibri"/>
                <a:sym typeface="Calibri"/>
              </a:rPr>
              <a:t>HTML documents are also </a:t>
            </a:r>
            <a:r>
              <a:rPr b="1" i="0" lang="en-US" sz="3200" u="none">
                <a:solidFill>
                  <a:schemeClr val="dk1"/>
                </a:solidFill>
                <a:latin typeface="Calibri"/>
                <a:ea typeface="Calibri"/>
                <a:cs typeface="Calibri"/>
                <a:sym typeface="Calibri"/>
              </a:rPr>
              <a:t>called web pages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129" name="Google Shape;129;p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130" name="Google Shape;130;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Web browser </a:t>
            </a:r>
            <a:endParaRPr/>
          </a:p>
        </p:txBody>
      </p:sp>
      <p:sp>
        <p:nvSpPr>
          <p:cNvPr id="131" name="Google Shape;131;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560"/>
              <a:buFont typeface="Arial"/>
              <a:buChar char="•"/>
            </a:pPr>
            <a:r>
              <a:rPr b="0" i="0" lang="en-US" sz="3200" u="none">
                <a:solidFill>
                  <a:schemeClr val="dk1"/>
                </a:solidFill>
                <a:latin typeface="Calibri"/>
                <a:ea typeface="Calibri"/>
                <a:cs typeface="Calibri"/>
                <a:sym typeface="Calibri"/>
              </a:rPr>
              <a:t>The purpose of a web browser (like Internet Explorer or Firefox) is to read HTML documents and display them as web pages. </a:t>
            </a:r>
            <a:endParaRPr/>
          </a:p>
          <a:p>
            <a:pPr indent="-342900" lvl="0" marL="342900" rtl="0" algn="l">
              <a:lnSpc>
                <a:spcPct val="100000"/>
              </a:lnSpc>
              <a:spcBef>
                <a:spcPts val="640"/>
              </a:spcBef>
              <a:spcAft>
                <a:spcPts val="0"/>
              </a:spcAft>
              <a:buSzPts val="2560"/>
              <a:buFont typeface="Arial"/>
              <a:buChar char="•"/>
            </a:pPr>
            <a:r>
              <a:rPr b="0" i="0" lang="en-US" sz="3200" u="none">
                <a:solidFill>
                  <a:schemeClr val="dk1"/>
                </a:solidFill>
                <a:latin typeface="Calibri"/>
                <a:ea typeface="Calibri"/>
                <a:cs typeface="Calibri"/>
                <a:sym typeface="Calibri"/>
              </a:rPr>
              <a:t>The browser does not display the HTML tags, but uses the tags to </a:t>
            </a:r>
            <a:r>
              <a:rPr b="1" i="0" lang="en-US" sz="3200" u="sng">
                <a:solidFill>
                  <a:schemeClr val="dk1"/>
                </a:solidFill>
                <a:latin typeface="Calibri"/>
                <a:ea typeface="Calibri"/>
                <a:cs typeface="Calibri"/>
                <a:sym typeface="Calibri"/>
              </a:rPr>
              <a:t>interpret</a:t>
            </a:r>
            <a:r>
              <a:rPr b="0" i="0" lang="en-US" sz="3200" u="none">
                <a:solidFill>
                  <a:schemeClr val="dk1"/>
                </a:solidFill>
                <a:latin typeface="Calibri"/>
                <a:ea typeface="Calibri"/>
                <a:cs typeface="Calibri"/>
                <a:sym typeface="Calibri"/>
              </a:rPr>
              <a:t> the content of the page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137" name="Google Shape;137;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138" name="Google Shape;138;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Web page example</a:t>
            </a:r>
            <a:endParaRPr/>
          </a:p>
        </p:txBody>
      </p:sp>
      <p:sp>
        <p:nvSpPr>
          <p:cNvPr id="139" name="Google Shape;139;p7"/>
          <p:cNvSpPr txBox="1"/>
          <p:nvPr>
            <p:ph idx="1" type="body"/>
          </p:nvPr>
        </p:nvSpPr>
        <p:spPr>
          <a:xfrm>
            <a:off x="457200" y="1600200"/>
            <a:ext cx="8229600" cy="33528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00"/>
              <a:buNone/>
            </a:pPr>
            <a:r>
              <a:rPr b="0" i="0" lang="en-US" sz="2000" u="none">
                <a:solidFill>
                  <a:schemeClr val="dk1"/>
                </a:solidFill>
                <a:latin typeface="Calibri"/>
                <a:ea typeface="Calibri"/>
                <a:cs typeface="Calibri"/>
                <a:sym typeface="Calibri"/>
              </a:rPr>
              <a:t>	&lt;html&gt;</a:t>
            </a:r>
            <a:br>
              <a:rPr b="0" i="0" lang="en-US" sz="2000" u="none">
                <a:solidFill>
                  <a:schemeClr val="dk1"/>
                </a:solidFill>
                <a:latin typeface="Calibri"/>
                <a:ea typeface="Calibri"/>
                <a:cs typeface="Calibri"/>
                <a:sym typeface="Calibri"/>
              </a:rPr>
            </a:br>
            <a:r>
              <a:rPr b="0" i="0" lang="en-US" sz="2000" u="none">
                <a:solidFill>
                  <a:schemeClr val="dk1"/>
                </a:solidFill>
                <a:latin typeface="Calibri"/>
                <a:ea typeface="Calibri"/>
                <a:cs typeface="Calibri"/>
                <a:sym typeface="Calibri"/>
              </a:rPr>
              <a:t>	&lt;body&gt;</a:t>
            </a:r>
            <a:br>
              <a:rPr b="0" i="0" lang="en-US" sz="2000" u="none">
                <a:solidFill>
                  <a:schemeClr val="dk1"/>
                </a:solidFill>
                <a:latin typeface="Calibri"/>
                <a:ea typeface="Calibri"/>
                <a:cs typeface="Calibri"/>
                <a:sym typeface="Calibri"/>
              </a:rPr>
            </a:br>
            <a:br>
              <a:rPr b="0" i="0" lang="en-US" sz="2000" u="none">
                <a:solidFill>
                  <a:schemeClr val="dk1"/>
                </a:solidFill>
                <a:latin typeface="Calibri"/>
                <a:ea typeface="Calibri"/>
                <a:cs typeface="Calibri"/>
                <a:sym typeface="Calibri"/>
              </a:rPr>
            </a:br>
            <a:r>
              <a:rPr b="0" i="0" lang="en-US" sz="2000" u="none">
                <a:solidFill>
                  <a:schemeClr val="dk1"/>
                </a:solidFill>
                <a:latin typeface="Calibri"/>
                <a:ea typeface="Calibri"/>
                <a:cs typeface="Calibri"/>
                <a:sym typeface="Calibri"/>
              </a:rPr>
              <a:t>		&lt;h1&gt;My First Heading&lt;/h1&gt;</a:t>
            </a:r>
            <a:br>
              <a:rPr b="0" i="0" lang="en-US" sz="2000" u="none">
                <a:solidFill>
                  <a:schemeClr val="dk1"/>
                </a:solidFill>
                <a:latin typeface="Calibri"/>
                <a:ea typeface="Calibri"/>
                <a:cs typeface="Calibri"/>
                <a:sym typeface="Calibri"/>
              </a:rPr>
            </a:br>
            <a:br>
              <a:rPr b="0" i="0" lang="en-US" sz="2000" u="none">
                <a:solidFill>
                  <a:schemeClr val="dk1"/>
                </a:solidFill>
                <a:latin typeface="Calibri"/>
                <a:ea typeface="Calibri"/>
                <a:cs typeface="Calibri"/>
                <a:sym typeface="Calibri"/>
              </a:rPr>
            </a:br>
            <a:r>
              <a:rPr b="0" i="0" lang="en-US" sz="2000" u="none">
                <a:solidFill>
                  <a:schemeClr val="dk1"/>
                </a:solidFill>
                <a:latin typeface="Calibri"/>
                <a:ea typeface="Calibri"/>
                <a:cs typeface="Calibri"/>
                <a:sym typeface="Calibri"/>
              </a:rPr>
              <a:t>		&lt;p&gt;My first paragraph&lt;/p&gt;</a:t>
            </a:r>
            <a:br>
              <a:rPr b="0" i="0" lang="en-US" sz="2000" u="none">
                <a:solidFill>
                  <a:schemeClr val="dk1"/>
                </a:solidFill>
                <a:latin typeface="Calibri"/>
                <a:ea typeface="Calibri"/>
                <a:cs typeface="Calibri"/>
                <a:sym typeface="Calibri"/>
              </a:rPr>
            </a:br>
            <a:endParaRPr/>
          </a:p>
          <a:p>
            <a:pPr indent="-342900" lvl="0" marL="342900" rtl="0" algn="l">
              <a:lnSpc>
                <a:spcPct val="80000"/>
              </a:lnSpc>
              <a:spcBef>
                <a:spcPts val="400"/>
              </a:spcBef>
              <a:spcAft>
                <a:spcPts val="0"/>
              </a:spcAft>
              <a:buSzPts val="1600"/>
              <a:buNone/>
            </a:pPr>
            <a:r>
              <a:rPr b="0" i="0" lang="en-US" sz="2000" u="none">
                <a:solidFill>
                  <a:schemeClr val="dk1"/>
                </a:solidFill>
                <a:latin typeface="Calibri"/>
                <a:ea typeface="Calibri"/>
                <a:cs typeface="Calibri"/>
                <a:sym typeface="Calibri"/>
              </a:rPr>
              <a:t>			&lt;a href=“http:\\cms.fpt.edu.vn”&gt;Studying place&lt;/a&gt;	&lt;/body&gt;</a:t>
            </a:r>
            <a:br>
              <a:rPr b="0" i="0" lang="en-US" sz="2000" u="none">
                <a:solidFill>
                  <a:schemeClr val="dk1"/>
                </a:solidFill>
                <a:latin typeface="Calibri"/>
                <a:ea typeface="Calibri"/>
                <a:cs typeface="Calibri"/>
                <a:sym typeface="Calibri"/>
              </a:rPr>
            </a:br>
            <a:r>
              <a:rPr b="0" i="0" lang="en-US" sz="2000" u="none">
                <a:solidFill>
                  <a:schemeClr val="dk1"/>
                </a:solidFill>
                <a:latin typeface="Calibri"/>
                <a:ea typeface="Calibri"/>
                <a:cs typeface="Calibri"/>
                <a:sym typeface="Calibri"/>
              </a:rPr>
              <a:t>&lt;/html&gt;</a:t>
            </a:r>
            <a:br>
              <a:rPr b="0" i="0" lang="en-US" sz="2000" u="none">
                <a:solidFill>
                  <a:schemeClr val="dk1"/>
                </a:solidFill>
                <a:latin typeface="Calibri"/>
                <a:ea typeface="Calibri"/>
                <a:cs typeface="Calibri"/>
                <a:sym typeface="Calibri"/>
              </a:rPr>
            </a:b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145" name="Google Shape;145;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146" name="Google Shape;146;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What a Servlet is</a:t>
            </a:r>
            <a:endParaRPr/>
          </a:p>
        </p:txBody>
      </p:sp>
      <p:sp>
        <p:nvSpPr>
          <p:cNvPr id="147" name="Google Shape;147;p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560"/>
              <a:buFont typeface="Arial"/>
              <a:buChar char="•"/>
            </a:pPr>
            <a:r>
              <a:rPr b="0" i="0" lang="en-US" sz="3200" u="none">
                <a:solidFill>
                  <a:schemeClr val="dk1"/>
                </a:solidFill>
                <a:latin typeface="Arial"/>
                <a:ea typeface="Arial"/>
                <a:cs typeface="Arial"/>
                <a:sym typeface="Arial"/>
              </a:rPr>
              <a:t>Servlets are </a:t>
            </a:r>
            <a:r>
              <a:rPr b="0" i="0" lang="en-US" sz="3200" u="sng">
                <a:solidFill>
                  <a:schemeClr val="dk1"/>
                </a:solidFill>
                <a:latin typeface="Arial"/>
                <a:ea typeface="Arial"/>
                <a:cs typeface="Arial"/>
                <a:sym typeface="Arial"/>
              </a:rPr>
              <a:t>small Java programs that run on a Web server</a:t>
            </a:r>
            <a:r>
              <a:rPr b="0" i="0" lang="en-US" sz="3200" u="none">
                <a:solidFill>
                  <a:schemeClr val="dk1"/>
                </a:solidFill>
                <a:latin typeface="Arial"/>
                <a:ea typeface="Arial"/>
                <a:cs typeface="Arial"/>
                <a:sym typeface="Arial"/>
              </a:rPr>
              <a:t> and help to build dynamic Web pages.</a:t>
            </a:r>
            <a:endParaRPr/>
          </a:p>
          <a:p>
            <a:pPr indent="-342900" lvl="0" marL="342900" rtl="0" algn="l">
              <a:lnSpc>
                <a:spcPct val="90000"/>
              </a:lnSpc>
              <a:spcBef>
                <a:spcPts val="640"/>
              </a:spcBef>
              <a:spcAft>
                <a:spcPts val="0"/>
              </a:spcAft>
              <a:buSzPts val="2560"/>
              <a:buFont typeface="Arial"/>
              <a:buChar char="•"/>
            </a:pPr>
            <a:r>
              <a:rPr b="0" i="0" lang="en-US" sz="3200" u="none">
                <a:solidFill>
                  <a:schemeClr val="dk1"/>
                </a:solidFill>
                <a:latin typeface="Arial"/>
                <a:ea typeface="Arial"/>
                <a:cs typeface="Arial"/>
                <a:sym typeface="Arial"/>
              </a:rPr>
              <a:t>Servlets </a:t>
            </a:r>
            <a:r>
              <a:rPr b="0" i="0" lang="en-US" sz="3200" u="sng">
                <a:solidFill>
                  <a:schemeClr val="dk1"/>
                </a:solidFill>
                <a:latin typeface="Arial"/>
                <a:ea typeface="Arial"/>
                <a:cs typeface="Arial"/>
                <a:sym typeface="Arial"/>
              </a:rPr>
              <a:t>receive</a:t>
            </a:r>
            <a:r>
              <a:rPr b="0" i="0" lang="en-US" sz="3200" u="none">
                <a:solidFill>
                  <a:schemeClr val="dk1"/>
                </a:solidFill>
                <a:latin typeface="Arial"/>
                <a:ea typeface="Arial"/>
                <a:cs typeface="Arial"/>
                <a:sym typeface="Arial"/>
              </a:rPr>
              <a:t> and </a:t>
            </a:r>
            <a:r>
              <a:rPr b="0" i="0" lang="en-US" sz="3200" u="sng">
                <a:solidFill>
                  <a:schemeClr val="dk1"/>
                </a:solidFill>
                <a:latin typeface="Arial"/>
                <a:ea typeface="Arial"/>
                <a:cs typeface="Arial"/>
                <a:sym typeface="Arial"/>
              </a:rPr>
              <a:t>respond</a:t>
            </a:r>
            <a:r>
              <a:rPr b="0" i="0" lang="en-US" sz="3200" u="none">
                <a:solidFill>
                  <a:schemeClr val="dk1"/>
                </a:solidFill>
                <a:latin typeface="Arial"/>
                <a:ea typeface="Arial"/>
                <a:cs typeface="Arial"/>
                <a:sym typeface="Arial"/>
              </a:rPr>
              <a:t> to requests from Web clients, usually across HTTP, the HyperText Transfer Protocol. </a:t>
            </a:r>
            <a:endParaRPr/>
          </a:p>
          <a:p>
            <a:pPr indent="-342900" lvl="0" marL="342900" rtl="0" algn="l">
              <a:lnSpc>
                <a:spcPct val="90000"/>
              </a:lnSpc>
              <a:spcBef>
                <a:spcPts val="640"/>
              </a:spcBef>
              <a:spcAft>
                <a:spcPts val="0"/>
              </a:spcAft>
              <a:buSzPts val="2560"/>
              <a:buFont typeface="Arial"/>
              <a:buChar char="•"/>
            </a:pPr>
            <a:r>
              <a:rPr b="0" i="0" lang="en-US" sz="3200" u="none">
                <a:solidFill>
                  <a:schemeClr val="dk1"/>
                </a:solidFill>
                <a:latin typeface="Arial"/>
                <a:ea typeface="Arial"/>
                <a:cs typeface="Arial"/>
                <a:sym typeface="Arial"/>
              </a:rPr>
              <a:t>Java Servlet technology was created as a portable way to provide </a:t>
            </a:r>
            <a:r>
              <a:rPr b="0" i="0" lang="en-US" sz="3200" u="sng">
                <a:solidFill>
                  <a:schemeClr val="dk1"/>
                </a:solidFill>
                <a:latin typeface="Arial"/>
                <a:ea typeface="Arial"/>
                <a:cs typeface="Arial"/>
                <a:sym typeface="Arial"/>
              </a:rPr>
              <a:t>dynamic</a:t>
            </a:r>
            <a:r>
              <a:rPr b="0" i="0" lang="en-US" sz="3200" u="none">
                <a:solidFill>
                  <a:schemeClr val="dk1"/>
                </a:solidFill>
                <a:latin typeface="Arial"/>
                <a:ea typeface="Arial"/>
                <a:cs typeface="Arial"/>
                <a:sym typeface="Arial"/>
              </a:rPr>
              <a:t>, </a:t>
            </a:r>
            <a:r>
              <a:rPr b="0" i="0" lang="en-US" sz="3200" u="sng">
                <a:solidFill>
                  <a:schemeClr val="dk1"/>
                </a:solidFill>
                <a:latin typeface="Arial"/>
                <a:ea typeface="Arial"/>
                <a:cs typeface="Arial"/>
                <a:sym typeface="Arial"/>
              </a:rPr>
              <a:t>user-oriented content</a:t>
            </a: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AdvJ Session1,2 –Servlet, Web application</a:t>
            </a:r>
            <a:endParaRPr/>
          </a:p>
        </p:txBody>
      </p:sp>
      <p:sp>
        <p:nvSpPr>
          <p:cNvPr id="153" name="Google Shape;153;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r>
              <a:rPr b="0" i="0" lang="en-US" sz="1200" u="none" cap="none" strike="noStrike">
                <a:solidFill>
                  <a:srgbClr val="898989"/>
                </a:solidFill>
                <a:latin typeface="Arial"/>
                <a:ea typeface="Arial"/>
                <a:cs typeface="Arial"/>
                <a:sym typeface="Arial"/>
              </a:rPr>
              <a:t>/41</a:t>
            </a:r>
            <a:endParaRPr/>
          </a:p>
        </p:txBody>
      </p:sp>
      <p:sp>
        <p:nvSpPr>
          <p:cNvPr id="154" name="Google Shape;154;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What a Servlet is...</a:t>
            </a:r>
            <a:endParaRPr/>
          </a:p>
        </p:txBody>
      </p:sp>
      <p:sp>
        <p:nvSpPr>
          <p:cNvPr id="155" name="Google Shape;155;p9"/>
          <p:cNvSpPr/>
          <p:nvPr/>
        </p:nvSpPr>
        <p:spPr>
          <a:xfrm>
            <a:off x="7315200" y="3810000"/>
            <a:ext cx="457200" cy="381000"/>
          </a:xfrm>
          <a:prstGeom prst="ellipse">
            <a:avLst/>
          </a:prstGeom>
          <a:solidFill>
            <a:srgbClr val="FF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6" name="Google Shape;156;p9"/>
          <p:cNvSpPr/>
          <p:nvPr/>
        </p:nvSpPr>
        <p:spPr>
          <a:xfrm>
            <a:off x="609600" y="1066800"/>
            <a:ext cx="8534400" cy="3200400"/>
          </a:xfrm>
          <a:prstGeom prst="irregularSeal1">
            <a:avLst/>
          </a:prstGeom>
          <a:solidFill>
            <a:srgbClr val="C0C0C0"/>
          </a:solidFill>
          <a:ln cap="flat" cmpd="sng" w="9525">
            <a:solidFill>
              <a:srgbClr val="000000"/>
            </a:solidFill>
            <a:prstDash val="solid"/>
            <a:miter lim="800000"/>
            <a:headEnd len="sm" w="sm" type="none"/>
            <a:tailEnd len="sm" w="sm" type="none"/>
          </a:ln>
          <a:effectLst>
            <a:outerShdw blurRad="63500" dir="5742636" dist="127633">
              <a:srgbClr val="9933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7" name="Google Shape;157;p9"/>
          <p:cNvSpPr/>
          <p:nvPr/>
        </p:nvSpPr>
        <p:spPr>
          <a:xfrm>
            <a:off x="838200" y="2133600"/>
            <a:ext cx="2209800" cy="1295400"/>
          </a:xfrm>
          <a:prstGeom prst="flowChartMultidocument">
            <a:avLst/>
          </a:prstGeom>
          <a:solidFill>
            <a:srgbClr val="FFCC00"/>
          </a:solidFill>
          <a:ln cap="flat" cmpd="sng" w="9525">
            <a:solidFill>
              <a:srgbClr val="993300"/>
            </a:solidFill>
            <a:prstDash val="solid"/>
            <a:miter lim="800000"/>
            <a:headEnd len="sm" w="sm" type="none"/>
            <a:tailEnd len="sm" w="sm" type="none"/>
          </a:ln>
          <a:effectLst>
            <a:outerShdw blurRad="63500" dir="5742636" dist="127633">
              <a:srgbClr val="9933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3300"/>
              </a:buClr>
              <a:buSzPts val="2400"/>
              <a:buFont typeface="Courier New"/>
              <a:buNone/>
            </a:pPr>
            <a:r>
              <a:rPr b="1" i="0" lang="en-US" sz="2400" u="none">
                <a:solidFill>
                  <a:srgbClr val="993300"/>
                </a:solidFill>
                <a:latin typeface="Courier New"/>
                <a:ea typeface="Courier New"/>
                <a:cs typeface="Courier New"/>
                <a:sym typeface="Courier New"/>
              </a:rPr>
              <a:t>Browser</a:t>
            </a:r>
            <a:endParaRPr/>
          </a:p>
          <a:p>
            <a:pPr indent="0" lvl="0" marL="0" marR="0" rtl="0" algn="ctr">
              <a:lnSpc>
                <a:spcPct val="100000"/>
              </a:lnSpc>
              <a:spcBef>
                <a:spcPts val="480"/>
              </a:spcBef>
              <a:spcAft>
                <a:spcPts val="0"/>
              </a:spcAft>
              <a:buClr>
                <a:srgbClr val="993300"/>
              </a:buClr>
              <a:buSzPts val="2400"/>
              <a:buFont typeface="Courier New"/>
              <a:buNone/>
            </a:pPr>
            <a:r>
              <a:rPr b="1" i="0" lang="en-US" sz="2400" u="none">
                <a:solidFill>
                  <a:srgbClr val="993300"/>
                </a:solidFill>
                <a:latin typeface="Courier New"/>
                <a:ea typeface="Courier New"/>
                <a:cs typeface="Courier New"/>
                <a:sym typeface="Courier New"/>
              </a:rPr>
              <a:t>Client</a:t>
            </a:r>
            <a:endParaRPr/>
          </a:p>
        </p:txBody>
      </p:sp>
      <p:sp>
        <p:nvSpPr>
          <p:cNvPr id="158" name="Google Shape;158;p9"/>
          <p:cNvSpPr/>
          <p:nvPr/>
        </p:nvSpPr>
        <p:spPr>
          <a:xfrm>
            <a:off x="5943600" y="1524000"/>
            <a:ext cx="2362200" cy="3200400"/>
          </a:xfrm>
          <a:prstGeom prst="bevel">
            <a:avLst>
              <a:gd fmla="val 3933" name="adj"/>
            </a:avLst>
          </a:prstGeom>
          <a:solidFill>
            <a:srgbClr val="FFFF00"/>
          </a:solidFill>
          <a:ln cap="flat" cmpd="sng" w="9525">
            <a:solidFill>
              <a:srgbClr val="993300"/>
            </a:solidFill>
            <a:prstDash val="solid"/>
            <a:miter lim="800000"/>
            <a:headEnd len="sm" w="sm" type="none"/>
            <a:tailEnd len="sm" w="sm" type="none"/>
          </a:ln>
          <a:effectLst>
            <a:outerShdw blurRad="63500" dir="5400000" dist="127000">
              <a:srgbClr val="9933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FF"/>
              </a:buClr>
              <a:buSzPts val="2400"/>
              <a:buFont typeface="Courier New"/>
              <a:buNone/>
            </a:pPr>
            <a:r>
              <a:rPr b="1" i="0" lang="en-US" sz="2400" u="none">
                <a:solidFill>
                  <a:srgbClr val="0000FF"/>
                </a:solidFill>
                <a:latin typeface="Courier New"/>
                <a:ea typeface="Courier New"/>
                <a:cs typeface="Courier New"/>
                <a:sym typeface="Courier New"/>
              </a:rPr>
              <a:t>Web</a:t>
            </a:r>
            <a:endParaRPr/>
          </a:p>
          <a:p>
            <a:pPr indent="0" lvl="0" marL="0" marR="0" rtl="0" algn="ctr">
              <a:lnSpc>
                <a:spcPct val="100000"/>
              </a:lnSpc>
              <a:spcBef>
                <a:spcPts val="480"/>
              </a:spcBef>
              <a:spcAft>
                <a:spcPts val="0"/>
              </a:spcAft>
              <a:buClr>
                <a:srgbClr val="0000FF"/>
              </a:buClr>
              <a:buSzPts val="2400"/>
              <a:buFont typeface="Courier New"/>
              <a:buNone/>
            </a:pPr>
            <a:r>
              <a:rPr b="1" i="0" lang="en-US" sz="2400" u="none">
                <a:solidFill>
                  <a:srgbClr val="0000FF"/>
                </a:solidFill>
                <a:latin typeface="Courier New"/>
                <a:ea typeface="Courier New"/>
                <a:cs typeface="Courier New"/>
                <a:sym typeface="Courier New"/>
              </a:rPr>
              <a:t>Server</a:t>
            </a:r>
            <a:endParaRPr/>
          </a:p>
          <a:p>
            <a:pPr indent="0" lvl="0" marL="0" marR="0" rtl="0" algn="ctr">
              <a:lnSpc>
                <a:spcPct val="100000"/>
              </a:lnSpc>
              <a:spcBef>
                <a:spcPts val="480"/>
              </a:spcBef>
              <a:spcAft>
                <a:spcPts val="0"/>
              </a:spcAft>
              <a:buClr>
                <a:schemeClr val="dk1"/>
              </a:buClr>
              <a:buSzPts val="2400"/>
              <a:buFont typeface="Arial"/>
              <a:buNone/>
            </a:pPr>
            <a:r>
              <a:t/>
            </a:r>
            <a:endParaRPr b="1" i="0" sz="2400" u="none">
              <a:solidFill>
                <a:srgbClr val="0000FF"/>
              </a:solidFill>
              <a:latin typeface="Courier New"/>
              <a:ea typeface="Courier New"/>
              <a:cs typeface="Courier New"/>
              <a:sym typeface="Courier New"/>
            </a:endParaRPr>
          </a:p>
          <a:p>
            <a:pPr indent="0" lvl="0" marL="0" marR="0" rtl="0" algn="ctr">
              <a:lnSpc>
                <a:spcPct val="100000"/>
              </a:lnSpc>
              <a:spcBef>
                <a:spcPts val="480"/>
              </a:spcBef>
              <a:spcAft>
                <a:spcPts val="0"/>
              </a:spcAft>
              <a:buClr>
                <a:schemeClr val="dk1"/>
              </a:buClr>
              <a:buSzPts val="2400"/>
              <a:buFont typeface="Arial"/>
              <a:buNone/>
            </a:pPr>
            <a:r>
              <a:t/>
            </a:r>
            <a:endParaRPr b="1" i="0" sz="2400" u="none">
              <a:solidFill>
                <a:srgbClr val="0000FF"/>
              </a:solidFill>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b="1" i="0" sz="2400" u="none">
              <a:solidFill>
                <a:srgbClr val="0000FF"/>
              </a:solidFill>
              <a:latin typeface="Courier New"/>
              <a:ea typeface="Courier New"/>
              <a:cs typeface="Courier New"/>
              <a:sym typeface="Courier New"/>
            </a:endParaRPr>
          </a:p>
        </p:txBody>
      </p:sp>
      <p:cxnSp>
        <p:nvCxnSpPr>
          <p:cNvPr id="159" name="Google Shape;159;p9"/>
          <p:cNvCxnSpPr/>
          <p:nvPr/>
        </p:nvCxnSpPr>
        <p:spPr>
          <a:xfrm>
            <a:off x="2743200" y="2514600"/>
            <a:ext cx="3657600" cy="0"/>
          </a:xfrm>
          <a:prstGeom prst="straightConnector1">
            <a:avLst/>
          </a:prstGeom>
          <a:noFill/>
          <a:ln cap="flat" cmpd="sng" w="22225">
            <a:solidFill>
              <a:srgbClr val="000080"/>
            </a:solidFill>
            <a:prstDash val="solid"/>
            <a:miter lim="800000"/>
            <a:headEnd len="med" w="med" type="diamond"/>
            <a:tailEnd len="med" w="med" type="triangle"/>
          </a:ln>
        </p:spPr>
      </p:cxnSp>
      <p:cxnSp>
        <p:nvCxnSpPr>
          <p:cNvPr id="160" name="Google Shape;160;p9"/>
          <p:cNvCxnSpPr/>
          <p:nvPr/>
        </p:nvCxnSpPr>
        <p:spPr>
          <a:xfrm rot="10800000">
            <a:off x="2743200" y="2895600"/>
            <a:ext cx="3581400" cy="0"/>
          </a:xfrm>
          <a:prstGeom prst="straightConnector1">
            <a:avLst/>
          </a:prstGeom>
          <a:noFill/>
          <a:ln cap="flat" cmpd="sng" w="22225">
            <a:solidFill>
              <a:srgbClr val="000080"/>
            </a:solidFill>
            <a:prstDash val="solid"/>
            <a:miter lim="800000"/>
            <a:headEnd len="med" w="med" type="diamond"/>
            <a:tailEnd len="med" w="med" type="triangle"/>
          </a:ln>
        </p:spPr>
      </p:cxnSp>
      <p:sp>
        <p:nvSpPr>
          <p:cNvPr id="161" name="Google Shape;161;p9"/>
          <p:cNvSpPr txBox="1"/>
          <p:nvPr/>
        </p:nvSpPr>
        <p:spPr>
          <a:xfrm>
            <a:off x="3643312" y="2057400"/>
            <a:ext cx="1462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400"/>
              <a:buFont typeface="Courier New"/>
              <a:buNone/>
            </a:pPr>
            <a:r>
              <a:rPr b="1" i="0" lang="en-US" sz="2400" u="none">
                <a:solidFill>
                  <a:srgbClr val="0000FF"/>
                </a:solidFill>
                <a:latin typeface="Courier New"/>
                <a:ea typeface="Courier New"/>
                <a:cs typeface="Courier New"/>
                <a:sym typeface="Courier New"/>
              </a:rPr>
              <a:t>Request</a:t>
            </a:r>
            <a:endParaRPr/>
          </a:p>
        </p:txBody>
      </p:sp>
      <p:sp>
        <p:nvSpPr>
          <p:cNvPr id="162" name="Google Shape;162;p9"/>
          <p:cNvSpPr txBox="1"/>
          <p:nvPr/>
        </p:nvSpPr>
        <p:spPr>
          <a:xfrm>
            <a:off x="3657600" y="2895600"/>
            <a:ext cx="16446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400"/>
              <a:buFont typeface="Courier New"/>
              <a:buNone/>
            </a:pPr>
            <a:r>
              <a:rPr b="1" i="0" lang="en-US" sz="2400" u="none">
                <a:solidFill>
                  <a:srgbClr val="0000FF"/>
                </a:solidFill>
                <a:latin typeface="Courier New"/>
                <a:ea typeface="Courier New"/>
                <a:cs typeface="Courier New"/>
                <a:sym typeface="Courier New"/>
              </a:rPr>
              <a:t>Response</a:t>
            </a:r>
            <a:endParaRPr/>
          </a:p>
        </p:txBody>
      </p:sp>
      <p:sp>
        <p:nvSpPr>
          <p:cNvPr id="163" name="Google Shape;163;p9"/>
          <p:cNvSpPr/>
          <p:nvPr/>
        </p:nvSpPr>
        <p:spPr>
          <a:xfrm>
            <a:off x="6324600" y="5186362"/>
            <a:ext cx="1828800" cy="1443037"/>
          </a:xfrm>
          <a:prstGeom prst="can">
            <a:avLst>
              <a:gd fmla="val 25000" name="adj"/>
            </a:avLst>
          </a:prstGeom>
          <a:solidFill>
            <a:srgbClr val="FF9900"/>
          </a:solidFill>
          <a:ln cap="flat" cmpd="sng" w="9525">
            <a:solidFill>
              <a:srgbClr val="000080"/>
            </a:solidFill>
            <a:prstDash val="solid"/>
            <a:miter lim="800000"/>
            <a:headEnd len="sm" w="sm" type="none"/>
            <a:tailEnd len="sm" w="sm" type="none"/>
          </a:ln>
          <a:effectLst>
            <a:outerShdw blurRad="63500" dir="5742636" dist="127633">
              <a:srgbClr val="9933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FF"/>
              </a:buClr>
              <a:buSzPts val="1800"/>
              <a:buFont typeface="Courier New"/>
              <a:buNone/>
            </a:pPr>
            <a:r>
              <a:rPr b="1" i="0" lang="en-US" sz="1800" u="none">
                <a:solidFill>
                  <a:srgbClr val="0000FF"/>
                </a:solidFill>
                <a:latin typeface="Courier New"/>
                <a:ea typeface="Courier New"/>
                <a:cs typeface="Courier New"/>
                <a:sym typeface="Courier New"/>
              </a:rPr>
              <a:t>Database</a:t>
            </a:r>
            <a:endParaRPr/>
          </a:p>
        </p:txBody>
      </p:sp>
      <p:sp>
        <p:nvSpPr>
          <p:cNvPr id="164" name="Google Shape;164;p9"/>
          <p:cNvSpPr txBox="1"/>
          <p:nvPr/>
        </p:nvSpPr>
        <p:spPr>
          <a:xfrm>
            <a:off x="3048000" y="2516187"/>
            <a:ext cx="287337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600"/>
              <a:buFont typeface="Courier New"/>
              <a:buNone/>
            </a:pPr>
            <a:r>
              <a:rPr b="1" i="0" lang="en-US" sz="1600" u="none">
                <a:solidFill>
                  <a:srgbClr val="0000FF"/>
                </a:solidFill>
                <a:latin typeface="Courier New"/>
                <a:ea typeface="Courier New"/>
                <a:cs typeface="Courier New"/>
                <a:sym typeface="Courier New"/>
              </a:rPr>
              <a:t>Internet HTTP Protocol</a:t>
            </a:r>
            <a:endParaRPr/>
          </a:p>
        </p:txBody>
      </p:sp>
      <p:sp>
        <p:nvSpPr>
          <p:cNvPr id="165" name="Google Shape;165;p9"/>
          <p:cNvSpPr txBox="1"/>
          <p:nvPr/>
        </p:nvSpPr>
        <p:spPr>
          <a:xfrm>
            <a:off x="6400800" y="3124200"/>
            <a:ext cx="1447800" cy="1066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FF"/>
              </a:buClr>
              <a:buSzPts val="1600"/>
              <a:buFont typeface="Times New Roman"/>
              <a:buNone/>
            </a:pPr>
            <a:r>
              <a:rPr b="1" i="0" lang="en-US" sz="1600" u="none">
                <a:solidFill>
                  <a:srgbClr val="0000FF"/>
                </a:solidFill>
                <a:latin typeface="Times New Roman"/>
                <a:ea typeface="Times New Roman"/>
                <a:cs typeface="Times New Roman"/>
                <a:sym typeface="Times New Roman"/>
              </a:rPr>
              <a:t>ServletContainer</a:t>
            </a:r>
            <a:endParaRPr/>
          </a:p>
          <a:p>
            <a:pPr indent="0" lvl="0" marL="0" marR="0" rtl="0" algn="ctr">
              <a:lnSpc>
                <a:spcPct val="100000"/>
              </a:lnSpc>
              <a:spcBef>
                <a:spcPts val="320"/>
              </a:spcBef>
              <a:spcAft>
                <a:spcPts val="0"/>
              </a:spcAft>
              <a:buClr>
                <a:schemeClr val="dk1"/>
              </a:buClr>
              <a:buSzPts val="1600"/>
              <a:buFont typeface="Arial"/>
              <a:buNone/>
            </a:pPr>
            <a:r>
              <a:t/>
            </a:r>
            <a:endParaRPr b="1" i="0" sz="1600" u="non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1600" u="none">
              <a:solidFill>
                <a:srgbClr val="0000FF"/>
              </a:solidFill>
              <a:latin typeface="Times New Roman"/>
              <a:ea typeface="Times New Roman"/>
              <a:cs typeface="Times New Roman"/>
              <a:sym typeface="Times New Roman"/>
            </a:endParaRPr>
          </a:p>
        </p:txBody>
      </p:sp>
      <p:sp>
        <p:nvSpPr>
          <p:cNvPr id="166" name="Google Shape;166;p9"/>
          <p:cNvSpPr/>
          <p:nvPr/>
        </p:nvSpPr>
        <p:spPr>
          <a:xfrm>
            <a:off x="6477000" y="3657600"/>
            <a:ext cx="457200" cy="381000"/>
          </a:xfrm>
          <a:prstGeom prst="ellipse">
            <a:avLst/>
          </a:prstGeom>
          <a:solidFill>
            <a:srgbClr val="FF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FF"/>
              </a:buClr>
              <a:buSzPts val="1600"/>
              <a:buFont typeface="Courier New"/>
              <a:buNone/>
            </a:pPr>
            <a:r>
              <a:rPr b="1" i="0" lang="en-US" sz="1600" u="none">
                <a:solidFill>
                  <a:srgbClr val="0000FF"/>
                </a:solidFill>
                <a:latin typeface="Courier New"/>
                <a:ea typeface="Courier New"/>
                <a:cs typeface="Courier New"/>
                <a:sym typeface="Courier New"/>
              </a:rPr>
              <a:t>Servlets</a:t>
            </a:r>
            <a:endParaRPr/>
          </a:p>
        </p:txBody>
      </p:sp>
      <p:sp>
        <p:nvSpPr>
          <p:cNvPr id="167" name="Google Shape;167;p9"/>
          <p:cNvSpPr/>
          <p:nvPr/>
        </p:nvSpPr>
        <p:spPr>
          <a:xfrm>
            <a:off x="7162800" y="3505200"/>
            <a:ext cx="457200" cy="304800"/>
          </a:xfrm>
          <a:prstGeom prst="ellipse">
            <a:avLst/>
          </a:prstGeom>
          <a:solidFill>
            <a:srgbClr val="FF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8" name="Google Shape;168;p9"/>
          <p:cNvSpPr/>
          <p:nvPr/>
        </p:nvSpPr>
        <p:spPr>
          <a:xfrm>
            <a:off x="7391400" y="3962400"/>
            <a:ext cx="381000" cy="228600"/>
          </a:xfrm>
          <a:prstGeom prst="ellipse">
            <a:avLst/>
          </a:prstGeom>
          <a:solidFill>
            <a:srgbClr val="FF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69" name="Google Shape;169;p9"/>
          <p:cNvCxnSpPr/>
          <p:nvPr/>
        </p:nvCxnSpPr>
        <p:spPr>
          <a:xfrm>
            <a:off x="6400800" y="2590800"/>
            <a:ext cx="990600" cy="1066800"/>
          </a:xfrm>
          <a:prstGeom prst="straightConnector1">
            <a:avLst/>
          </a:prstGeom>
          <a:noFill/>
          <a:ln cap="flat" cmpd="sng" w="9525">
            <a:solidFill>
              <a:srgbClr val="000000"/>
            </a:solidFill>
            <a:prstDash val="solid"/>
            <a:miter lim="800000"/>
            <a:headEnd len="med" w="med" type="none"/>
            <a:tailEnd len="med" w="med" type="triangle"/>
          </a:ln>
        </p:spPr>
      </p:cxnSp>
      <p:cxnSp>
        <p:nvCxnSpPr>
          <p:cNvPr id="170" name="Google Shape;170;p9"/>
          <p:cNvCxnSpPr/>
          <p:nvPr/>
        </p:nvCxnSpPr>
        <p:spPr>
          <a:xfrm>
            <a:off x="7391400" y="3810000"/>
            <a:ext cx="0" cy="1600200"/>
          </a:xfrm>
          <a:prstGeom prst="straightConnector1">
            <a:avLst/>
          </a:prstGeom>
          <a:noFill/>
          <a:ln cap="flat" cmpd="sng" w="9525">
            <a:solidFill>
              <a:srgbClr val="000000"/>
            </a:solidFill>
            <a:prstDash val="solid"/>
            <a:miter lim="800000"/>
            <a:headEnd len="med" w="med" type="none"/>
            <a:tailEnd len="med" w="med" type="triangle"/>
          </a:ln>
        </p:spPr>
      </p:cxnSp>
      <p:cxnSp>
        <p:nvCxnSpPr>
          <p:cNvPr id="171" name="Google Shape;171;p9"/>
          <p:cNvCxnSpPr/>
          <p:nvPr/>
        </p:nvCxnSpPr>
        <p:spPr>
          <a:xfrm rot="10800000">
            <a:off x="6400800" y="2895600"/>
            <a:ext cx="990600" cy="762000"/>
          </a:xfrm>
          <a:prstGeom prst="straightConnector1">
            <a:avLst/>
          </a:prstGeom>
          <a:noFill/>
          <a:ln cap="flat" cmpd="sng" w="9525">
            <a:solidFill>
              <a:srgbClr val="000000"/>
            </a:solidFill>
            <a:prstDash val="solid"/>
            <a:miter lim="800000"/>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177" name="Google Shape;177;p1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178" name="Google Shape;178;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Architecture of the Servlet Package</a:t>
            </a:r>
            <a:endParaRPr/>
          </a:p>
        </p:txBody>
      </p:sp>
      <p:sp>
        <p:nvSpPr>
          <p:cNvPr id="179" name="Google Shape;179;p10"/>
          <p:cNvSpPr txBox="1"/>
          <p:nvPr>
            <p:ph idx="1" type="body"/>
          </p:nvPr>
        </p:nvSpPr>
        <p:spPr>
          <a:xfrm>
            <a:off x="457200" y="1447800"/>
            <a:ext cx="5334000" cy="2209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560"/>
              <a:buFont typeface="Arial"/>
              <a:buChar char="•"/>
            </a:pPr>
            <a:r>
              <a:rPr b="0" i="0" lang="en-US" sz="3200" u="none">
                <a:solidFill>
                  <a:schemeClr val="dk1"/>
                </a:solidFill>
                <a:latin typeface="Calibri"/>
                <a:ea typeface="Calibri"/>
                <a:cs typeface="Calibri"/>
                <a:sym typeface="Calibri"/>
              </a:rPr>
              <a:t>The </a:t>
            </a:r>
            <a:r>
              <a:rPr b="0" i="1" lang="en-US" sz="3200" u="none">
                <a:solidFill>
                  <a:srgbClr val="0000FF"/>
                </a:solidFill>
                <a:latin typeface="Courier New"/>
                <a:ea typeface="Courier New"/>
                <a:cs typeface="Courier New"/>
                <a:sym typeface="Courier New"/>
              </a:rPr>
              <a:t>javax.servlet</a:t>
            </a:r>
            <a:r>
              <a:rPr b="0" i="0" lang="en-US" sz="3200" u="none">
                <a:solidFill>
                  <a:schemeClr val="dk1"/>
                </a:solidFill>
                <a:latin typeface="Calibri"/>
                <a:ea typeface="Calibri"/>
                <a:cs typeface="Calibri"/>
                <a:sym typeface="Calibri"/>
              </a:rPr>
              <a:t> package provides interfaces and classes for writing servlets</a:t>
            </a:r>
            <a:endParaRPr/>
          </a:p>
        </p:txBody>
      </p:sp>
      <p:pic>
        <p:nvPicPr>
          <p:cNvPr descr="inheritance" id="180" name="Google Shape;180;p10"/>
          <p:cNvPicPr preferRelativeResize="0"/>
          <p:nvPr/>
        </p:nvPicPr>
        <p:blipFill rotWithShape="1">
          <a:blip r:embed="rId3">
            <a:alphaModFix/>
          </a:blip>
          <a:srcRect b="0" l="0" r="0" t="0"/>
          <a:stretch/>
        </p:blipFill>
        <p:spPr>
          <a:xfrm>
            <a:off x="6248400" y="1447800"/>
            <a:ext cx="2328862" cy="2057400"/>
          </a:xfrm>
          <a:prstGeom prst="rect">
            <a:avLst/>
          </a:prstGeom>
          <a:noFill/>
          <a:ln>
            <a:noFill/>
          </a:ln>
        </p:spPr>
      </p:pic>
      <p:sp>
        <p:nvSpPr>
          <p:cNvPr id="181" name="Google Shape;181;p10"/>
          <p:cNvSpPr txBox="1"/>
          <p:nvPr/>
        </p:nvSpPr>
        <p:spPr>
          <a:xfrm>
            <a:off x="685800" y="3810000"/>
            <a:ext cx="8153400" cy="2514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0000"/>
              </a:buClr>
              <a:buSzPts val="2400"/>
              <a:buFont typeface="Arial"/>
              <a:buChar char="•"/>
            </a:pPr>
            <a:r>
              <a:rPr b="1" i="0" lang="en-US" sz="2400" u="none">
                <a:solidFill>
                  <a:srgbClr val="990000"/>
                </a:solidFill>
                <a:latin typeface="Calibri"/>
                <a:ea typeface="Calibri"/>
                <a:cs typeface="Calibri"/>
                <a:sym typeface="Calibri"/>
              </a:rPr>
              <a:t>When a servlet accepts a call from a client, it receives two objects:</a:t>
            </a:r>
            <a:endParaRPr/>
          </a:p>
          <a:p>
            <a:pPr indent="-285750" lvl="1" marL="742950" marR="0" rtl="0" algn="l">
              <a:lnSpc>
                <a:spcPct val="100000"/>
              </a:lnSpc>
              <a:spcBef>
                <a:spcPts val="400"/>
              </a:spcBef>
              <a:spcAft>
                <a:spcPts val="0"/>
              </a:spcAft>
              <a:buClr>
                <a:srgbClr val="0000FF"/>
              </a:buClr>
              <a:buSzPts val="2000"/>
              <a:buFont typeface="Arial"/>
              <a:buChar char="–"/>
            </a:pPr>
            <a:r>
              <a:rPr b="1" i="1" lang="en-US" sz="2000" u="none" cap="none" strike="noStrike">
                <a:solidFill>
                  <a:srgbClr val="0000FF"/>
                </a:solidFill>
                <a:latin typeface="Calibri"/>
                <a:ea typeface="Calibri"/>
                <a:cs typeface="Calibri"/>
                <a:sym typeface="Calibri"/>
              </a:rPr>
              <a:t>ServletRequest</a:t>
            </a:r>
            <a:r>
              <a:rPr b="1" i="0" lang="en-US" sz="2000" u="none" cap="none" strike="noStrike">
                <a:solidFill>
                  <a:srgbClr val="990000"/>
                </a:solidFill>
                <a:latin typeface="Calibri"/>
                <a:ea typeface="Calibri"/>
                <a:cs typeface="Calibri"/>
                <a:sym typeface="Calibri"/>
              </a:rPr>
              <a:t>, which encapsulates the communication from the client to the server. </a:t>
            </a:r>
            <a:endParaRPr/>
          </a:p>
          <a:p>
            <a:pPr indent="-285750" lvl="1" marL="742950" marR="0" rtl="0" algn="l">
              <a:lnSpc>
                <a:spcPct val="100000"/>
              </a:lnSpc>
              <a:spcBef>
                <a:spcPts val="400"/>
              </a:spcBef>
              <a:spcAft>
                <a:spcPts val="0"/>
              </a:spcAft>
              <a:buClr>
                <a:srgbClr val="0000FF"/>
              </a:buClr>
              <a:buSzPts val="2000"/>
              <a:buFont typeface="Arial"/>
              <a:buChar char="–"/>
            </a:pPr>
            <a:r>
              <a:rPr b="1" i="1" lang="en-US" sz="2000" u="none" cap="none" strike="noStrike">
                <a:solidFill>
                  <a:srgbClr val="0000FF"/>
                </a:solidFill>
                <a:latin typeface="Calibri"/>
                <a:ea typeface="Calibri"/>
                <a:cs typeface="Calibri"/>
                <a:sym typeface="Calibri"/>
              </a:rPr>
              <a:t>ServletResponse</a:t>
            </a:r>
            <a:r>
              <a:rPr b="1" i="0" lang="en-US" sz="2000" u="none" cap="none" strike="noStrike">
                <a:solidFill>
                  <a:srgbClr val="990000"/>
                </a:solidFill>
                <a:latin typeface="Calibri"/>
                <a:ea typeface="Calibri"/>
                <a:cs typeface="Calibri"/>
                <a:sym typeface="Calibri"/>
              </a:rPr>
              <a:t>, which encapsulates the communication from the servlet to the client.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187" name="Google Shape;187;p1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188" name="Google Shape;188;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HTTP Requests</a:t>
            </a:r>
            <a:endParaRPr/>
          </a:p>
        </p:txBody>
      </p:sp>
      <p:sp>
        <p:nvSpPr>
          <p:cNvPr id="189" name="Google Shape;189;p1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Font typeface="Arial"/>
              <a:buChar char="•"/>
            </a:pPr>
            <a:r>
              <a:rPr b="0" i="0" lang="en-US" sz="2400" u="none">
                <a:solidFill>
                  <a:schemeClr val="dk1"/>
                </a:solidFill>
                <a:latin typeface="Calibri"/>
                <a:ea typeface="Calibri"/>
                <a:cs typeface="Calibri"/>
                <a:sym typeface="Calibri"/>
              </a:rPr>
              <a:t>An HTTP request consists of </a:t>
            </a:r>
            <a:endParaRPr/>
          </a:p>
          <a:p>
            <a:pPr indent="-285750" lvl="1" marL="742950" rtl="0" algn="l">
              <a:lnSpc>
                <a:spcPct val="90000"/>
              </a:lnSpc>
              <a:spcBef>
                <a:spcPts val="400"/>
              </a:spcBef>
              <a:spcAft>
                <a:spcPts val="0"/>
              </a:spcAft>
              <a:buClr>
                <a:srgbClr val="0000FF"/>
              </a:buClr>
              <a:buSzPts val="2000"/>
              <a:buFont typeface="Arial"/>
              <a:buChar char="–"/>
            </a:pPr>
            <a:r>
              <a:rPr b="1" i="1" lang="en-US" sz="2000" u="none">
                <a:solidFill>
                  <a:srgbClr val="0000FF"/>
                </a:solidFill>
                <a:latin typeface="Courier New"/>
                <a:ea typeface="Courier New"/>
                <a:cs typeface="Courier New"/>
                <a:sym typeface="Courier New"/>
              </a:rPr>
              <a:t>a request method </a:t>
            </a:r>
            <a:endParaRPr/>
          </a:p>
          <a:p>
            <a:pPr indent="-285750" lvl="1" marL="742950" rtl="0" algn="l">
              <a:lnSpc>
                <a:spcPct val="90000"/>
              </a:lnSpc>
              <a:spcBef>
                <a:spcPts val="400"/>
              </a:spcBef>
              <a:spcAft>
                <a:spcPts val="0"/>
              </a:spcAft>
              <a:buClr>
                <a:srgbClr val="0000FF"/>
              </a:buClr>
              <a:buSzPts val="2000"/>
              <a:buFont typeface="Arial"/>
              <a:buChar char="–"/>
            </a:pPr>
            <a:r>
              <a:rPr b="1" i="1" lang="en-US" sz="2000" u="none">
                <a:solidFill>
                  <a:srgbClr val="0000FF"/>
                </a:solidFill>
                <a:latin typeface="Courier New"/>
                <a:ea typeface="Courier New"/>
                <a:cs typeface="Courier New"/>
                <a:sym typeface="Courier New"/>
              </a:rPr>
              <a:t>a request URL </a:t>
            </a:r>
            <a:endParaRPr/>
          </a:p>
          <a:p>
            <a:pPr indent="-285750" lvl="1" marL="742950" rtl="0" algn="l">
              <a:lnSpc>
                <a:spcPct val="90000"/>
              </a:lnSpc>
              <a:spcBef>
                <a:spcPts val="400"/>
              </a:spcBef>
              <a:spcAft>
                <a:spcPts val="0"/>
              </a:spcAft>
              <a:buClr>
                <a:srgbClr val="0000FF"/>
              </a:buClr>
              <a:buSzPts val="2000"/>
              <a:buFont typeface="Arial"/>
              <a:buChar char="–"/>
            </a:pPr>
            <a:r>
              <a:rPr b="1" i="1" lang="en-US" sz="2000" u="none">
                <a:solidFill>
                  <a:srgbClr val="0000FF"/>
                </a:solidFill>
                <a:latin typeface="Courier New"/>
                <a:ea typeface="Courier New"/>
                <a:cs typeface="Courier New"/>
                <a:sym typeface="Courier New"/>
              </a:rPr>
              <a:t>header fields </a:t>
            </a:r>
            <a:endParaRPr/>
          </a:p>
          <a:p>
            <a:pPr indent="-285750" lvl="1" marL="742950" rtl="0" algn="l">
              <a:lnSpc>
                <a:spcPct val="90000"/>
              </a:lnSpc>
              <a:spcBef>
                <a:spcPts val="400"/>
              </a:spcBef>
              <a:spcAft>
                <a:spcPts val="0"/>
              </a:spcAft>
              <a:buClr>
                <a:srgbClr val="0000FF"/>
              </a:buClr>
              <a:buSzPts val="2000"/>
              <a:buFont typeface="Arial"/>
              <a:buChar char="–"/>
            </a:pPr>
            <a:r>
              <a:rPr b="1" i="1" lang="en-US" sz="2000" u="none">
                <a:solidFill>
                  <a:srgbClr val="0000FF"/>
                </a:solidFill>
                <a:latin typeface="Courier New"/>
                <a:ea typeface="Courier New"/>
                <a:cs typeface="Courier New"/>
                <a:sym typeface="Courier New"/>
              </a:rPr>
              <a:t>body. </a:t>
            </a:r>
            <a:endParaRPr/>
          </a:p>
          <a:p>
            <a:pPr indent="-342900" lvl="0" marL="342900" rtl="0" algn="l">
              <a:lnSpc>
                <a:spcPct val="90000"/>
              </a:lnSpc>
              <a:spcBef>
                <a:spcPts val="480"/>
              </a:spcBef>
              <a:spcAft>
                <a:spcPts val="0"/>
              </a:spcAft>
              <a:buSzPts val="1920"/>
              <a:buFont typeface="Arial"/>
              <a:buChar char="•"/>
            </a:pPr>
            <a:r>
              <a:rPr b="0" i="0" lang="en-US" sz="2400" u="none">
                <a:solidFill>
                  <a:schemeClr val="dk1"/>
                </a:solidFill>
                <a:latin typeface="Calibri"/>
                <a:ea typeface="Calibri"/>
                <a:cs typeface="Calibri"/>
                <a:sym typeface="Calibri"/>
              </a:rPr>
              <a:t>HTTP 1.1 defines the following request methods:</a:t>
            </a:r>
            <a:endParaRPr/>
          </a:p>
          <a:p>
            <a:pPr indent="-285750" lvl="1" marL="742950" rtl="0" algn="l">
              <a:lnSpc>
                <a:spcPct val="90000"/>
              </a:lnSpc>
              <a:spcBef>
                <a:spcPts val="400"/>
              </a:spcBef>
              <a:spcAft>
                <a:spcPts val="0"/>
              </a:spcAft>
              <a:buClr>
                <a:srgbClr val="0000FF"/>
              </a:buClr>
              <a:buSzPts val="2000"/>
              <a:buFont typeface="Arial"/>
              <a:buChar char="–"/>
            </a:pPr>
            <a:r>
              <a:rPr b="1" i="0" lang="en-US" sz="2000" u="none">
                <a:solidFill>
                  <a:srgbClr val="0000FF"/>
                </a:solidFill>
                <a:latin typeface="Calibri"/>
                <a:ea typeface="Calibri"/>
                <a:cs typeface="Calibri"/>
                <a:sym typeface="Calibri"/>
              </a:rPr>
              <a:t>GET</a:t>
            </a:r>
            <a:r>
              <a:rPr b="0" i="0" lang="en-US" sz="2000" u="none">
                <a:solidFill>
                  <a:srgbClr val="0000FF"/>
                </a:solidFill>
                <a:latin typeface="Calibri"/>
                <a:ea typeface="Calibri"/>
                <a:cs typeface="Calibri"/>
                <a:sym typeface="Calibri"/>
              </a:rPr>
              <a:t> - retrieves the resource identified by the request URL. </a:t>
            </a:r>
            <a:endParaRPr/>
          </a:p>
          <a:p>
            <a:pPr indent="-285750" lvl="1" marL="742950" rtl="0" algn="l">
              <a:lnSpc>
                <a:spcPct val="90000"/>
              </a:lnSpc>
              <a:spcBef>
                <a:spcPts val="400"/>
              </a:spcBef>
              <a:spcAft>
                <a:spcPts val="0"/>
              </a:spcAft>
              <a:buClr>
                <a:srgbClr val="0000FF"/>
              </a:buClr>
              <a:buSzPts val="2000"/>
              <a:buFont typeface="Arial"/>
              <a:buChar char="–"/>
            </a:pPr>
            <a:r>
              <a:rPr b="1" i="0" lang="en-US" sz="2000" u="none">
                <a:solidFill>
                  <a:srgbClr val="0000FF"/>
                </a:solidFill>
                <a:latin typeface="Calibri"/>
                <a:ea typeface="Calibri"/>
                <a:cs typeface="Calibri"/>
                <a:sym typeface="Calibri"/>
              </a:rPr>
              <a:t>HEAD</a:t>
            </a:r>
            <a:r>
              <a:rPr b="0" i="0" lang="en-US" sz="2000" u="none">
                <a:solidFill>
                  <a:srgbClr val="0000FF"/>
                </a:solidFill>
                <a:latin typeface="Calibri"/>
                <a:ea typeface="Calibri"/>
                <a:cs typeface="Calibri"/>
                <a:sym typeface="Calibri"/>
              </a:rPr>
              <a:t> - returns the headers identified by the request URL. </a:t>
            </a:r>
            <a:endParaRPr/>
          </a:p>
          <a:p>
            <a:pPr indent="-285750" lvl="1" marL="742950" rtl="0" algn="l">
              <a:lnSpc>
                <a:spcPct val="90000"/>
              </a:lnSpc>
              <a:spcBef>
                <a:spcPts val="400"/>
              </a:spcBef>
              <a:spcAft>
                <a:spcPts val="0"/>
              </a:spcAft>
              <a:buClr>
                <a:srgbClr val="0000FF"/>
              </a:buClr>
              <a:buSzPts val="2000"/>
              <a:buFont typeface="Arial"/>
              <a:buChar char="–"/>
            </a:pPr>
            <a:r>
              <a:rPr b="1" i="0" lang="en-US" sz="2000" u="none">
                <a:solidFill>
                  <a:srgbClr val="0000FF"/>
                </a:solidFill>
                <a:latin typeface="Calibri"/>
                <a:ea typeface="Calibri"/>
                <a:cs typeface="Calibri"/>
                <a:sym typeface="Calibri"/>
              </a:rPr>
              <a:t>POST</a:t>
            </a:r>
            <a:r>
              <a:rPr b="0" i="0" lang="en-US" sz="2000" u="none">
                <a:solidFill>
                  <a:srgbClr val="0000FF"/>
                </a:solidFill>
                <a:latin typeface="Calibri"/>
                <a:ea typeface="Calibri"/>
                <a:cs typeface="Calibri"/>
                <a:sym typeface="Calibri"/>
              </a:rPr>
              <a:t> - sends data of unlimited length to the web server. </a:t>
            </a:r>
            <a:endParaRPr/>
          </a:p>
          <a:p>
            <a:pPr indent="-285750" lvl="1" marL="742950" rtl="0" algn="l">
              <a:lnSpc>
                <a:spcPct val="90000"/>
              </a:lnSpc>
              <a:spcBef>
                <a:spcPts val="400"/>
              </a:spcBef>
              <a:spcAft>
                <a:spcPts val="0"/>
              </a:spcAft>
              <a:buClr>
                <a:srgbClr val="0000FF"/>
              </a:buClr>
              <a:buSzPts val="2000"/>
              <a:buFont typeface="Arial"/>
              <a:buChar char="–"/>
            </a:pPr>
            <a:r>
              <a:rPr b="1" i="0" lang="en-US" sz="2000" u="none">
                <a:solidFill>
                  <a:srgbClr val="0000FF"/>
                </a:solidFill>
                <a:latin typeface="Calibri"/>
                <a:ea typeface="Calibri"/>
                <a:cs typeface="Calibri"/>
                <a:sym typeface="Calibri"/>
              </a:rPr>
              <a:t>PUT</a:t>
            </a:r>
            <a:r>
              <a:rPr b="0" i="0" lang="en-US" sz="2000" u="none">
                <a:solidFill>
                  <a:srgbClr val="0000FF"/>
                </a:solidFill>
                <a:latin typeface="Calibri"/>
                <a:ea typeface="Calibri"/>
                <a:cs typeface="Calibri"/>
                <a:sym typeface="Calibri"/>
              </a:rPr>
              <a:t> - stores a resource under the request URL. </a:t>
            </a:r>
            <a:endParaRPr/>
          </a:p>
          <a:p>
            <a:pPr indent="-285750" lvl="1" marL="742950" rtl="0" algn="l">
              <a:lnSpc>
                <a:spcPct val="90000"/>
              </a:lnSpc>
              <a:spcBef>
                <a:spcPts val="400"/>
              </a:spcBef>
              <a:spcAft>
                <a:spcPts val="0"/>
              </a:spcAft>
              <a:buClr>
                <a:srgbClr val="0000FF"/>
              </a:buClr>
              <a:buSzPts val="2000"/>
              <a:buFont typeface="Arial"/>
              <a:buChar char="–"/>
            </a:pPr>
            <a:r>
              <a:rPr b="1" i="0" lang="en-US" sz="2000" u="none">
                <a:solidFill>
                  <a:srgbClr val="0000FF"/>
                </a:solidFill>
                <a:latin typeface="Calibri"/>
                <a:ea typeface="Calibri"/>
                <a:cs typeface="Calibri"/>
                <a:sym typeface="Calibri"/>
              </a:rPr>
              <a:t>DELETE</a:t>
            </a:r>
            <a:r>
              <a:rPr b="0" i="0" lang="en-US" sz="2000" u="none">
                <a:solidFill>
                  <a:srgbClr val="0000FF"/>
                </a:solidFill>
                <a:latin typeface="Calibri"/>
                <a:ea typeface="Calibri"/>
                <a:cs typeface="Calibri"/>
                <a:sym typeface="Calibri"/>
              </a:rPr>
              <a:t> - removes the resource identified by the request URL. </a:t>
            </a:r>
            <a:endParaRPr/>
          </a:p>
          <a:p>
            <a:pPr indent="-285750" lvl="1" marL="742950" rtl="0" algn="l">
              <a:lnSpc>
                <a:spcPct val="90000"/>
              </a:lnSpc>
              <a:spcBef>
                <a:spcPts val="400"/>
              </a:spcBef>
              <a:spcAft>
                <a:spcPts val="0"/>
              </a:spcAft>
              <a:buClr>
                <a:srgbClr val="0000FF"/>
              </a:buClr>
              <a:buSzPts val="2000"/>
              <a:buFont typeface="Arial"/>
              <a:buChar char="–"/>
            </a:pPr>
            <a:r>
              <a:rPr b="1" i="0" lang="en-US" sz="2000" u="none">
                <a:solidFill>
                  <a:srgbClr val="0000FF"/>
                </a:solidFill>
                <a:latin typeface="Calibri"/>
                <a:ea typeface="Calibri"/>
                <a:cs typeface="Calibri"/>
                <a:sym typeface="Calibri"/>
              </a:rPr>
              <a:t>OPTIONS</a:t>
            </a:r>
            <a:r>
              <a:rPr b="0" i="0" lang="en-US" sz="2000" u="none">
                <a:solidFill>
                  <a:srgbClr val="0000FF"/>
                </a:solidFill>
                <a:latin typeface="Calibri"/>
                <a:ea typeface="Calibri"/>
                <a:cs typeface="Calibri"/>
                <a:sym typeface="Calibri"/>
              </a:rPr>
              <a:t> - returns the HTTP methods the server supports. </a:t>
            </a:r>
            <a:endParaRPr/>
          </a:p>
          <a:p>
            <a:pPr indent="-285750" lvl="1" marL="742950" rtl="0" algn="l">
              <a:lnSpc>
                <a:spcPct val="90000"/>
              </a:lnSpc>
              <a:spcBef>
                <a:spcPts val="400"/>
              </a:spcBef>
              <a:spcAft>
                <a:spcPts val="0"/>
              </a:spcAft>
              <a:buClr>
                <a:srgbClr val="0000FF"/>
              </a:buClr>
              <a:buSzPts val="2000"/>
              <a:buFont typeface="Arial"/>
              <a:buChar char="–"/>
            </a:pPr>
            <a:r>
              <a:rPr b="1" i="0" lang="en-US" sz="2000" u="none">
                <a:solidFill>
                  <a:srgbClr val="0000FF"/>
                </a:solidFill>
                <a:latin typeface="Calibri"/>
                <a:ea typeface="Calibri"/>
                <a:cs typeface="Calibri"/>
                <a:sym typeface="Calibri"/>
              </a:rPr>
              <a:t>TRACE</a:t>
            </a:r>
            <a:r>
              <a:rPr b="0" i="0" lang="en-US" sz="2000" u="none">
                <a:solidFill>
                  <a:srgbClr val="0000FF"/>
                </a:solidFill>
                <a:latin typeface="Calibri"/>
                <a:ea typeface="Calibri"/>
                <a:cs typeface="Calibri"/>
                <a:sym typeface="Calibri"/>
              </a:rPr>
              <a:t> - returns the header fields sent with the TRACE request.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HTTP Request Sample</a:t>
            </a:r>
            <a:endParaRPr/>
          </a:p>
        </p:txBody>
      </p:sp>
      <p:sp>
        <p:nvSpPr>
          <p:cNvPr id="195" name="Google Shape;195;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196" name="Google Shape;196;p12"/>
          <p:cNvSpPr txBox="1"/>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t>
            </a:r>
            <a:endParaRPr/>
          </a:p>
        </p:txBody>
      </p:sp>
      <p:sp>
        <p:nvSpPr>
          <p:cNvPr id="197" name="Google Shape;197;p12"/>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198" name="Google Shape;198;p1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grpSp>
        <p:nvGrpSpPr>
          <p:cNvPr id="199" name="Google Shape;199;p12"/>
          <p:cNvGrpSpPr/>
          <p:nvPr/>
        </p:nvGrpSpPr>
        <p:grpSpPr>
          <a:xfrm>
            <a:off x="609600" y="1752600"/>
            <a:ext cx="8289925" cy="3657600"/>
            <a:chOff x="609600" y="2209800"/>
            <a:chExt cx="8290560" cy="3657600"/>
          </a:xfrm>
        </p:grpSpPr>
        <p:pic>
          <p:nvPicPr>
            <p:cNvPr id="200" name="Google Shape;200;p12"/>
            <p:cNvPicPr preferRelativeResize="0"/>
            <p:nvPr/>
          </p:nvPicPr>
          <p:blipFill rotWithShape="1">
            <a:blip r:embed="rId3">
              <a:alphaModFix/>
            </a:blip>
            <a:srcRect b="0" l="0" r="0" t="0"/>
            <a:stretch/>
          </p:blipFill>
          <p:spPr>
            <a:xfrm>
              <a:off x="609600" y="2438400"/>
              <a:ext cx="8077200" cy="3429000"/>
            </a:xfrm>
            <a:prstGeom prst="rect">
              <a:avLst/>
            </a:prstGeom>
            <a:noFill/>
            <a:ln>
              <a:noFill/>
            </a:ln>
          </p:spPr>
        </p:pic>
        <p:pic>
          <p:nvPicPr>
            <p:cNvPr id="201" name="Google Shape;201;p12"/>
            <p:cNvPicPr preferRelativeResize="0"/>
            <p:nvPr/>
          </p:nvPicPr>
          <p:blipFill rotWithShape="1">
            <a:blip r:embed="rId4">
              <a:alphaModFix/>
            </a:blip>
            <a:srcRect b="0" l="0" r="0" t="0"/>
            <a:stretch/>
          </p:blipFill>
          <p:spPr>
            <a:xfrm>
              <a:off x="762000" y="2209800"/>
              <a:ext cx="8138160" cy="457200"/>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Arial"/>
              <a:buNone/>
            </a:pPr>
            <a:r>
              <a:rPr b="1" i="0" lang="en-US" sz="4400" u="none">
                <a:solidFill>
                  <a:schemeClr val="dk1"/>
                </a:solidFill>
                <a:latin typeface="Arial"/>
                <a:ea typeface="Arial"/>
                <a:cs typeface="Arial"/>
                <a:sym typeface="Arial"/>
              </a:rPr>
              <a:t>Idempotency and Safety Methods</a:t>
            </a:r>
            <a:endParaRPr/>
          </a:p>
        </p:txBody>
      </p:sp>
      <p:sp>
        <p:nvSpPr>
          <p:cNvPr id="208" name="Google Shape;208;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09" name="Google Shape;209;p13"/>
          <p:cNvSpPr txBox="1"/>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t>
            </a:r>
            <a:endParaRPr/>
          </a:p>
        </p:txBody>
      </p:sp>
      <p:sp>
        <p:nvSpPr>
          <p:cNvPr id="210" name="Google Shape;210;p13"/>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11" name="Google Shape;211;p1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pic>
        <p:nvPicPr>
          <p:cNvPr id="212" name="Google Shape;212;p13"/>
          <p:cNvPicPr preferRelativeResize="0"/>
          <p:nvPr/>
        </p:nvPicPr>
        <p:blipFill rotWithShape="1">
          <a:blip r:embed="rId3">
            <a:alphaModFix/>
          </a:blip>
          <a:srcRect b="0" l="0" r="0" t="0"/>
          <a:stretch/>
        </p:blipFill>
        <p:spPr>
          <a:xfrm>
            <a:off x="838200" y="1752600"/>
            <a:ext cx="7467600" cy="4114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18" name="Google Shape;218;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19" name="Google Shape;219;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HTTP Responses</a:t>
            </a:r>
            <a:endParaRPr/>
          </a:p>
        </p:txBody>
      </p:sp>
      <p:sp>
        <p:nvSpPr>
          <p:cNvPr id="220" name="Google Shape;220;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00"/>
              <a:buFont typeface="Arial"/>
              <a:buChar char="•"/>
            </a:pPr>
            <a:r>
              <a:rPr b="0" i="0" lang="en-US" sz="2000" u="none">
                <a:solidFill>
                  <a:schemeClr val="dk1"/>
                </a:solidFill>
                <a:latin typeface="Calibri"/>
                <a:ea typeface="Calibri"/>
                <a:cs typeface="Calibri"/>
                <a:sym typeface="Calibri"/>
              </a:rPr>
              <a:t>An HTTP response contains</a:t>
            </a:r>
            <a:endParaRPr/>
          </a:p>
          <a:p>
            <a:pPr indent="-285750" lvl="1" marL="742950" rtl="0" algn="l">
              <a:lnSpc>
                <a:spcPct val="80000"/>
              </a:lnSpc>
              <a:spcBef>
                <a:spcPts val="400"/>
              </a:spcBef>
              <a:spcAft>
                <a:spcPts val="0"/>
              </a:spcAft>
              <a:buClr>
                <a:srgbClr val="0000FF"/>
              </a:buClr>
              <a:buSzPts val="2000"/>
              <a:buFont typeface="Arial"/>
              <a:buChar char="–"/>
            </a:pPr>
            <a:r>
              <a:rPr b="1" i="1" lang="en-US" sz="2000" u="none">
                <a:solidFill>
                  <a:srgbClr val="0000FF"/>
                </a:solidFill>
                <a:latin typeface="Courier New"/>
                <a:ea typeface="Courier New"/>
                <a:cs typeface="Courier New"/>
                <a:sym typeface="Courier New"/>
              </a:rPr>
              <a:t>a result code </a:t>
            </a:r>
            <a:endParaRPr/>
          </a:p>
          <a:p>
            <a:pPr indent="-285750" lvl="1" marL="742950" rtl="0" algn="l">
              <a:lnSpc>
                <a:spcPct val="80000"/>
              </a:lnSpc>
              <a:spcBef>
                <a:spcPts val="400"/>
              </a:spcBef>
              <a:spcAft>
                <a:spcPts val="0"/>
              </a:spcAft>
              <a:buClr>
                <a:srgbClr val="0000FF"/>
              </a:buClr>
              <a:buSzPts val="2000"/>
              <a:buFont typeface="Arial"/>
              <a:buChar char="–"/>
            </a:pPr>
            <a:r>
              <a:rPr b="1" i="1" lang="en-US" sz="2000" u="none">
                <a:solidFill>
                  <a:srgbClr val="0000FF"/>
                </a:solidFill>
                <a:latin typeface="Courier New"/>
                <a:ea typeface="Courier New"/>
                <a:cs typeface="Courier New"/>
                <a:sym typeface="Courier New"/>
              </a:rPr>
              <a:t>header fields</a:t>
            </a:r>
            <a:endParaRPr/>
          </a:p>
          <a:p>
            <a:pPr indent="-285750" lvl="1" marL="742950" rtl="0" algn="l">
              <a:lnSpc>
                <a:spcPct val="80000"/>
              </a:lnSpc>
              <a:spcBef>
                <a:spcPts val="400"/>
              </a:spcBef>
              <a:spcAft>
                <a:spcPts val="0"/>
              </a:spcAft>
              <a:buClr>
                <a:srgbClr val="0000FF"/>
              </a:buClr>
              <a:buSzPts val="2000"/>
              <a:buFont typeface="Arial"/>
              <a:buChar char="–"/>
            </a:pPr>
            <a:r>
              <a:rPr b="1" i="1" lang="en-US" sz="2000" u="none">
                <a:solidFill>
                  <a:srgbClr val="0000FF"/>
                </a:solidFill>
                <a:latin typeface="Courier New"/>
                <a:ea typeface="Courier New"/>
                <a:cs typeface="Courier New"/>
                <a:sym typeface="Courier New"/>
              </a:rPr>
              <a:t>a body</a:t>
            </a:r>
            <a:endParaRPr/>
          </a:p>
          <a:p>
            <a:pPr indent="-342900" lvl="0" marL="342900" rtl="0" algn="l">
              <a:lnSpc>
                <a:spcPct val="80000"/>
              </a:lnSpc>
              <a:spcBef>
                <a:spcPts val="400"/>
              </a:spcBef>
              <a:spcAft>
                <a:spcPts val="0"/>
              </a:spcAft>
              <a:buSzPts val="1600"/>
              <a:buFont typeface="Arial"/>
              <a:buChar char="•"/>
            </a:pPr>
            <a:r>
              <a:rPr b="0" i="0" lang="en-US" sz="2000" u="none">
                <a:solidFill>
                  <a:schemeClr val="dk1"/>
                </a:solidFill>
                <a:latin typeface="Calibri"/>
                <a:ea typeface="Calibri"/>
                <a:cs typeface="Calibri"/>
                <a:sym typeface="Calibri"/>
              </a:rPr>
              <a:t>The HTTP protocol expects the result code and all header fields to be returned before any body content</a:t>
            </a:r>
            <a:endParaRPr/>
          </a:p>
          <a:p>
            <a:pPr indent="-342900" lvl="0" marL="342900" rtl="0" algn="l">
              <a:lnSpc>
                <a:spcPct val="80000"/>
              </a:lnSpc>
              <a:spcBef>
                <a:spcPts val="400"/>
              </a:spcBef>
              <a:spcAft>
                <a:spcPts val="0"/>
              </a:spcAft>
              <a:buSzPts val="1600"/>
              <a:buFont typeface="Arial"/>
              <a:buChar char="•"/>
            </a:pPr>
            <a:r>
              <a:rPr b="0" i="0" lang="en-US" sz="2000" u="none">
                <a:solidFill>
                  <a:schemeClr val="dk1"/>
                </a:solidFill>
                <a:latin typeface="Calibri"/>
                <a:ea typeface="Calibri"/>
                <a:cs typeface="Calibri"/>
                <a:sym typeface="Calibri"/>
              </a:rPr>
              <a:t>Some commonly used status codes include: </a:t>
            </a:r>
            <a:endParaRPr/>
          </a:p>
          <a:p>
            <a:pPr indent="-285750" lvl="1" marL="742950" rtl="0" algn="l">
              <a:lnSpc>
                <a:spcPct val="80000"/>
              </a:lnSpc>
              <a:spcBef>
                <a:spcPts val="360"/>
              </a:spcBef>
              <a:spcAft>
                <a:spcPts val="0"/>
              </a:spcAft>
              <a:buClr>
                <a:srgbClr val="0000FF"/>
              </a:buClr>
              <a:buSzPts val="1800"/>
              <a:buFont typeface="Arial"/>
              <a:buChar char="–"/>
            </a:pPr>
            <a:r>
              <a:rPr b="1" i="0" lang="en-US" sz="1800" u="none">
                <a:solidFill>
                  <a:srgbClr val="0000FF"/>
                </a:solidFill>
                <a:latin typeface="Courier New"/>
                <a:ea typeface="Courier New"/>
                <a:cs typeface="Courier New"/>
                <a:sym typeface="Courier New"/>
              </a:rPr>
              <a:t>404</a:t>
            </a:r>
            <a:r>
              <a:rPr b="1" i="1" lang="en-US" sz="1800" u="none">
                <a:solidFill>
                  <a:srgbClr val="993300"/>
                </a:solidFill>
                <a:latin typeface="Courier New"/>
                <a:ea typeface="Courier New"/>
                <a:cs typeface="Courier New"/>
                <a:sym typeface="Courier New"/>
              </a:rPr>
              <a:t> - indicates that the requested resource is not available. </a:t>
            </a:r>
            <a:endParaRPr/>
          </a:p>
          <a:p>
            <a:pPr indent="-285750" lvl="1" marL="742950" rtl="0" algn="l">
              <a:lnSpc>
                <a:spcPct val="80000"/>
              </a:lnSpc>
              <a:spcBef>
                <a:spcPts val="360"/>
              </a:spcBef>
              <a:spcAft>
                <a:spcPts val="0"/>
              </a:spcAft>
              <a:buClr>
                <a:srgbClr val="0000FF"/>
              </a:buClr>
              <a:buSzPts val="1800"/>
              <a:buFont typeface="Arial"/>
              <a:buChar char="–"/>
            </a:pPr>
            <a:r>
              <a:rPr b="1" i="0" lang="en-US" sz="1800" u="none">
                <a:solidFill>
                  <a:srgbClr val="0000FF"/>
                </a:solidFill>
                <a:latin typeface="Courier New"/>
                <a:ea typeface="Courier New"/>
                <a:cs typeface="Courier New"/>
                <a:sym typeface="Courier New"/>
              </a:rPr>
              <a:t>401</a:t>
            </a:r>
            <a:r>
              <a:rPr b="1" i="1" lang="en-US" sz="1800" u="none">
                <a:solidFill>
                  <a:srgbClr val="993300"/>
                </a:solidFill>
                <a:latin typeface="Courier New"/>
                <a:ea typeface="Courier New"/>
                <a:cs typeface="Courier New"/>
                <a:sym typeface="Courier New"/>
              </a:rPr>
              <a:t> - indicates that the request requires HTTP authentication. </a:t>
            </a:r>
            <a:endParaRPr/>
          </a:p>
          <a:p>
            <a:pPr indent="-285750" lvl="1" marL="742950" rtl="0" algn="l">
              <a:lnSpc>
                <a:spcPct val="80000"/>
              </a:lnSpc>
              <a:spcBef>
                <a:spcPts val="360"/>
              </a:spcBef>
              <a:spcAft>
                <a:spcPts val="0"/>
              </a:spcAft>
              <a:buClr>
                <a:srgbClr val="0000FF"/>
              </a:buClr>
              <a:buSzPts val="1800"/>
              <a:buFont typeface="Arial"/>
              <a:buChar char="–"/>
            </a:pPr>
            <a:r>
              <a:rPr b="1" i="0" lang="en-US" sz="1800" u="none">
                <a:solidFill>
                  <a:srgbClr val="0000FF"/>
                </a:solidFill>
                <a:latin typeface="Courier New"/>
                <a:ea typeface="Courier New"/>
                <a:cs typeface="Courier New"/>
                <a:sym typeface="Courier New"/>
              </a:rPr>
              <a:t>500</a:t>
            </a:r>
            <a:r>
              <a:rPr b="1" i="1" lang="en-US" sz="1800" u="none">
                <a:solidFill>
                  <a:srgbClr val="993300"/>
                </a:solidFill>
                <a:latin typeface="Courier New"/>
                <a:ea typeface="Courier New"/>
                <a:cs typeface="Courier New"/>
                <a:sym typeface="Courier New"/>
              </a:rPr>
              <a:t> - indicates an error inside the HTTP server which prevented it from fulfilling the request. </a:t>
            </a:r>
            <a:endParaRPr/>
          </a:p>
          <a:p>
            <a:pPr indent="-285750" lvl="1" marL="742950" rtl="0" algn="l">
              <a:lnSpc>
                <a:spcPct val="80000"/>
              </a:lnSpc>
              <a:spcBef>
                <a:spcPts val="360"/>
              </a:spcBef>
              <a:spcAft>
                <a:spcPts val="0"/>
              </a:spcAft>
              <a:buClr>
                <a:srgbClr val="0000FF"/>
              </a:buClr>
              <a:buSzPts val="1800"/>
              <a:buFont typeface="Arial"/>
              <a:buChar char="–"/>
            </a:pPr>
            <a:r>
              <a:rPr b="1" i="0" lang="en-US" sz="1800" u="none">
                <a:solidFill>
                  <a:srgbClr val="0000FF"/>
                </a:solidFill>
                <a:latin typeface="Courier New"/>
                <a:ea typeface="Courier New"/>
                <a:cs typeface="Courier New"/>
                <a:sym typeface="Courier New"/>
              </a:rPr>
              <a:t>503</a:t>
            </a:r>
            <a:r>
              <a:rPr b="1" i="1" lang="en-US" sz="1800" u="none">
                <a:solidFill>
                  <a:srgbClr val="993300"/>
                </a:solidFill>
                <a:latin typeface="Courier New"/>
                <a:ea typeface="Courier New"/>
                <a:cs typeface="Courier New"/>
                <a:sym typeface="Courier New"/>
              </a:rPr>
              <a:t> - indicates that the HTTP server is temporarily overloaded, and unable to handle the request.</a:t>
            </a:r>
            <a:r>
              <a:rPr b="0" i="0" lang="en-US" sz="1800" u="none">
                <a:solidFill>
                  <a:schemeClr val="dk1"/>
                </a:solidFill>
                <a:latin typeface="Calibri"/>
                <a:ea typeface="Calibri"/>
                <a:cs typeface="Calibri"/>
                <a:sym typeface="Calibri"/>
              </a:rPr>
              <a:t> </a:t>
            </a:r>
            <a:endParaRPr/>
          </a:p>
          <a:p>
            <a:pPr indent="-251459" lvl="0" marL="342900" rtl="0" algn="l">
              <a:spcBef>
                <a:spcPts val="360"/>
              </a:spcBef>
              <a:spcAft>
                <a:spcPts val="0"/>
              </a:spcAft>
              <a:buClr>
                <a:srgbClr val="538CD5"/>
              </a:buClr>
              <a:buSzPts val="1440"/>
              <a:buFont typeface="Noto Sans Symbols"/>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26" name="Google Shape;226;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27" name="Google Shape;227;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HTTP 1.1 Status Codes</a:t>
            </a:r>
            <a:endParaRPr/>
          </a:p>
        </p:txBody>
      </p:sp>
      <p:sp>
        <p:nvSpPr>
          <p:cNvPr id="228" name="Google Shape;228;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609600" lvl="0" marL="609600" rtl="0" algn="l">
              <a:lnSpc>
                <a:spcPct val="80000"/>
              </a:lnSpc>
              <a:spcBef>
                <a:spcPts val="0"/>
              </a:spcBef>
              <a:spcAft>
                <a:spcPts val="0"/>
              </a:spcAft>
              <a:buSzPts val="1440"/>
              <a:buAutoNum type="arabicPlain" startAt="101"/>
            </a:pPr>
            <a:r>
              <a:rPr b="0" i="0" lang="en-US" sz="1800" u="none">
                <a:solidFill>
                  <a:srgbClr val="2119C7"/>
                </a:solidFill>
                <a:latin typeface="Calibri"/>
                <a:ea typeface="Calibri"/>
                <a:cs typeface="Calibri"/>
                <a:sym typeface="Calibri"/>
              </a:rPr>
              <a:t> </a:t>
            </a:r>
            <a:r>
              <a:rPr b="0" i="1" lang="en-US" sz="1800" u="none">
                <a:solidFill>
                  <a:srgbClr val="2119C7"/>
                </a:solidFill>
                <a:latin typeface="Courier New"/>
                <a:ea typeface="Courier New"/>
                <a:cs typeface="Courier New"/>
                <a:sym typeface="Courier New"/>
              </a:rPr>
              <a:t>Switching</a:t>
            </a:r>
            <a:r>
              <a:rPr b="0" i="1" lang="en-US" sz="1800" u="none">
                <a:solidFill>
                  <a:schemeClr val="dk1"/>
                </a:solidFill>
                <a:latin typeface="Courier New"/>
                <a:ea typeface="Courier New"/>
                <a:cs typeface="Courier New"/>
                <a:sym typeface="Courier New"/>
              </a:rPr>
              <a:t> </a:t>
            </a:r>
            <a:r>
              <a:rPr b="0" i="1" lang="en-US" sz="1800" u="none">
                <a:solidFill>
                  <a:srgbClr val="2119C7"/>
                </a:solidFill>
                <a:latin typeface="Courier New"/>
                <a:ea typeface="Courier New"/>
                <a:cs typeface="Courier New"/>
                <a:sym typeface="Courier New"/>
              </a:rPr>
              <a:t>Protocols</a:t>
            </a:r>
            <a:r>
              <a:rPr b="0" i="1" lang="en-US" sz="1800" u="none">
                <a:solidFill>
                  <a:schemeClr val="dk1"/>
                </a:solidFill>
                <a:latin typeface="Courier New"/>
                <a:ea typeface="Courier New"/>
                <a:cs typeface="Courier New"/>
                <a:sym typeface="Courier New"/>
              </a:rPr>
              <a:t> </a:t>
            </a:r>
            <a:endParaRPr/>
          </a:p>
          <a:p>
            <a:pPr indent="-609600" lvl="0" marL="609600" rtl="0" algn="l">
              <a:lnSpc>
                <a:spcPct val="80000"/>
              </a:lnSpc>
              <a:spcBef>
                <a:spcPts val="360"/>
              </a:spcBef>
              <a:spcAft>
                <a:spcPts val="0"/>
              </a:spcAft>
              <a:buSzPts val="1440"/>
              <a:buNone/>
            </a:pPr>
            <a:r>
              <a:rPr b="0" i="1" lang="en-US" sz="1800" u="none">
                <a:solidFill>
                  <a:schemeClr val="dk1"/>
                </a:solidFill>
                <a:latin typeface="Calibri"/>
                <a:ea typeface="Calibri"/>
                <a:cs typeface="Calibri"/>
                <a:sym typeface="Calibri"/>
              </a:rPr>
              <a:t>	</a:t>
            </a:r>
            <a:r>
              <a:rPr b="0" i="1" lang="en-US" sz="1800" u="none">
                <a:solidFill>
                  <a:schemeClr val="dk1"/>
                </a:solidFill>
                <a:latin typeface="Courier New"/>
                <a:ea typeface="Courier New"/>
                <a:cs typeface="Courier New"/>
                <a:sym typeface="Courier New"/>
              </a:rPr>
              <a:t>Server will comply with Upgrade header and change to different protocol. (New in HTTP 1.1) </a:t>
            </a:r>
            <a:endParaRPr/>
          </a:p>
          <a:p>
            <a:pPr indent="-609600" lvl="0" marL="609600" rtl="0" algn="l">
              <a:lnSpc>
                <a:spcPct val="80000"/>
              </a:lnSpc>
              <a:spcBef>
                <a:spcPts val="360"/>
              </a:spcBef>
              <a:spcAft>
                <a:spcPts val="0"/>
              </a:spcAft>
              <a:buSzPts val="1440"/>
              <a:buAutoNum type="arabicPlain" startAt="200"/>
            </a:pPr>
            <a:r>
              <a:rPr b="0" i="0" lang="en-US" sz="1800" u="none">
                <a:solidFill>
                  <a:srgbClr val="2119C7"/>
                </a:solidFill>
                <a:latin typeface="Calibri"/>
                <a:ea typeface="Calibri"/>
                <a:cs typeface="Calibri"/>
                <a:sym typeface="Calibri"/>
              </a:rPr>
              <a:t> </a:t>
            </a:r>
            <a:r>
              <a:rPr b="0" i="1" lang="en-US" sz="1800" u="none">
                <a:solidFill>
                  <a:srgbClr val="2119C7"/>
                </a:solidFill>
                <a:latin typeface="Courier New"/>
                <a:ea typeface="Courier New"/>
                <a:cs typeface="Courier New"/>
                <a:sym typeface="Courier New"/>
              </a:rPr>
              <a:t>OK</a:t>
            </a:r>
            <a:r>
              <a:rPr b="0" i="1" lang="en-US" sz="1800" u="none">
                <a:solidFill>
                  <a:schemeClr val="dk1"/>
                </a:solidFill>
                <a:latin typeface="Courier New"/>
                <a:ea typeface="Courier New"/>
                <a:cs typeface="Courier New"/>
                <a:sym typeface="Courier New"/>
              </a:rPr>
              <a:t> </a:t>
            </a:r>
            <a:r>
              <a:rPr b="0" i="0" lang="en-US" sz="1800" u="none">
                <a:solidFill>
                  <a:schemeClr val="dk1"/>
                </a:solidFill>
                <a:latin typeface="Courier New"/>
                <a:ea typeface="Courier New"/>
                <a:cs typeface="Courier New"/>
                <a:sym typeface="Courier New"/>
              </a:rPr>
              <a:t> </a:t>
            </a:r>
            <a:r>
              <a:rPr b="0" i="0" lang="en-US" sz="1800" u="none">
                <a:solidFill>
                  <a:schemeClr val="dk1"/>
                </a:solidFill>
                <a:latin typeface="Calibri"/>
                <a:ea typeface="Calibri"/>
                <a:cs typeface="Calibri"/>
                <a:sym typeface="Calibri"/>
              </a:rPr>
              <a:t> </a:t>
            </a:r>
            <a:endParaRPr/>
          </a:p>
          <a:p>
            <a:pPr indent="-609600" lvl="0" marL="609600" rtl="0" algn="l">
              <a:lnSpc>
                <a:spcPct val="80000"/>
              </a:lnSpc>
              <a:spcBef>
                <a:spcPts val="360"/>
              </a:spcBef>
              <a:spcAft>
                <a:spcPts val="0"/>
              </a:spcAft>
              <a:buSzPts val="1440"/>
              <a:buNone/>
            </a:pPr>
            <a:r>
              <a:rPr b="0" i="1" lang="en-US" sz="1800" u="none">
                <a:solidFill>
                  <a:schemeClr val="dk1"/>
                </a:solidFill>
                <a:latin typeface="Calibri"/>
                <a:ea typeface="Calibri"/>
                <a:cs typeface="Calibri"/>
                <a:sym typeface="Calibri"/>
              </a:rPr>
              <a:t>	</a:t>
            </a:r>
            <a:r>
              <a:rPr b="0" i="1" lang="en-US" sz="1800" u="none">
                <a:solidFill>
                  <a:schemeClr val="dk1"/>
                </a:solidFill>
                <a:latin typeface="Courier New"/>
                <a:ea typeface="Courier New"/>
                <a:cs typeface="Courier New"/>
                <a:sym typeface="Courier New"/>
              </a:rPr>
              <a:t>Everything's fine; document follows for GET and POST requests. This is the default for servlets; if you don't use setStatus, you'll get this. </a:t>
            </a:r>
            <a:endParaRPr/>
          </a:p>
          <a:p>
            <a:pPr indent="-609600" lvl="0" marL="609600" rtl="0" algn="l">
              <a:lnSpc>
                <a:spcPct val="80000"/>
              </a:lnSpc>
              <a:spcBef>
                <a:spcPts val="360"/>
              </a:spcBef>
              <a:spcAft>
                <a:spcPts val="0"/>
              </a:spcAft>
              <a:buSzPts val="1440"/>
              <a:buAutoNum type="arabicPlain" startAt="201"/>
            </a:pPr>
            <a:r>
              <a:rPr b="0" i="0" lang="en-US" sz="1800" u="none">
                <a:solidFill>
                  <a:srgbClr val="2119C7"/>
                </a:solidFill>
                <a:latin typeface="Calibri"/>
                <a:ea typeface="Calibri"/>
                <a:cs typeface="Calibri"/>
                <a:sym typeface="Calibri"/>
              </a:rPr>
              <a:t> </a:t>
            </a:r>
            <a:r>
              <a:rPr b="0" i="1" lang="en-US" sz="1800" u="none">
                <a:solidFill>
                  <a:srgbClr val="2119C7"/>
                </a:solidFill>
                <a:latin typeface="Courier New"/>
                <a:ea typeface="Courier New"/>
                <a:cs typeface="Courier New"/>
                <a:sym typeface="Courier New"/>
              </a:rPr>
              <a:t>Created</a:t>
            </a:r>
            <a:r>
              <a:rPr b="0" i="1" lang="en-US" sz="1800" u="none">
                <a:solidFill>
                  <a:schemeClr val="dk1"/>
                </a:solidFill>
                <a:latin typeface="Courier New"/>
                <a:ea typeface="Courier New"/>
                <a:cs typeface="Courier New"/>
                <a:sym typeface="Courier New"/>
              </a:rPr>
              <a:t>  </a:t>
            </a:r>
            <a:endParaRPr/>
          </a:p>
          <a:p>
            <a:pPr indent="-609600" lvl="0" marL="609600" rtl="0" algn="l">
              <a:lnSpc>
                <a:spcPct val="80000"/>
              </a:lnSpc>
              <a:spcBef>
                <a:spcPts val="360"/>
              </a:spcBef>
              <a:spcAft>
                <a:spcPts val="0"/>
              </a:spcAft>
              <a:buSzPts val="1440"/>
              <a:buNone/>
            </a:pPr>
            <a:r>
              <a:rPr b="0" i="1" lang="en-US" sz="1800" u="none">
                <a:solidFill>
                  <a:schemeClr val="dk1"/>
                </a:solidFill>
                <a:latin typeface="Calibri"/>
                <a:ea typeface="Calibri"/>
                <a:cs typeface="Calibri"/>
                <a:sym typeface="Calibri"/>
              </a:rPr>
              <a:t>	</a:t>
            </a:r>
            <a:r>
              <a:rPr b="0" i="1" lang="en-US" sz="1800" u="none">
                <a:solidFill>
                  <a:schemeClr val="dk1"/>
                </a:solidFill>
                <a:latin typeface="Courier New"/>
                <a:ea typeface="Courier New"/>
                <a:cs typeface="Courier New"/>
                <a:sym typeface="Courier New"/>
              </a:rPr>
              <a:t>Server created a document; the Location header indicates its URL. </a:t>
            </a:r>
            <a:endParaRPr/>
          </a:p>
          <a:p>
            <a:pPr indent="-609600" lvl="0" marL="6096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a:t>
            </a:r>
            <a:r>
              <a:rPr b="0" i="0" lang="en-US" sz="1800" u="none">
                <a:solidFill>
                  <a:srgbClr val="2119C7"/>
                </a:solidFill>
                <a:latin typeface="Calibri"/>
                <a:ea typeface="Calibri"/>
                <a:cs typeface="Calibri"/>
                <a:sym typeface="Calibri"/>
              </a:rPr>
              <a:t>202 </a:t>
            </a:r>
            <a:r>
              <a:rPr b="0" i="1" lang="en-US" sz="1800" u="none">
                <a:solidFill>
                  <a:srgbClr val="2119C7"/>
                </a:solidFill>
                <a:latin typeface="Courier New"/>
                <a:ea typeface="Courier New"/>
                <a:cs typeface="Courier New"/>
                <a:sym typeface="Courier New"/>
              </a:rPr>
              <a:t>Accepted</a:t>
            </a:r>
            <a:r>
              <a:rPr b="0" i="1" lang="en-US" sz="1800" u="none">
                <a:solidFill>
                  <a:schemeClr val="dk1"/>
                </a:solidFill>
                <a:latin typeface="Courier New"/>
                <a:ea typeface="Courier New"/>
                <a:cs typeface="Courier New"/>
                <a:sym typeface="Courier New"/>
              </a:rPr>
              <a:t> </a:t>
            </a:r>
            <a:r>
              <a:rPr b="0" i="1" lang="en-US" sz="1800" u="none">
                <a:solidFill>
                  <a:schemeClr val="dk1"/>
                </a:solidFill>
                <a:latin typeface="Calibri"/>
                <a:ea typeface="Calibri"/>
                <a:cs typeface="Calibri"/>
                <a:sym typeface="Calibri"/>
              </a:rPr>
              <a:t> </a:t>
            </a:r>
            <a:endParaRPr/>
          </a:p>
          <a:p>
            <a:pPr indent="-609600" lvl="0" marL="6096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a:t>
            </a:r>
            <a:r>
              <a:rPr b="0" i="1" lang="en-US" sz="1800" u="none">
                <a:solidFill>
                  <a:schemeClr val="dk1"/>
                </a:solidFill>
                <a:latin typeface="Courier New"/>
                <a:ea typeface="Courier New"/>
                <a:cs typeface="Courier New"/>
                <a:sym typeface="Courier New"/>
              </a:rPr>
              <a:t>Request is being acted upon, but processing is not completed.</a:t>
            </a:r>
            <a:r>
              <a:rPr b="0" i="1" lang="en-US" sz="1800" u="none">
                <a:solidFill>
                  <a:schemeClr val="dk1"/>
                </a:solidFill>
                <a:latin typeface="Calibri"/>
                <a:ea typeface="Calibri"/>
                <a:cs typeface="Calibri"/>
                <a:sym typeface="Calibri"/>
              </a:rPr>
              <a:t> </a:t>
            </a:r>
            <a:endParaRPr/>
          </a:p>
          <a:p>
            <a:pPr indent="-609600" lvl="0" marL="6096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a:t>
            </a:r>
            <a:r>
              <a:rPr b="0" i="0" lang="en-US" sz="1800" u="none">
                <a:solidFill>
                  <a:srgbClr val="2119C7"/>
                </a:solidFill>
                <a:latin typeface="Calibri"/>
                <a:ea typeface="Calibri"/>
                <a:cs typeface="Calibri"/>
                <a:sym typeface="Calibri"/>
              </a:rPr>
              <a:t>203 </a:t>
            </a:r>
            <a:r>
              <a:rPr b="0" i="1" lang="en-US" sz="1800" u="none">
                <a:solidFill>
                  <a:srgbClr val="2119C7"/>
                </a:solidFill>
                <a:latin typeface="Courier New"/>
                <a:ea typeface="Courier New"/>
                <a:cs typeface="Courier New"/>
                <a:sym typeface="Courier New"/>
              </a:rPr>
              <a:t>Non-Authoritative Information</a:t>
            </a:r>
            <a:r>
              <a:rPr b="0" i="0" lang="en-US" sz="1800" u="none">
                <a:solidFill>
                  <a:schemeClr val="dk1"/>
                </a:solidFill>
                <a:latin typeface="Calibri"/>
                <a:ea typeface="Calibri"/>
                <a:cs typeface="Calibri"/>
                <a:sym typeface="Calibri"/>
              </a:rPr>
              <a:t>   </a:t>
            </a:r>
            <a:endParaRPr/>
          </a:p>
          <a:p>
            <a:pPr indent="-609600" lvl="0" marL="6096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a:t>
            </a:r>
            <a:r>
              <a:rPr b="0" i="1" lang="en-US" sz="1800" u="none">
                <a:solidFill>
                  <a:srgbClr val="993300"/>
                </a:solidFill>
                <a:latin typeface="Courier New"/>
                <a:ea typeface="Courier New"/>
                <a:cs typeface="Courier New"/>
                <a:sym typeface="Courier New"/>
              </a:rPr>
              <a:t>Document is being returned normally, but some of the response headers might be incorrect since a document copy is being used. </a:t>
            </a:r>
            <a:endParaRPr/>
          </a:p>
          <a:p>
            <a:pPr indent="-251459" lvl="0" marL="342900" rtl="0" algn="l">
              <a:spcBef>
                <a:spcPts val="360"/>
              </a:spcBef>
              <a:spcAft>
                <a:spcPts val="0"/>
              </a:spcAft>
              <a:buClr>
                <a:srgbClr val="538CD5"/>
              </a:buClr>
              <a:buSzPts val="1440"/>
              <a:buFont typeface="Noto Sans Symbols"/>
              <a:buNone/>
            </a:pPr>
            <a:r>
              <a:t/>
            </a:r>
            <a:endParaRPr b="0" i="1" sz="1800" u="none">
              <a:solidFill>
                <a:srgbClr val="993300"/>
              </a:solidFill>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HTTP Response Sample</a:t>
            </a:r>
            <a:endParaRPr/>
          </a:p>
        </p:txBody>
      </p:sp>
      <p:sp>
        <p:nvSpPr>
          <p:cNvPr id="234" name="Google Shape;234;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35" name="Google Shape;235;p16"/>
          <p:cNvSpPr txBox="1"/>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t>
            </a:r>
            <a:endParaRPr/>
          </a:p>
        </p:txBody>
      </p:sp>
      <p:sp>
        <p:nvSpPr>
          <p:cNvPr id="236" name="Google Shape;236;p16"/>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37" name="Google Shape;237;p1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pic>
        <p:nvPicPr>
          <p:cNvPr id="238" name="Google Shape;238;p16"/>
          <p:cNvPicPr preferRelativeResize="0"/>
          <p:nvPr/>
        </p:nvPicPr>
        <p:blipFill rotWithShape="1">
          <a:blip r:embed="rId3">
            <a:alphaModFix/>
          </a:blip>
          <a:srcRect b="0" l="0" r="0" t="0"/>
          <a:stretch/>
        </p:blipFill>
        <p:spPr>
          <a:xfrm>
            <a:off x="304800" y="1600200"/>
            <a:ext cx="8509000" cy="4572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44" name="Google Shape;244;p1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45" name="Google Shape;245;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 Simple Servlet</a:t>
            </a:r>
            <a:endParaRPr/>
          </a:p>
        </p:txBody>
      </p:sp>
      <p:sp>
        <p:nvSpPr>
          <p:cNvPr id="246" name="Google Shape;246;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00"/>
              <a:buNone/>
            </a:pPr>
            <a:r>
              <a:rPr b="1" i="0" lang="en-US" sz="2000" u="none">
                <a:solidFill>
                  <a:srgbClr val="2119C7"/>
                </a:solidFill>
                <a:latin typeface="Courier New"/>
                <a:ea typeface="Courier New"/>
                <a:cs typeface="Courier New"/>
                <a:sym typeface="Courier New"/>
              </a:rPr>
              <a:t>import java.io.*;</a:t>
            </a:r>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import javax.servlet.*;</a:t>
            </a:r>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import javax.servlet.http.*;</a:t>
            </a:r>
            <a:endParaRPr/>
          </a:p>
          <a:p>
            <a:pPr indent="-342900" lvl="0" marL="342900" rtl="0" algn="l">
              <a:lnSpc>
                <a:spcPct val="80000"/>
              </a:lnSpc>
              <a:spcBef>
                <a:spcPts val="400"/>
              </a:spcBef>
              <a:spcAft>
                <a:spcPts val="0"/>
              </a:spcAft>
              <a:buSzPts val="1600"/>
              <a:buNone/>
            </a:pPr>
            <a:r>
              <a:t/>
            </a:r>
            <a:endParaRPr b="1" i="0" sz="2000" u="none">
              <a:solidFill>
                <a:srgbClr val="2119C7"/>
              </a:solidFill>
              <a:latin typeface="Courier New"/>
              <a:ea typeface="Courier New"/>
              <a:cs typeface="Courier New"/>
              <a:sym typeface="Courier New"/>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public class FirstServlet extends HttpServlet {</a:t>
            </a:r>
            <a:endParaRPr/>
          </a:p>
          <a:p>
            <a:pPr indent="-342900" lvl="0" marL="342900" rtl="0" algn="l">
              <a:lnSpc>
                <a:spcPct val="80000"/>
              </a:lnSpc>
              <a:spcBef>
                <a:spcPts val="400"/>
              </a:spcBef>
              <a:spcAft>
                <a:spcPts val="0"/>
              </a:spcAft>
              <a:buSzPts val="1600"/>
              <a:buNone/>
            </a:pPr>
            <a:r>
              <a:t/>
            </a:r>
            <a:endParaRPr b="1" i="0" sz="2000" u="none">
              <a:solidFill>
                <a:srgbClr val="2119C7"/>
              </a:solidFill>
              <a:latin typeface="Courier New"/>
              <a:ea typeface="Courier New"/>
              <a:cs typeface="Courier New"/>
              <a:sym typeface="Courier New"/>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  </a:t>
            </a:r>
            <a:r>
              <a:rPr b="1" i="1" lang="en-US" sz="2000" u="none">
                <a:solidFill>
                  <a:srgbClr val="2119C7"/>
                </a:solidFill>
                <a:latin typeface="Courier New"/>
                <a:ea typeface="Courier New"/>
                <a:cs typeface="Courier New"/>
                <a:sym typeface="Courier New"/>
              </a:rPr>
              <a:t>public void </a:t>
            </a:r>
            <a:r>
              <a:rPr b="1" i="1" lang="en-US" sz="2000" u="none">
                <a:solidFill>
                  <a:srgbClr val="993300"/>
                </a:solidFill>
                <a:latin typeface="Courier New"/>
                <a:ea typeface="Courier New"/>
                <a:cs typeface="Courier New"/>
                <a:sym typeface="Courier New"/>
              </a:rPr>
              <a:t>doGet</a:t>
            </a:r>
            <a:r>
              <a:rPr b="1" i="1" lang="en-US" sz="2000" u="none">
                <a:solidFill>
                  <a:srgbClr val="2119C7"/>
                </a:solidFill>
                <a:latin typeface="Courier New"/>
                <a:ea typeface="Courier New"/>
                <a:cs typeface="Courier New"/>
                <a:sym typeface="Courier New"/>
              </a:rPr>
              <a:t>(HttpServletRequest </a:t>
            </a:r>
            <a:r>
              <a:rPr b="1" i="1" lang="en-US" sz="2000" u="none">
                <a:solidFill>
                  <a:srgbClr val="993300"/>
                </a:solidFill>
                <a:latin typeface="Courier New"/>
                <a:ea typeface="Courier New"/>
                <a:cs typeface="Courier New"/>
                <a:sym typeface="Courier New"/>
              </a:rPr>
              <a:t>request</a:t>
            </a:r>
            <a:r>
              <a:rPr b="1" i="1" lang="en-US" sz="2000" u="none">
                <a:solidFill>
                  <a:srgbClr val="2119C7"/>
                </a:solidFill>
                <a:latin typeface="Courier New"/>
                <a:ea typeface="Courier New"/>
                <a:cs typeface="Courier New"/>
                <a:sym typeface="Courier New"/>
              </a:rPr>
              <a:t>,</a:t>
            </a:r>
            <a:endParaRPr/>
          </a:p>
          <a:p>
            <a:pPr indent="-342900" lvl="0" marL="342900" rtl="0" algn="l">
              <a:lnSpc>
                <a:spcPct val="80000"/>
              </a:lnSpc>
              <a:spcBef>
                <a:spcPts val="400"/>
              </a:spcBef>
              <a:spcAft>
                <a:spcPts val="0"/>
              </a:spcAft>
              <a:buSzPts val="1600"/>
              <a:buNone/>
            </a:pPr>
            <a:r>
              <a:rPr b="1" i="1" lang="en-US" sz="2000" u="none">
                <a:solidFill>
                  <a:srgbClr val="2119C7"/>
                </a:solidFill>
                <a:latin typeface="Courier New"/>
                <a:ea typeface="Courier New"/>
                <a:cs typeface="Courier New"/>
                <a:sym typeface="Courier New"/>
              </a:rPr>
              <a:t>		HttpServletResponse </a:t>
            </a:r>
            <a:r>
              <a:rPr b="1" i="1" lang="en-US" sz="2000" u="none">
                <a:solidFill>
                  <a:srgbClr val="993300"/>
                </a:solidFill>
                <a:latin typeface="Courier New"/>
                <a:ea typeface="Courier New"/>
                <a:cs typeface="Courier New"/>
                <a:sym typeface="Courier New"/>
              </a:rPr>
              <a:t>response)</a:t>
            </a:r>
            <a:endParaRPr/>
          </a:p>
          <a:p>
            <a:pPr indent="-342900" lvl="0" marL="342900" rtl="0" algn="l">
              <a:lnSpc>
                <a:spcPct val="80000"/>
              </a:lnSpc>
              <a:spcBef>
                <a:spcPts val="400"/>
              </a:spcBef>
              <a:spcAft>
                <a:spcPts val="0"/>
              </a:spcAft>
              <a:buSzPts val="1600"/>
              <a:buNone/>
            </a:pPr>
            <a:r>
              <a:rPr b="1" i="1" lang="en-US" sz="2000" u="none">
                <a:solidFill>
                  <a:srgbClr val="2119C7"/>
                </a:solidFill>
                <a:latin typeface="Courier New"/>
                <a:ea typeface="Courier New"/>
                <a:cs typeface="Courier New"/>
                <a:sym typeface="Courier New"/>
              </a:rPr>
              <a:t>		throws ServletException, IOException </a:t>
            </a:r>
            <a:endParaRPr/>
          </a:p>
          <a:p>
            <a:pPr indent="-342900" lvl="0" marL="342900" rtl="0" algn="l">
              <a:lnSpc>
                <a:spcPct val="80000"/>
              </a:lnSpc>
              <a:spcBef>
                <a:spcPts val="400"/>
              </a:spcBef>
              <a:spcAft>
                <a:spcPts val="0"/>
              </a:spcAft>
              <a:buSzPts val="1600"/>
              <a:buNone/>
            </a:pPr>
            <a:r>
              <a:rPr b="1" i="1" lang="en-US" sz="2000" u="none">
                <a:solidFill>
                  <a:srgbClr val="2119C7"/>
                </a:solidFill>
                <a:latin typeface="Courier New"/>
                <a:ea typeface="Courier New"/>
                <a:cs typeface="Courier New"/>
                <a:sym typeface="Courier New"/>
              </a:rPr>
              <a:t>	{</a:t>
            </a:r>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    PrintWriter out = response.getWriter();</a:t>
            </a:r>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    out.println(</a:t>
            </a:r>
            <a:r>
              <a:rPr b="1" i="0" lang="en-US" sz="2000" u="none">
                <a:solidFill>
                  <a:srgbClr val="2119C7"/>
                </a:solidFill>
                <a:latin typeface="Calibri"/>
                <a:ea typeface="Calibri"/>
                <a:cs typeface="Calibri"/>
                <a:sym typeface="Calibri"/>
              </a:rPr>
              <a:t>“</a:t>
            </a:r>
            <a:r>
              <a:rPr b="1" i="0" lang="en-US" sz="2000" u="none">
                <a:solidFill>
                  <a:srgbClr val="2119C7"/>
                </a:solidFill>
                <a:latin typeface="Courier New"/>
                <a:ea typeface="Courier New"/>
                <a:cs typeface="Courier New"/>
                <a:sym typeface="Courier New"/>
              </a:rPr>
              <a:t>&lt;h1&gt;First Servlet&lt;/h1&gt;");</a:t>
            </a:r>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  	}</a:t>
            </a:r>
            <a:endParaRPr/>
          </a:p>
          <a:p>
            <a:pPr indent="-342900" lvl="0" marL="342900" rtl="0" algn="l">
              <a:lnSpc>
                <a:spcPct val="80000"/>
              </a:lnSpc>
              <a:spcBef>
                <a:spcPts val="400"/>
              </a:spcBef>
              <a:spcAft>
                <a:spcPts val="0"/>
              </a:spcAft>
              <a:buSzPts val="1600"/>
              <a:buNone/>
            </a:pPr>
            <a:r>
              <a:rPr b="1" i="0" lang="en-US" sz="2000" u="none">
                <a:solidFill>
                  <a:srgbClr val="2119C7"/>
                </a:solidFill>
                <a:latin typeface="Courier New"/>
                <a:ea typeface="Courier New"/>
                <a:cs typeface="Courier New"/>
                <a:sym typeface="Courier New"/>
              </a:rPr>
              <a:t>}</a:t>
            </a:r>
            <a:endParaRPr/>
          </a:p>
          <a:p>
            <a:pPr indent="-241300" lvl="0" marL="342900" rtl="0" algn="l">
              <a:spcBef>
                <a:spcPts val="400"/>
              </a:spcBef>
              <a:spcAft>
                <a:spcPts val="0"/>
              </a:spcAft>
              <a:buClr>
                <a:srgbClr val="538CD5"/>
              </a:buClr>
              <a:buSzPts val="1600"/>
              <a:buFont typeface="Noto Sans Symbols"/>
              <a:buNone/>
            </a:pPr>
            <a:r>
              <a:t/>
            </a:r>
            <a:endParaRPr b="1" i="0" sz="2000" u="none">
              <a:solidFill>
                <a:srgbClr val="2119C7"/>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8"/>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52" name="Google Shape;252;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53" name="Google Shape;253;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First Sevlet Demo</a:t>
            </a:r>
            <a:endParaRPr/>
          </a:p>
        </p:txBody>
      </p:sp>
      <p:sp>
        <p:nvSpPr>
          <p:cNvPr id="254" name="Google Shape;254;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3200"/>
              <a:buNone/>
            </a:pPr>
            <a:r>
              <a:t/>
            </a:r>
            <a:endParaRPr b="0" i="0" sz="4000" u="none">
              <a:solidFill>
                <a:schemeClr val="dk1"/>
              </a:solidFill>
              <a:latin typeface="Calibri"/>
              <a:ea typeface="Calibri"/>
              <a:cs typeface="Calibri"/>
              <a:sym typeface="Calibri"/>
            </a:endParaRPr>
          </a:p>
          <a:p>
            <a:pPr indent="-342900" lvl="0" marL="342900" rtl="0" algn="l">
              <a:lnSpc>
                <a:spcPct val="100000"/>
              </a:lnSpc>
              <a:spcBef>
                <a:spcPts val="800"/>
              </a:spcBef>
              <a:spcAft>
                <a:spcPts val="0"/>
              </a:spcAft>
              <a:buSzPts val="3200"/>
              <a:buNone/>
            </a:pPr>
            <a:r>
              <a:t/>
            </a:r>
            <a:endParaRPr b="0" i="0" sz="4000" u="none">
              <a:solidFill>
                <a:schemeClr val="dk1"/>
              </a:solidFill>
              <a:latin typeface="Calibri"/>
              <a:ea typeface="Calibri"/>
              <a:cs typeface="Calibri"/>
              <a:sym typeface="Calibri"/>
            </a:endParaRPr>
          </a:p>
          <a:p>
            <a:pPr indent="-342900" lvl="0" marL="342900" rtl="0" algn="l">
              <a:lnSpc>
                <a:spcPct val="100000"/>
              </a:lnSpc>
              <a:spcBef>
                <a:spcPts val="800"/>
              </a:spcBef>
              <a:spcAft>
                <a:spcPts val="0"/>
              </a:spcAft>
              <a:buSzPts val="3200"/>
              <a:buNone/>
            </a:pPr>
            <a:r>
              <a:t/>
            </a:r>
            <a:endParaRPr b="0" i="0" sz="4000" u="none">
              <a:solidFill>
                <a:schemeClr val="dk1"/>
              </a:solidFill>
              <a:latin typeface="Calibri"/>
              <a:ea typeface="Calibri"/>
              <a:cs typeface="Calibri"/>
              <a:sym typeface="Calibri"/>
            </a:endParaRPr>
          </a:p>
          <a:p>
            <a:pPr indent="-342900" lvl="0" marL="342900" rtl="0" algn="ctr">
              <a:lnSpc>
                <a:spcPct val="100000"/>
              </a:lnSpc>
              <a:spcBef>
                <a:spcPts val="480"/>
              </a:spcBef>
              <a:spcAft>
                <a:spcPts val="0"/>
              </a:spcAft>
              <a:buSzPts val="1920"/>
              <a:buNone/>
            </a:pPr>
            <a:r>
              <a:rPr b="0" i="0" lang="en-US" sz="2400" u="none">
                <a:solidFill>
                  <a:schemeClr val="dk1"/>
                </a:solidFill>
                <a:latin typeface="Calibri"/>
                <a:ea typeface="Calibri"/>
                <a:cs typeface="Calibri"/>
                <a:sym typeface="Calibri"/>
              </a:rPr>
              <a:t>Demo\FirstServlet\WEB-INF\classes\FirstServlet.java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60" name="Google Shape;260;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61" name="Google Shape;261;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993300"/>
              </a:buClr>
              <a:buSzPts val="4400"/>
              <a:buFont typeface="Calibri"/>
              <a:buNone/>
            </a:pPr>
            <a:r>
              <a:rPr b="1" i="0" lang="en-US" sz="4400" u="none">
                <a:solidFill>
                  <a:srgbClr val="993300"/>
                </a:solidFill>
                <a:latin typeface="Calibri"/>
                <a:ea typeface="Calibri"/>
                <a:cs typeface="Calibri"/>
                <a:sym typeface="Calibri"/>
              </a:rPr>
              <a:t>The Servlet Life Cycle</a:t>
            </a:r>
            <a:endParaRPr/>
          </a:p>
        </p:txBody>
      </p:sp>
      <p:pic>
        <p:nvPicPr>
          <p:cNvPr descr="lifecycle" id="262" name="Google Shape;262;p19"/>
          <p:cNvPicPr preferRelativeResize="0"/>
          <p:nvPr/>
        </p:nvPicPr>
        <p:blipFill rotWithShape="1">
          <a:blip r:embed="rId3">
            <a:alphaModFix/>
          </a:blip>
          <a:srcRect b="0" l="0" r="0" t="0"/>
          <a:stretch/>
        </p:blipFill>
        <p:spPr>
          <a:xfrm>
            <a:off x="2819400" y="1828800"/>
            <a:ext cx="5334000" cy="3884612"/>
          </a:xfrm>
          <a:prstGeom prst="rect">
            <a:avLst/>
          </a:prstGeom>
          <a:noFill/>
          <a:ln>
            <a:noFill/>
          </a:ln>
        </p:spPr>
      </p:pic>
      <p:sp>
        <p:nvSpPr>
          <p:cNvPr id="263" name="Google Shape;263;p19"/>
          <p:cNvSpPr txBox="1"/>
          <p:nvPr/>
        </p:nvSpPr>
        <p:spPr>
          <a:xfrm>
            <a:off x="1905000" y="1981200"/>
            <a:ext cx="847725" cy="450850"/>
          </a:xfrm>
          <a:prstGeom prst="rect">
            <a:avLst/>
          </a:prstGeom>
          <a:solidFill>
            <a:srgbClr val="FFFF00"/>
          </a:solidFill>
          <a:ln cap="flat" cmpd="sng" w="53975">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urier New"/>
              <a:buNone/>
            </a:pPr>
            <a:r>
              <a:rPr b="1" i="1" lang="en-US" sz="2000" u="none">
                <a:solidFill>
                  <a:srgbClr val="0000FF"/>
                </a:solidFill>
                <a:latin typeface="Courier New"/>
                <a:ea typeface="Courier New"/>
                <a:cs typeface="Courier New"/>
                <a:sym typeface="Courier New"/>
              </a:rPr>
              <a:t>init</a:t>
            </a:r>
            <a:endParaRPr/>
          </a:p>
        </p:txBody>
      </p:sp>
      <p:sp>
        <p:nvSpPr>
          <p:cNvPr id="264" name="Google Shape;264;p19"/>
          <p:cNvSpPr txBox="1"/>
          <p:nvPr/>
        </p:nvSpPr>
        <p:spPr>
          <a:xfrm>
            <a:off x="838200" y="3048000"/>
            <a:ext cx="1905000" cy="781050"/>
          </a:xfrm>
          <a:prstGeom prst="rect">
            <a:avLst/>
          </a:prstGeom>
          <a:solidFill>
            <a:srgbClr val="FFFF00"/>
          </a:solidFill>
          <a:ln cap="rnd" cmpd="sng" w="384175">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urier New"/>
              <a:buNone/>
            </a:pPr>
            <a:r>
              <a:rPr b="1" i="1" lang="en-US" sz="2000" u="none">
                <a:solidFill>
                  <a:srgbClr val="0000FF"/>
                </a:solidFill>
                <a:latin typeface="Courier New"/>
                <a:ea typeface="Courier New"/>
                <a:cs typeface="Courier New"/>
                <a:sym typeface="Courier New"/>
              </a:rPr>
              <a:t>service</a:t>
            </a:r>
            <a:endParaRPr/>
          </a:p>
        </p:txBody>
      </p:sp>
      <p:sp>
        <p:nvSpPr>
          <p:cNvPr id="265" name="Google Shape;265;p19"/>
          <p:cNvSpPr txBox="1"/>
          <p:nvPr/>
        </p:nvSpPr>
        <p:spPr>
          <a:xfrm>
            <a:off x="1524000" y="4800600"/>
            <a:ext cx="1304925" cy="450850"/>
          </a:xfrm>
          <a:prstGeom prst="rect">
            <a:avLst/>
          </a:prstGeom>
          <a:solidFill>
            <a:srgbClr val="FFFF00"/>
          </a:solidFill>
          <a:ln cap="flat" cmpd="sng" w="53975">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urier New"/>
              <a:buNone/>
            </a:pPr>
            <a:r>
              <a:rPr b="1" i="1" lang="en-US" sz="2000" u="none">
                <a:solidFill>
                  <a:srgbClr val="0000FF"/>
                </a:solidFill>
                <a:latin typeface="Courier New"/>
                <a:ea typeface="Courier New"/>
                <a:cs typeface="Courier New"/>
                <a:sym typeface="Courier New"/>
              </a:rPr>
              <a:t>destroy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0"/>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71" name="Google Shape;271;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72" name="Google Shape;272;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HttpServlet Class</a:t>
            </a:r>
            <a:endParaRPr/>
          </a:p>
        </p:txBody>
      </p:sp>
      <p:sp>
        <p:nvSpPr>
          <p:cNvPr id="273" name="Google Shape;273;p20"/>
          <p:cNvSpPr txBox="1"/>
          <p:nvPr>
            <p:ph idx="1" type="body"/>
          </p:nvPr>
        </p:nvSpPr>
        <p:spPr>
          <a:xfrm>
            <a:off x="304800" y="1295400"/>
            <a:ext cx="8610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Font typeface="Arial"/>
              <a:buChar char="•"/>
            </a:pPr>
            <a:r>
              <a:rPr b="0" i="0" lang="en-US" sz="2400" u="none">
                <a:solidFill>
                  <a:srgbClr val="993300"/>
                </a:solidFill>
                <a:latin typeface="Arial"/>
                <a:ea typeface="Arial"/>
                <a:cs typeface="Arial"/>
                <a:sym typeface="Arial"/>
              </a:rPr>
              <a:t>The protocol defines a set of text-based request messages called HTTP </a:t>
            </a:r>
            <a:r>
              <a:rPr b="0" i="0" lang="en-US" sz="2400" u="none">
                <a:solidFill>
                  <a:srgbClr val="993300"/>
                </a:solidFill>
                <a:latin typeface="Calibri"/>
                <a:ea typeface="Calibri"/>
                <a:cs typeface="Calibri"/>
                <a:sym typeface="Calibri"/>
              </a:rPr>
              <a:t>‘</a:t>
            </a:r>
            <a:r>
              <a:rPr b="0" i="0" lang="en-US" sz="2400" u="none">
                <a:solidFill>
                  <a:srgbClr val="993300"/>
                </a:solidFill>
                <a:latin typeface="Arial"/>
                <a:ea typeface="Arial"/>
                <a:cs typeface="Arial"/>
                <a:sym typeface="Arial"/>
              </a:rPr>
              <a:t>methods</a:t>
            </a:r>
            <a:r>
              <a:rPr b="0" i="0" lang="en-US" sz="2400" u="none">
                <a:solidFill>
                  <a:srgbClr val="993300"/>
                </a:solidFill>
                <a:latin typeface="Calibri"/>
                <a:ea typeface="Calibri"/>
                <a:cs typeface="Calibri"/>
                <a:sym typeface="Calibri"/>
              </a:rPr>
              <a:t>’</a:t>
            </a:r>
            <a:r>
              <a:rPr b="0" i="0" lang="en-US" sz="2400" u="none">
                <a:solidFill>
                  <a:schemeClr val="dk1"/>
                </a:solidFill>
                <a:latin typeface="Arial"/>
                <a:ea typeface="Arial"/>
                <a:cs typeface="Arial"/>
                <a:sym typeface="Arial"/>
              </a:rPr>
              <a:t> implemented in </a:t>
            </a:r>
            <a:r>
              <a:rPr b="0" i="1" lang="en-US" sz="2400" u="none">
                <a:solidFill>
                  <a:srgbClr val="0000FF"/>
                </a:solidFill>
                <a:latin typeface="Calibri"/>
                <a:ea typeface="Calibri"/>
                <a:cs typeface="Calibri"/>
                <a:sym typeface="Calibri"/>
              </a:rPr>
              <a:t>HttpServlet</a:t>
            </a:r>
            <a:r>
              <a:rPr b="0" i="0" lang="en-US" sz="2400" u="none">
                <a:solidFill>
                  <a:schemeClr val="dk1"/>
                </a:solidFill>
                <a:latin typeface="Calibri"/>
                <a:ea typeface="Calibri"/>
                <a:cs typeface="Calibri"/>
                <a:sym typeface="Calibri"/>
              </a:rPr>
              <a:t> class</a:t>
            </a:r>
            <a:r>
              <a:rPr b="0" i="0" lang="en-US" sz="2400" u="none">
                <a:solidFill>
                  <a:srgbClr val="2119C7"/>
                </a:solidFill>
                <a:latin typeface="Arial"/>
                <a:ea typeface="Arial"/>
                <a:cs typeface="Arial"/>
                <a:sym typeface="Arial"/>
              </a:rPr>
              <a:t>:</a:t>
            </a:r>
            <a:endParaRPr/>
          </a:p>
          <a:p>
            <a:pPr indent="-285750" lvl="1" marL="742950" rtl="0" algn="l">
              <a:lnSpc>
                <a:spcPct val="90000"/>
              </a:lnSpc>
              <a:spcBef>
                <a:spcPts val="400"/>
              </a:spcBef>
              <a:spcAft>
                <a:spcPts val="0"/>
              </a:spcAft>
              <a:buClr>
                <a:srgbClr val="2119C7"/>
              </a:buClr>
              <a:buSzPts val="2000"/>
              <a:buFont typeface="Arial"/>
              <a:buChar char="–"/>
            </a:pPr>
            <a:r>
              <a:rPr b="1" i="1" lang="en-US" sz="2000" u="none">
                <a:solidFill>
                  <a:srgbClr val="2119C7"/>
                </a:solidFill>
                <a:latin typeface="Arial"/>
                <a:ea typeface="Arial"/>
                <a:cs typeface="Arial"/>
                <a:sym typeface="Arial"/>
              </a:rPr>
              <a:t>doGet</a:t>
            </a:r>
            <a:r>
              <a:rPr b="0" i="0" lang="en-US" sz="2000" u="none">
                <a:solidFill>
                  <a:srgbClr val="2119C7"/>
                </a:solidFill>
                <a:latin typeface="Arial"/>
                <a:ea typeface="Arial"/>
                <a:cs typeface="Arial"/>
                <a:sym typeface="Arial"/>
              </a:rPr>
              <a:t>   </a:t>
            </a:r>
            <a:r>
              <a:rPr b="0" i="0" lang="en-US" sz="1800" u="none">
                <a:solidFill>
                  <a:srgbClr val="2119C7"/>
                </a:solidFill>
                <a:latin typeface="Arial"/>
                <a:ea typeface="Arial"/>
                <a:cs typeface="Arial"/>
                <a:sym typeface="Arial"/>
              </a:rPr>
              <a:t>Called by the server (via the service method)to allow a servlet to handle a GET request</a:t>
            </a:r>
            <a:endParaRPr/>
          </a:p>
          <a:p>
            <a:pPr indent="-285750" lvl="1" marL="742950" rtl="0" algn="l">
              <a:lnSpc>
                <a:spcPct val="90000"/>
              </a:lnSpc>
              <a:spcBef>
                <a:spcPts val="400"/>
              </a:spcBef>
              <a:spcAft>
                <a:spcPts val="0"/>
              </a:spcAft>
              <a:buClr>
                <a:srgbClr val="2119C7"/>
              </a:buClr>
              <a:buSzPts val="2000"/>
              <a:buFont typeface="Arial"/>
              <a:buChar char="–"/>
            </a:pPr>
            <a:r>
              <a:rPr b="1" i="0" lang="en-US" sz="2000" u="none">
                <a:solidFill>
                  <a:srgbClr val="2119C7"/>
                </a:solidFill>
                <a:latin typeface="Arial"/>
                <a:ea typeface="Arial"/>
                <a:cs typeface="Arial"/>
                <a:sym typeface="Arial"/>
              </a:rPr>
              <a:t>doHead</a:t>
            </a:r>
            <a:r>
              <a:rPr b="0" i="0" lang="en-US" sz="2000" u="none">
                <a:solidFill>
                  <a:srgbClr val="2119C7"/>
                </a:solidFill>
                <a:latin typeface="Arial"/>
                <a:ea typeface="Arial"/>
                <a:cs typeface="Arial"/>
                <a:sym typeface="Arial"/>
              </a:rPr>
              <a:t> 	 </a:t>
            </a:r>
            <a:r>
              <a:rPr b="0" i="0" lang="en-US" sz="1800" u="none">
                <a:solidFill>
                  <a:srgbClr val="2119C7"/>
                </a:solidFill>
                <a:latin typeface="Arial"/>
                <a:ea typeface="Arial"/>
                <a:cs typeface="Arial"/>
                <a:sym typeface="Arial"/>
              </a:rPr>
              <a:t>Receives an HTTP HEAD request from the protected  service method and handles the request</a:t>
            </a:r>
            <a:endParaRPr/>
          </a:p>
          <a:p>
            <a:pPr indent="-285750" lvl="1" marL="742950" rtl="0" algn="l">
              <a:lnSpc>
                <a:spcPct val="90000"/>
              </a:lnSpc>
              <a:spcBef>
                <a:spcPts val="400"/>
              </a:spcBef>
              <a:spcAft>
                <a:spcPts val="0"/>
              </a:spcAft>
              <a:buClr>
                <a:srgbClr val="2119C7"/>
              </a:buClr>
              <a:buSzPts val="2000"/>
              <a:buFont typeface="Arial"/>
              <a:buChar char="–"/>
            </a:pPr>
            <a:r>
              <a:rPr b="1" i="0" lang="en-US" sz="2000" u="none">
                <a:solidFill>
                  <a:srgbClr val="2119C7"/>
                </a:solidFill>
                <a:latin typeface="Arial"/>
                <a:ea typeface="Arial"/>
                <a:cs typeface="Arial"/>
                <a:sym typeface="Arial"/>
              </a:rPr>
              <a:t>doPost</a:t>
            </a:r>
            <a:r>
              <a:rPr b="0" i="0" lang="en-US" sz="2000" u="none">
                <a:solidFill>
                  <a:srgbClr val="2119C7"/>
                </a:solidFill>
                <a:latin typeface="Arial"/>
                <a:ea typeface="Arial"/>
                <a:cs typeface="Arial"/>
                <a:sym typeface="Arial"/>
              </a:rPr>
              <a:t> 	 called by the server to allow a servlet to handle post request</a:t>
            </a:r>
            <a:endParaRPr/>
          </a:p>
          <a:p>
            <a:pPr indent="-285750" lvl="1" marL="742950" rtl="0" algn="l">
              <a:lnSpc>
                <a:spcPct val="90000"/>
              </a:lnSpc>
              <a:spcBef>
                <a:spcPts val="400"/>
              </a:spcBef>
              <a:spcAft>
                <a:spcPts val="0"/>
              </a:spcAft>
              <a:buClr>
                <a:srgbClr val="2119C7"/>
              </a:buClr>
              <a:buSzPts val="2000"/>
              <a:buFont typeface="Arial"/>
              <a:buChar char="–"/>
            </a:pPr>
            <a:r>
              <a:rPr b="1" i="0" lang="en-US" sz="2000" u="none">
                <a:solidFill>
                  <a:srgbClr val="2119C7"/>
                </a:solidFill>
                <a:latin typeface="Arial"/>
                <a:ea typeface="Arial"/>
                <a:cs typeface="Arial"/>
                <a:sym typeface="Arial"/>
              </a:rPr>
              <a:t>doPut</a:t>
            </a:r>
            <a:r>
              <a:rPr b="0" i="0" lang="en-US" sz="2000" u="none">
                <a:solidFill>
                  <a:srgbClr val="2119C7"/>
                </a:solidFill>
                <a:latin typeface="Arial"/>
                <a:ea typeface="Arial"/>
                <a:cs typeface="Arial"/>
                <a:sym typeface="Arial"/>
              </a:rPr>
              <a:t> 	 </a:t>
            </a:r>
            <a:r>
              <a:rPr b="0" i="0" lang="en-US" sz="2000" u="none">
                <a:solidFill>
                  <a:schemeClr val="dk1"/>
                </a:solidFill>
                <a:latin typeface="Calibri"/>
                <a:ea typeface="Calibri"/>
                <a:cs typeface="Calibri"/>
                <a:sym typeface="Calibri"/>
              </a:rPr>
              <a:t> </a:t>
            </a:r>
            <a:r>
              <a:rPr b="0" i="0" lang="en-US" sz="2000" u="none">
                <a:solidFill>
                  <a:schemeClr val="dk2"/>
                </a:solidFill>
                <a:latin typeface="Calibri"/>
                <a:ea typeface="Calibri"/>
                <a:cs typeface="Calibri"/>
                <a:sym typeface="Calibri"/>
              </a:rPr>
              <a:t>Called by the server (via the service method) to allow a servlet to handle a PUT request</a:t>
            </a:r>
            <a:endParaRPr b="0" i="0" sz="2000" u="none">
              <a:solidFill>
                <a:schemeClr val="dk2"/>
              </a:solidFill>
              <a:latin typeface="Arial"/>
              <a:ea typeface="Arial"/>
              <a:cs typeface="Arial"/>
              <a:sym typeface="Arial"/>
            </a:endParaRPr>
          </a:p>
          <a:p>
            <a:pPr indent="-285750" lvl="1" marL="742950" rtl="0" algn="l">
              <a:lnSpc>
                <a:spcPct val="90000"/>
              </a:lnSpc>
              <a:spcBef>
                <a:spcPts val="400"/>
              </a:spcBef>
              <a:spcAft>
                <a:spcPts val="0"/>
              </a:spcAft>
              <a:buClr>
                <a:srgbClr val="2119C7"/>
              </a:buClr>
              <a:buSzPts val="2000"/>
              <a:buFont typeface="Arial"/>
              <a:buChar char="–"/>
            </a:pPr>
            <a:r>
              <a:rPr b="1" i="0" lang="en-US" sz="2000" u="none">
                <a:solidFill>
                  <a:srgbClr val="2119C7"/>
                </a:solidFill>
                <a:latin typeface="Arial"/>
                <a:ea typeface="Arial"/>
                <a:cs typeface="Arial"/>
                <a:sym typeface="Arial"/>
              </a:rPr>
              <a:t>doDelete</a:t>
            </a:r>
            <a:r>
              <a:rPr b="0" i="0" lang="en-US" sz="2000" u="none">
                <a:solidFill>
                  <a:srgbClr val="2119C7"/>
                </a:solidFill>
                <a:latin typeface="Arial"/>
                <a:ea typeface="Arial"/>
                <a:cs typeface="Arial"/>
                <a:sym typeface="Arial"/>
              </a:rPr>
              <a:t>	 </a:t>
            </a:r>
            <a:r>
              <a:rPr b="0" i="0" lang="en-US" sz="2000" u="none">
                <a:solidFill>
                  <a:schemeClr val="dk1"/>
                </a:solidFill>
                <a:latin typeface="Calibri"/>
                <a:ea typeface="Calibri"/>
                <a:cs typeface="Calibri"/>
                <a:sym typeface="Calibri"/>
              </a:rPr>
              <a:t>Called by the server (via the service method) to allow a servlet to handle a DELETE request</a:t>
            </a:r>
            <a:endParaRPr b="0" i="0" sz="2000" u="none">
              <a:solidFill>
                <a:srgbClr val="2119C7"/>
              </a:solidFill>
              <a:latin typeface="Arial"/>
              <a:ea typeface="Arial"/>
              <a:cs typeface="Arial"/>
              <a:sym typeface="Arial"/>
            </a:endParaRPr>
          </a:p>
          <a:p>
            <a:pPr indent="-285750" lvl="1" marL="742950" rtl="0" algn="l">
              <a:lnSpc>
                <a:spcPct val="90000"/>
              </a:lnSpc>
              <a:spcBef>
                <a:spcPts val="400"/>
              </a:spcBef>
              <a:spcAft>
                <a:spcPts val="0"/>
              </a:spcAft>
              <a:buClr>
                <a:srgbClr val="2119C7"/>
              </a:buClr>
              <a:buSzPts val="2000"/>
              <a:buFont typeface="Arial"/>
              <a:buChar char="–"/>
            </a:pPr>
            <a:r>
              <a:rPr b="1" i="0" lang="en-US" sz="2000" u="none">
                <a:solidFill>
                  <a:srgbClr val="2119C7"/>
                </a:solidFill>
                <a:latin typeface="Arial"/>
                <a:ea typeface="Arial"/>
                <a:cs typeface="Arial"/>
                <a:sym typeface="Arial"/>
              </a:rPr>
              <a:t>doTrace</a:t>
            </a:r>
            <a:r>
              <a:rPr b="0" i="0" lang="en-US" sz="2000" u="none">
                <a:solidFill>
                  <a:srgbClr val="2119C7"/>
                </a:solidFill>
                <a:latin typeface="Arial"/>
                <a:ea typeface="Arial"/>
                <a:cs typeface="Arial"/>
                <a:sym typeface="Arial"/>
              </a:rPr>
              <a:t> 	 </a:t>
            </a:r>
            <a:r>
              <a:rPr b="0" i="0" lang="en-US" sz="2000" u="none">
                <a:solidFill>
                  <a:schemeClr val="dk1"/>
                </a:solidFill>
                <a:latin typeface="Calibri"/>
                <a:ea typeface="Calibri"/>
                <a:cs typeface="Calibri"/>
                <a:sym typeface="Calibri"/>
              </a:rPr>
              <a:t>Called by the server (via the service method) to allow a servlet to handle a TRACE request</a:t>
            </a:r>
            <a:endParaRPr b="0" i="0" sz="2000" u="none">
              <a:solidFill>
                <a:srgbClr val="2119C7"/>
              </a:solidFill>
              <a:latin typeface="Arial"/>
              <a:ea typeface="Arial"/>
              <a:cs typeface="Arial"/>
              <a:sym typeface="Arial"/>
            </a:endParaRPr>
          </a:p>
          <a:p>
            <a:pPr indent="-285750" lvl="1" marL="742950" rtl="0" algn="l">
              <a:lnSpc>
                <a:spcPct val="90000"/>
              </a:lnSpc>
              <a:spcBef>
                <a:spcPts val="400"/>
              </a:spcBef>
              <a:spcAft>
                <a:spcPts val="0"/>
              </a:spcAft>
              <a:buClr>
                <a:srgbClr val="2119C7"/>
              </a:buClr>
              <a:buSzPts val="2000"/>
              <a:buFont typeface="Arial"/>
              <a:buChar char="–"/>
            </a:pPr>
            <a:r>
              <a:rPr b="1" i="0" lang="en-US" sz="2000" u="none">
                <a:solidFill>
                  <a:srgbClr val="2119C7"/>
                </a:solidFill>
                <a:latin typeface="Arial"/>
                <a:ea typeface="Arial"/>
                <a:cs typeface="Arial"/>
                <a:sym typeface="Arial"/>
              </a:rPr>
              <a:t>doOptions</a:t>
            </a:r>
            <a:r>
              <a:rPr b="0" i="0" lang="en-US" sz="2000" u="none">
                <a:solidFill>
                  <a:srgbClr val="2119C7"/>
                </a:solidFill>
                <a:latin typeface="Arial"/>
                <a:ea typeface="Arial"/>
                <a:cs typeface="Arial"/>
                <a:sym typeface="Arial"/>
              </a:rPr>
              <a:t> </a:t>
            </a:r>
            <a:r>
              <a:rPr b="0" i="0" lang="en-US" sz="2000" u="none">
                <a:solidFill>
                  <a:schemeClr val="dk1"/>
                </a:solidFill>
                <a:latin typeface="Calibri"/>
                <a:ea typeface="Calibri"/>
                <a:cs typeface="Calibri"/>
                <a:sym typeface="Calibri"/>
              </a:rPr>
              <a:t>Called by the server (via the service method) to allow a servlet to handle a OPTIONS request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1"/>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79" name="Google Shape;279;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80" name="Google Shape;280;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Request Headers</a:t>
            </a:r>
            <a:endParaRPr/>
          </a:p>
        </p:txBody>
      </p:sp>
      <p:sp>
        <p:nvSpPr>
          <p:cNvPr id="281" name="Google Shape;281;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Font typeface="Arial"/>
              <a:buChar char="•"/>
            </a:pPr>
            <a:r>
              <a:rPr b="0" i="0" lang="en-US" sz="2400" u="none">
                <a:solidFill>
                  <a:schemeClr val="dk1"/>
                </a:solidFill>
                <a:latin typeface="Calibri"/>
                <a:ea typeface="Calibri"/>
                <a:cs typeface="Calibri"/>
                <a:sym typeface="Calibri"/>
              </a:rPr>
              <a:t>It can also send a number of headers:</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Accept</a:t>
            </a:r>
            <a:r>
              <a:rPr b="0" i="0" lang="en-US" sz="2000" u="none">
                <a:solidFill>
                  <a:srgbClr val="2119C7"/>
                </a:solidFill>
                <a:latin typeface="Calibri"/>
                <a:ea typeface="Calibri"/>
                <a:cs typeface="Calibri"/>
                <a:sym typeface="Calibri"/>
              </a:rPr>
              <a:t> The MIME types the browser prefers. </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Accept-Charset</a:t>
            </a:r>
            <a:r>
              <a:rPr b="0" i="0" lang="en-US" sz="2000" u="none">
                <a:solidFill>
                  <a:srgbClr val="2119C7"/>
                </a:solidFill>
                <a:latin typeface="Calibri"/>
                <a:ea typeface="Calibri"/>
                <a:cs typeface="Calibri"/>
                <a:sym typeface="Calibri"/>
              </a:rPr>
              <a:t> The character set the browser expects. </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Content-Length</a:t>
            </a:r>
            <a:r>
              <a:rPr b="0" i="0" lang="en-US" sz="2000" u="none">
                <a:solidFill>
                  <a:srgbClr val="2119C7"/>
                </a:solidFill>
                <a:latin typeface="Calibri"/>
                <a:ea typeface="Calibri"/>
                <a:cs typeface="Calibri"/>
                <a:sym typeface="Calibri"/>
              </a:rPr>
              <a:t> (for POST messages, how much data is attached)</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Connection</a:t>
            </a:r>
            <a:r>
              <a:rPr b="0" i="0" lang="en-US" sz="2000" u="none">
                <a:solidFill>
                  <a:srgbClr val="2119C7"/>
                </a:solidFill>
                <a:latin typeface="Calibri"/>
                <a:ea typeface="Calibri"/>
                <a:cs typeface="Calibri"/>
                <a:sym typeface="Calibri"/>
              </a:rPr>
              <a:t> Use persistent connection? If a servlet gets a Keep-Alive.</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Cookie</a:t>
            </a:r>
            <a:r>
              <a:rPr b="0" i="0" lang="en-US" sz="2000" u="none">
                <a:solidFill>
                  <a:srgbClr val="2119C7"/>
                </a:solidFill>
                <a:latin typeface="Calibri"/>
                <a:ea typeface="Calibri"/>
                <a:cs typeface="Calibri"/>
                <a:sym typeface="Calibri"/>
              </a:rPr>
              <a:t> (one of the most important headers)</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Host</a:t>
            </a:r>
            <a:r>
              <a:rPr b="0" i="0" lang="en-US" sz="2000" u="none">
                <a:solidFill>
                  <a:srgbClr val="2119C7"/>
                </a:solidFill>
                <a:latin typeface="Calibri"/>
                <a:ea typeface="Calibri"/>
                <a:cs typeface="Calibri"/>
                <a:sym typeface="Calibri"/>
              </a:rPr>
              <a:t> (host and port as listed in the original URL)</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If-Modified-Since</a:t>
            </a:r>
            <a:r>
              <a:rPr b="0" i="0" lang="en-US" sz="2000" u="none">
                <a:solidFill>
                  <a:srgbClr val="2119C7"/>
                </a:solidFill>
                <a:latin typeface="Calibri"/>
                <a:ea typeface="Calibri"/>
                <a:cs typeface="Calibri"/>
                <a:sym typeface="Calibri"/>
              </a:rPr>
              <a:t> (only return documents newer than this)</a:t>
            </a:r>
            <a:endParaRPr/>
          </a:p>
          <a:p>
            <a:pPr indent="-285750" lvl="1" marL="742950" rtl="0" algn="l">
              <a:lnSpc>
                <a:spcPct val="90000"/>
              </a:lnSpc>
              <a:spcBef>
                <a:spcPts val="400"/>
              </a:spcBef>
              <a:spcAft>
                <a:spcPts val="0"/>
              </a:spcAft>
              <a:buClr>
                <a:srgbClr val="F83C2E"/>
              </a:buClr>
              <a:buSzPts val="2000"/>
              <a:buFont typeface="Arial"/>
              <a:buChar char="–"/>
            </a:pPr>
            <a:r>
              <a:rPr b="0" i="0" lang="en-US" sz="2000" u="none">
                <a:solidFill>
                  <a:srgbClr val="F83C2E"/>
                </a:solidFill>
                <a:latin typeface="Calibri"/>
                <a:ea typeface="Calibri"/>
                <a:cs typeface="Calibri"/>
                <a:sym typeface="Calibri"/>
              </a:rPr>
              <a:t>Referer </a:t>
            </a:r>
            <a:r>
              <a:rPr b="0" i="0" lang="en-US" sz="2000" u="none">
                <a:solidFill>
                  <a:srgbClr val="2119C7"/>
                </a:solidFill>
                <a:latin typeface="Calibri"/>
                <a:ea typeface="Calibri"/>
                <a:cs typeface="Calibri"/>
                <a:sym typeface="Calibri"/>
              </a:rPr>
              <a:t>(the URL of the page containing the link the user followed to get to current page)</a:t>
            </a:r>
            <a:r>
              <a:rPr b="0" i="0" lang="en-US" sz="2000" u="none">
                <a:solidFill>
                  <a:schemeClr val="dk1"/>
                </a:solidFill>
                <a:latin typeface="Calibri"/>
                <a:ea typeface="Calibri"/>
                <a:cs typeface="Calibri"/>
                <a:sym typeface="Calibri"/>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2"/>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87" name="Google Shape;287;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88" name="Google Shape;288;p22"/>
          <p:cNvSpPr txBox="1"/>
          <p:nvPr>
            <p:ph type="title"/>
          </p:nvPr>
        </p:nvSpPr>
        <p:spPr>
          <a:xfrm>
            <a:off x="457200" y="274637"/>
            <a:ext cx="8229600" cy="5635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Request Headers…</a:t>
            </a:r>
            <a:endParaRPr/>
          </a:p>
        </p:txBody>
      </p:sp>
      <p:sp>
        <p:nvSpPr>
          <p:cNvPr id="289" name="Google Shape;289;p22"/>
          <p:cNvSpPr txBox="1"/>
          <p:nvPr>
            <p:ph idx="1" type="body"/>
          </p:nvPr>
        </p:nvSpPr>
        <p:spPr>
          <a:xfrm>
            <a:off x="457200" y="990600"/>
            <a:ext cx="8229600" cy="5562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280"/>
              <a:buNone/>
            </a:pPr>
            <a:r>
              <a:rPr b="1" i="1" lang="en-US" sz="1600" u="none">
                <a:solidFill>
                  <a:schemeClr val="dk1"/>
                </a:solidFill>
                <a:latin typeface="Calibri"/>
                <a:ea typeface="Calibri"/>
                <a:cs typeface="Calibri"/>
                <a:sym typeface="Calibri"/>
              </a:rPr>
              <a:t>import javax.servlet.*;</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import java.io.*;</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import javax.servlet.http.*;</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import java.util.*;</a:t>
            </a:r>
            <a:endParaRPr/>
          </a:p>
          <a:p>
            <a:pPr indent="-342900" lvl="0" marL="342900" rtl="0" algn="l">
              <a:lnSpc>
                <a:spcPct val="80000"/>
              </a:lnSpc>
              <a:spcBef>
                <a:spcPts val="320"/>
              </a:spcBef>
              <a:spcAft>
                <a:spcPts val="0"/>
              </a:spcAft>
              <a:buSzPts val="1280"/>
              <a:buNone/>
            </a:pPr>
            <a:r>
              <a:t/>
            </a:r>
            <a:endParaRPr b="1" i="1" sz="1600" u="none">
              <a:solidFill>
                <a:schemeClr val="dk1"/>
              </a:solidFill>
              <a:latin typeface="Calibri"/>
              <a:ea typeface="Calibri"/>
              <a:cs typeface="Calibri"/>
              <a:sym typeface="Calibri"/>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public class ShowRequestHeaders extends HttpServlet {</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public void doGet(HttpServletRequest request,HttpServletResponse response) throws ServletException, IOException</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response.setContentType("text/html");</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PrintWriter out = response.getWriter();</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Enumeration headerNames = request.getHeaderNames();</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out.println("&lt;TABLE&gt;");</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while(headerNames.hasMoreElements()) {</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String headerName = (String)headerNames.nextElement();</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out.println("&lt;TR&gt;&lt;TD&gt;" + headerName+"&lt;/TD&gt;");</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out.println("&lt;TD&gt;" + request.getHeader(headerName)+"&lt;/TD&gt;&lt;/TR&gt;");</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out.println("&lt;/TABLE&gt;");</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	}</a:t>
            </a:r>
            <a:endParaRPr/>
          </a:p>
          <a:p>
            <a:pPr indent="-342900" lvl="0" marL="342900" rtl="0" algn="l">
              <a:lnSpc>
                <a:spcPct val="80000"/>
              </a:lnSpc>
              <a:spcBef>
                <a:spcPts val="320"/>
              </a:spcBef>
              <a:spcAft>
                <a:spcPts val="0"/>
              </a:spcAft>
              <a:buSzPts val="1280"/>
              <a:buNone/>
            </a:pPr>
            <a:r>
              <a:rPr b="1" i="1" lang="en-US" sz="1600" u="none">
                <a:solidFill>
                  <a:schemeClr val="dk1"/>
                </a:solidFill>
                <a:latin typeface="Calibri"/>
                <a:ea typeface="Calibri"/>
                <a:cs typeface="Calibri"/>
                <a:sym typeface="Calibri"/>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3"/>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295" name="Google Shape;295;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296" name="Google Shape;296;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Show Request Header Demo</a:t>
            </a:r>
            <a:endParaRPr/>
          </a:p>
        </p:txBody>
      </p:sp>
      <p:sp>
        <p:nvSpPr>
          <p:cNvPr id="297" name="Google Shape;297;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80340" lvl="0" marL="342900" rtl="0" algn="l">
              <a:lnSpc>
                <a:spcPct val="100000"/>
              </a:lnSpc>
              <a:spcBef>
                <a:spcPts val="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180340" lvl="0" marL="342900" rtl="0" algn="l">
              <a:lnSpc>
                <a:spcPct val="100000"/>
              </a:lnSpc>
              <a:spcBef>
                <a:spcPts val="64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180340" lvl="0" marL="342900" rtl="0" algn="l">
              <a:lnSpc>
                <a:spcPct val="100000"/>
              </a:lnSpc>
              <a:spcBef>
                <a:spcPts val="64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342900" lvl="0" marL="342900" rtl="0" algn="ctr">
              <a:lnSpc>
                <a:spcPct val="100000"/>
              </a:lnSpc>
              <a:spcBef>
                <a:spcPts val="400"/>
              </a:spcBef>
              <a:spcAft>
                <a:spcPts val="0"/>
              </a:spcAft>
              <a:buSzPts val="1600"/>
              <a:buNone/>
            </a:pPr>
            <a:r>
              <a:rPr b="1" i="0" lang="en-US" sz="2000" u="none">
                <a:solidFill>
                  <a:schemeClr val="dk1"/>
                </a:solidFill>
                <a:latin typeface="Calibri"/>
                <a:ea typeface="Calibri"/>
                <a:cs typeface="Calibri"/>
                <a:sym typeface="Calibri"/>
              </a:rPr>
              <a:t>Demo\FirstServlet\WEB-INF\classes\ShowRequestHeaders.java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4"/>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03" name="Google Shape;303;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04" name="Google Shape;304;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HTTP Response</a:t>
            </a:r>
            <a:endParaRPr/>
          </a:p>
        </p:txBody>
      </p:sp>
      <p:sp>
        <p:nvSpPr>
          <p:cNvPr id="305" name="Google Shape;305;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457200" lvl="0" marL="457200" rtl="0" algn="l">
              <a:lnSpc>
                <a:spcPct val="80000"/>
              </a:lnSpc>
              <a:spcBef>
                <a:spcPts val="0"/>
              </a:spcBef>
              <a:spcAft>
                <a:spcPts val="0"/>
              </a:spcAft>
              <a:buSzPts val="1600"/>
              <a:buFont typeface="Arial"/>
              <a:buChar char="•"/>
            </a:pPr>
            <a:r>
              <a:rPr b="0" i="0" lang="en-US" sz="2000" u="none">
                <a:solidFill>
                  <a:schemeClr val="dk1"/>
                </a:solidFill>
                <a:latin typeface="Calibri"/>
                <a:ea typeface="Calibri"/>
                <a:cs typeface="Calibri"/>
                <a:sym typeface="Calibri"/>
              </a:rPr>
              <a:t>When a Web server responds to a request from Web client, the response typically consists of a status line, some response headers, a blank line, and the document:</a:t>
            </a:r>
            <a:endParaRPr/>
          </a:p>
          <a:p>
            <a:pPr indent="-342900" lvl="2" marL="1257300" rtl="0" algn="l">
              <a:lnSpc>
                <a:spcPct val="80000"/>
              </a:lnSpc>
              <a:spcBef>
                <a:spcPts val="360"/>
              </a:spcBef>
              <a:spcAft>
                <a:spcPts val="0"/>
              </a:spcAft>
              <a:buClr>
                <a:schemeClr val="dk1"/>
              </a:buClr>
              <a:buSzPts val="1800"/>
              <a:buNone/>
            </a:pPr>
            <a:r>
              <a:t/>
            </a:r>
            <a:endParaRPr b="1" i="1" sz="1800" u="none">
              <a:solidFill>
                <a:srgbClr val="2119C7"/>
              </a:solidFill>
              <a:latin typeface="Courier New"/>
              <a:ea typeface="Courier New"/>
              <a:cs typeface="Courier New"/>
              <a:sym typeface="Courier New"/>
            </a:endParaRPr>
          </a:p>
          <a:p>
            <a:pPr indent="-342900" lvl="2" marL="1257300" rtl="0" algn="l">
              <a:lnSpc>
                <a:spcPct val="80000"/>
              </a:lnSpc>
              <a:spcBef>
                <a:spcPts val="360"/>
              </a:spcBef>
              <a:spcAft>
                <a:spcPts val="0"/>
              </a:spcAft>
              <a:buClr>
                <a:srgbClr val="2119C7"/>
              </a:buClr>
              <a:buSzPts val="1800"/>
              <a:buNone/>
            </a:pPr>
            <a:r>
              <a:rPr b="1" i="1" lang="en-US" sz="1800" u="none">
                <a:solidFill>
                  <a:srgbClr val="2119C7"/>
                </a:solidFill>
                <a:latin typeface="Courier New"/>
                <a:ea typeface="Courier New"/>
                <a:cs typeface="Courier New"/>
                <a:sym typeface="Courier New"/>
              </a:rPr>
              <a:t>HTTP/1.1 200 OK		</a:t>
            </a:r>
            <a:r>
              <a:rPr b="1" i="0" lang="en-US" sz="1800" u="sng">
                <a:solidFill>
                  <a:srgbClr val="2119C7"/>
                </a:solidFill>
                <a:latin typeface="Courier New"/>
                <a:ea typeface="Courier New"/>
                <a:cs typeface="Courier New"/>
                <a:sym typeface="Courier New"/>
              </a:rPr>
              <a:t>status line</a:t>
            </a:r>
            <a:endParaRPr/>
          </a:p>
          <a:p>
            <a:pPr indent="-342900" lvl="2" marL="1257300" rtl="0" algn="l">
              <a:lnSpc>
                <a:spcPct val="80000"/>
              </a:lnSpc>
              <a:spcBef>
                <a:spcPts val="360"/>
              </a:spcBef>
              <a:spcAft>
                <a:spcPts val="0"/>
              </a:spcAft>
              <a:buClr>
                <a:srgbClr val="2119C7"/>
              </a:buClr>
              <a:buSzPts val="1800"/>
              <a:buNone/>
            </a:pPr>
            <a:r>
              <a:rPr b="1" i="1" lang="en-US" sz="1800" u="none">
                <a:solidFill>
                  <a:srgbClr val="2119C7"/>
                </a:solidFill>
                <a:latin typeface="Courier New"/>
                <a:ea typeface="Courier New"/>
                <a:cs typeface="Courier New"/>
                <a:sym typeface="Courier New"/>
              </a:rPr>
              <a:t>Content-Type: text/plain	</a:t>
            </a:r>
            <a:r>
              <a:rPr b="1" i="0" lang="en-US" sz="1800" u="sng">
                <a:solidFill>
                  <a:srgbClr val="2119C7"/>
                </a:solidFill>
                <a:latin typeface="Courier New"/>
                <a:ea typeface="Courier New"/>
                <a:cs typeface="Courier New"/>
                <a:sym typeface="Courier New"/>
              </a:rPr>
              <a:t>response header</a:t>
            </a:r>
            <a:endParaRPr/>
          </a:p>
          <a:p>
            <a:pPr indent="-381000" lvl="1" marL="838200" rtl="0" algn="l">
              <a:lnSpc>
                <a:spcPct val="80000"/>
              </a:lnSpc>
              <a:spcBef>
                <a:spcPts val="360"/>
              </a:spcBef>
              <a:spcAft>
                <a:spcPts val="0"/>
              </a:spcAft>
              <a:buClr>
                <a:srgbClr val="2119C7"/>
              </a:buClr>
              <a:buSzPts val="1800"/>
              <a:buNone/>
            </a:pPr>
            <a:r>
              <a:rPr b="1" i="1" lang="en-US" sz="1800" u="none">
                <a:solidFill>
                  <a:srgbClr val="2119C7"/>
                </a:solidFill>
                <a:latin typeface="Courier New"/>
                <a:ea typeface="Courier New"/>
                <a:cs typeface="Courier New"/>
                <a:sym typeface="Courier New"/>
              </a:rPr>
              <a:t>						</a:t>
            </a:r>
            <a:r>
              <a:rPr b="1" i="0" lang="en-US" sz="1800" u="sng">
                <a:solidFill>
                  <a:srgbClr val="2119C7"/>
                </a:solidFill>
                <a:latin typeface="Courier New"/>
                <a:ea typeface="Courier New"/>
                <a:cs typeface="Courier New"/>
                <a:sym typeface="Courier New"/>
              </a:rPr>
              <a:t>blank line</a:t>
            </a:r>
            <a:endParaRPr/>
          </a:p>
          <a:p>
            <a:pPr indent="-381000" lvl="1" marL="838200" rtl="0" algn="l">
              <a:lnSpc>
                <a:spcPct val="80000"/>
              </a:lnSpc>
              <a:spcBef>
                <a:spcPts val="360"/>
              </a:spcBef>
              <a:spcAft>
                <a:spcPts val="0"/>
              </a:spcAft>
              <a:buClr>
                <a:srgbClr val="2119C7"/>
              </a:buClr>
              <a:buSzPts val="1800"/>
              <a:buNone/>
            </a:pPr>
            <a:r>
              <a:rPr b="1" i="1" lang="en-US" sz="1800" u="none">
                <a:solidFill>
                  <a:srgbClr val="2119C7"/>
                </a:solidFill>
                <a:latin typeface="Verdana"/>
                <a:ea typeface="Verdana"/>
                <a:cs typeface="Verdana"/>
                <a:sym typeface="Verdana"/>
              </a:rPr>
              <a:t>	 </a:t>
            </a:r>
            <a:r>
              <a:rPr b="1" i="1" lang="en-US" sz="1800" u="none">
                <a:solidFill>
                  <a:srgbClr val="2119C7"/>
                </a:solidFill>
                <a:latin typeface="Courier New"/>
                <a:ea typeface="Courier New"/>
                <a:cs typeface="Courier New"/>
                <a:sym typeface="Courier New"/>
              </a:rPr>
              <a:t>Welcome to Servlets World	</a:t>
            </a:r>
            <a:r>
              <a:rPr b="1" i="0" lang="en-US" sz="1800" u="sng">
                <a:solidFill>
                  <a:srgbClr val="2119C7"/>
                </a:solidFill>
                <a:latin typeface="Courier New"/>
                <a:ea typeface="Courier New"/>
                <a:cs typeface="Courier New"/>
                <a:sym typeface="Courier New"/>
              </a:rPr>
              <a:t>the document</a:t>
            </a:r>
            <a:endParaRPr/>
          </a:p>
          <a:p>
            <a:pPr indent="-381000" lvl="1" marL="838200" rtl="0" algn="l">
              <a:lnSpc>
                <a:spcPct val="80000"/>
              </a:lnSpc>
              <a:spcBef>
                <a:spcPts val="360"/>
              </a:spcBef>
              <a:spcAft>
                <a:spcPts val="0"/>
              </a:spcAft>
              <a:buClr>
                <a:schemeClr val="dk1"/>
              </a:buClr>
              <a:buSzPts val="1800"/>
              <a:buNone/>
            </a:pPr>
            <a:r>
              <a:t/>
            </a:r>
            <a:endParaRPr b="1" i="0" sz="1800" u="sng">
              <a:solidFill>
                <a:srgbClr val="2119C7"/>
              </a:solidFill>
              <a:latin typeface="Courier New"/>
              <a:ea typeface="Courier New"/>
              <a:cs typeface="Courier New"/>
              <a:sym typeface="Courier New"/>
            </a:endParaRPr>
          </a:p>
          <a:p>
            <a:pPr indent="-381000" lvl="1" marL="838200" rtl="0" algn="l">
              <a:lnSpc>
                <a:spcPct val="80000"/>
              </a:lnSpc>
              <a:spcBef>
                <a:spcPts val="360"/>
              </a:spcBef>
              <a:spcAft>
                <a:spcPts val="0"/>
              </a:spcAft>
              <a:buClr>
                <a:srgbClr val="2119C7"/>
              </a:buClr>
              <a:buSzPts val="1800"/>
              <a:buNone/>
            </a:pPr>
            <a:r>
              <a:rPr b="1" i="0" lang="en-US" sz="1800" u="sng">
                <a:solidFill>
                  <a:srgbClr val="2119C7"/>
                </a:solidFill>
                <a:latin typeface="Courier New"/>
                <a:ea typeface="Courier New"/>
                <a:cs typeface="Courier New"/>
                <a:sym typeface="Courier New"/>
              </a:rPr>
              <a:t>Status line:</a:t>
            </a:r>
            <a:endParaRPr/>
          </a:p>
          <a:p>
            <a:pPr indent="-381000" lvl="1" marL="838200" rtl="0" algn="l">
              <a:lnSpc>
                <a:spcPct val="80000"/>
              </a:lnSpc>
              <a:spcBef>
                <a:spcPts val="360"/>
              </a:spcBef>
              <a:spcAft>
                <a:spcPts val="0"/>
              </a:spcAft>
              <a:buClr>
                <a:srgbClr val="993300"/>
              </a:buClr>
              <a:buSzPts val="1800"/>
              <a:buFont typeface="Arial"/>
              <a:buChar char="–"/>
            </a:pPr>
            <a:r>
              <a:rPr b="1" i="0" lang="en-US" sz="1800" u="none">
                <a:solidFill>
                  <a:srgbClr val="993300"/>
                </a:solidFill>
                <a:latin typeface="Calibri"/>
                <a:ea typeface="Calibri"/>
                <a:cs typeface="Calibri"/>
                <a:sym typeface="Calibri"/>
              </a:rPr>
              <a:t>HTTP version</a:t>
            </a:r>
            <a:endParaRPr/>
          </a:p>
          <a:p>
            <a:pPr indent="-381000" lvl="1" marL="838200" rtl="0" algn="l">
              <a:lnSpc>
                <a:spcPct val="80000"/>
              </a:lnSpc>
              <a:spcBef>
                <a:spcPts val="360"/>
              </a:spcBef>
              <a:spcAft>
                <a:spcPts val="0"/>
              </a:spcAft>
              <a:buClr>
                <a:srgbClr val="993300"/>
              </a:buClr>
              <a:buSzPts val="1800"/>
              <a:buFont typeface="Arial"/>
              <a:buChar char="–"/>
            </a:pPr>
            <a:r>
              <a:rPr b="1" i="0" lang="en-US" sz="1800" u="none">
                <a:solidFill>
                  <a:srgbClr val="993300"/>
                </a:solidFill>
                <a:latin typeface="Calibri"/>
                <a:ea typeface="Calibri"/>
                <a:cs typeface="Calibri"/>
                <a:sym typeface="Calibri"/>
              </a:rPr>
              <a:t>An integer that is interpreted as a status code</a:t>
            </a:r>
            <a:endParaRPr/>
          </a:p>
          <a:p>
            <a:pPr indent="-381000" lvl="1" marL="838200" rtl="0" algn="l">
              <a:lnSpc>
                <a:spcPct val="80000"/>
              </a:lnSpc>
              <a:spcBef>
                <a:spcPts val="360"/>
              </a:spcBef>
              <a:spcAft>
                <a:spcPts val="0"/>
              </a:spcAft>
              <a:buClr>
                <a:srgbClr val="993300"/>
              </a:buClr>
              <a:buSzPts val="1800"/>
              <a:buFont typeface="Arial"/>
              <a:buChar char="–"/>
            </a:pPr>
            <a:r>
              <a:rPr b="1" i="0" lang="en-US" sz="1800" u="none">
                <a:solidFill>
                  <a:srgbClr val="993300"/>
                </a:solidFill>
                <a:latin typeface="Calibri"/>
                <a:ea typeface="Calibri"/>
                <a:cs typeface="Calibri"/>
                <a:sym typeface="Calibri"/>
              </a:rPr>
              <a:t>A very short message corresponding to the status code. </a:t>
            </a:r>
            <a:endParaRPr/>
          </a:p>
          <a:p>
            <a:pPr indent="-381000" lvl="1" marL="838200" rtl="0" algn="l">
              <a:lnSpc>
                <a:spcPct val="80000"/>
              </a:lnSpc>
              <a:spcBef>
                <a:spcPts val="360"/>
              </a:spcBef>
              <a:spcAft>
                <a:spcPts val="0"/>
              </a:spcAft>
              <a:buClr>
                <a:schemeClr val="dk1"/>
              </a:buClr>
              <a:buSzPts val="1800"/>
              <a:buNone/>
            </a:pPr>
            <a:r>
              <a:t/>
            </a:r>
            <a:endParaRPr b="1" i="0" sz="1800" u="none">
              <a:solidFill>
                <a:srgbClr val="993300"/>
              </a:solidFill>
              <a:latin typeface="Calibri"/>
              <a:ea typeface="Calibri"/>
              <a:cs typeface="Calibri"/>
              <a:sym typeface="Calibri"/>
            </a:endParaRPr>
          </a:p>
          <a:p>
            <a:pPr indent="-381000" lvl="1" marL="838200" rtl="0" algn="l">
              <a:lnSpc>
                <a:spcPct val="80000"/>
              </a:lnSpc>
              <a:spcBef>
                <a:spcPts val="360"/>
              </a:spcBef>
              <a:spcAft>
                <a:spcPts val="0"/>
              </a:spcAft>
              <a:buClr>
                <a:srgbClr val="993300"/>
              </a:buClr>
              <a:buSzPts val="1800"/>
              <a:buFont typeface="Arial"/>
              <a:buChar char="–"/>
            </a:pPr>
            <a:r>
              <a:rPr b="1" i="0" lang="en-US" sz="1800" u="none">
                <a:solidFill>
                  <a:srgbClr val="993300"/>
                </a:solidFill>
                <a:latin typeface="Calibri"/>
                <a:ea typeface="Calibri"/>
                <a:cs typeface="Calibri"/>
                <a:sym typeface="Calibri"/>
              </a:rPr>
              <a:t>In most cases, all of the headers are optional except for Content-Type, which specifies the MIME type of the document that follows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5"/>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11" name="Google Shape;311;p2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12" name="Google Shape;312;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HTML Form</a:t>
            </a:r>
            <a:endParaRPr/>
          </a:p>
        </p:txBody>
      </p:sp>
      <p:sp>
        <p:nvSpPr>
          <p:cNvPr id="313" name="Google Shape;313;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560"/>
              <a:buFont typeface="Arial"/>
              <a:buChar char="•"/>
            </a:pPr>
            <a:r>
              <a:rPr b="0" i="0" lang="en-US" sz="3200" u="none">
                <a:solidFill>
                  <a:schemeClr val="dk1"/>
                </a:solidFill>
                <a:latin typeface="Calibri"/>
                <a:ea typeface="Calibri"/>
                <a:cs typeface="Calibri"/>
                <a:sym typeface="Calibri"/>
              </a:rPr>
              <a:t>A form is an area that can contain form elements.</a:t>
            </a:r>
            <a:endParaRPr/>
          </a:p>
          <a:p>
            <a:pPr indent="-342900" lvl="0" marL="342900" rtl="0" algn="l">
              <a:lnSpc>
                <a:spcPct val="100000"/>
              </a:lnSpc>
              <a:spcBef>
                <a:spcPts val="640"/>
              </a:spcBef>
              <a:spcAft>
                <a:spcPts val="0"/>
              </a:spcAft>
              <a:buSzPts val="2560"/>
              <a:buFont typeface="Arial"/>
              <a:buChar char="•"/>
            </a:pPr>
            <a:r>
              <a:rPr b="0" i="0" lang="en-US" sz="3200" u="none">
                <a:solidFill>
                  <a:schemeClr val="dk1"/>
                </a:solidFill>
                <a:latin typeface="Calibri"/>
                <a:ea typeface="Calibri"/>
                <a:cs typeface="Calibri"/>
                <a:sym typeface="Calibri"/>
              </a:rPr>
              <a:t>Form elements are elements that allow the user to enter information (like text fields, textarea fields, drop-down menus, radio buttons, checkboxes, etc.) in a form.</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6"/>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19" name="Google Shape;319;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20" name="Google Shape;320;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HTML Form Inputs</a:t>
            </a:r>
            <a:endParaRPr/>
          </a:p>
        </p:txBody>
      </p:sp>
      <p:sp>
        <p:nvSpPr>
          <p:cNvPr id="321" name="Google Shape;321;p26"/>
          <p:cNvSpPr txBox="1"/>
          <p:nvPr>
            <p:ph idx="1" type="body"/>
          </p:nvPr>
        </p:nvSpPr>
        <p:spPr>
          <a:xfrm>
            <a:off x="457200" y="1600200"/>
            <a:ext cx="8229600" cy="2895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920"/>
              <a:buFont typeface="Arial"/>
              <a:buChar char="•"/>
            </a:pPr>
            <a:r>
              <a:rPr b="0" i="0" lang="en-US" sz="2400" u="none">
                <a:solidFill>
                  <a:schemeClr val="dk1"/>
                </a:solidFill>
                <a:latin typeface="Calibri"/>
                <a:ea typeface="Calibri"/>
                <a:cs typeface="Calibri"/>
                <a:sym typeface="Calibri"/>
              </a:rPr>
              <a:t>Text fileds</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&lt;html&gt;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&lt;body&gt;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&lt;form&gt;</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	First name: &lt;input type="text" name="firstname" /&gt;</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	&lt;br /&gt;</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	Last name: &lt;input type="text" name="lastname" /&gt;</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&lt;/form&gt;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&lt;/body&gt;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&lt;html&gt; </a:t>
            </a:r>
            <a:endParaRPr/>
          </a:p>
        </p:txBody>
      </p:sp>
      <p:pic>
        <p:nvPicPr>
          <p:cNvPr id="322" name="Google Shape;322;p26"/>
          <p:cNvPicPr preferRelativeResize="0"/>
          <p:nvPr/>
        </p:nvPicPr>
        <p:blipFill rotWithShape="1">
          <a:blip r:embed="rId3">
            <a:alphaModFix/>
          </a:blip>
          <a:srcRect b="0" l="0" r="0" t="0"/>
          <a:stretch/>
        </p:blipFill>
        <p:spPr>
          <a:xfrm>
            <a:off x="4953000" y="5257800"/>
            <a:ext cx="3200400" cy="914400"/>
          </a:xfrm>
          <a:prstGeom prst="rect">
            <a:avLst/>
          </a:prstGeom>
          <a:noFill/>
          <a:ln>
            <a:noFill/>
          </a:ln>
        </p:spPr>
      </p:pic>
      <p:sp>
        <p:nvSpPr>
          <p:cNvPr id="323" name="Google Shape;323;p26"/>
          <p:cNvSpPr txBox="1"/>
          <p:nvPr/>
        </p:nvSpPr>
        <p:spPr>
          <a:xfrm>
            <a:off x="685800" y="5576887"/>
            <a:ext cx="35052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How it looks in a browser: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7"/>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29" name="Google Shape;329;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30" name="Google Shape;330;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HTML Form Inputs..</a:t>
            </a:r>
            <a:endParaRPr/>
          </a:p>
        </p:txBody>
      </p:sp>
      <p:sp>
        <p:nvSpPr>
          <p:cNvPr id="331" name="Google Shape;331;p27"/>
          <p:cNvSpPr txBox="1"/>
          <p:nvPr>
            <p:ph idx="1" type="body"/>
          </p:nvPr>
        </p:nvSpPr>
        <p:spPr>
          <a:xfrm>
            <a:off x="457200" y="1600200"/>
            <a:ext cx="8229600" cy="2895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120"/>
              <a:buNone/>
            </a:pPr>
            <a:r>
              <a:rPr b="1" i="0" lang="en-US" sz="1400" u="none">
                <a:solidFill>
                  <a:schemeClr val="dk1"/>
                </a:solidFill>
                <a:latin typeface="Calibri"/>
                <a:ea typeface="Calibri"/>
                <a:cs typeface="Calibri"/>
                <a:sym typeface="Calibri"/>
              </a:rPr>
              <a:t>Radio Buttons:</a:t>
            </a:r>
            <a:endParaRPr/>
          </a:p>
          <a:p>
            <a:pPr indent="-342900" lvl="0" marL="342900" rtl="0" algn="l">
              <a:lnSpc>
                <a:spcPct val="80000"/>
              </a:lnSpc>
              <a:spcBef>
                <a:spcPts val="280"/>
              </a:spcBef>
              <a:spcAft>
                <a:spcPts val="0"/>
              </a:spcAft>
              <a:buSzPts val="1120"/>
              <a:buNone/>
            </a:pPr>
            <a:r>
              <a:t/>
            </a:r>
            <a:endParaRPr b="1" i="0" sz="1400" u="none">
              <a:solidFill>
                <a:schemeClr val="dk1"/>
              </a:solidFill>
              <a:latin typeface="Calibri"/>
              <a:ea typeface="Calibri"/>
              <a:cs typeface="Calibri"/>
              <a:sym typeface="Calibri"/>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&lt;html&gt;</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&lt;body&gt;</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	&lt;form&gt;</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		&lt;input type="radio" name="sex" value="male" /&gt; Male</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		&lt;br /&gt;</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		&lt;input type="radio" name="sex" value="female" /&gt; Female</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&lt;/form&gt;</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&lt;/body&gt;</a:t>
            </a:r>
            <a:endParaRPr/>
          </a:p>
          <a:p>
            <a:pPr indent="-342900" lvl="0" marL="342900" rtl="0" algn="l">
              <a:lnSpc>
                <a:spcPct val="80000"/>
              </a:lnSpc>
              <a:spcBef>
                <a:spcPts val="320"/>
              </a:spcBef>
              <a:spcAft>
                <a:spcPts val="0"/>
              </a:spcAft>
              <a:buSzPts val="1280"/>
              <a:buNone/>
            </a:pPr>
            <a:r>
              <a:rPr b="0" i="0" lang="en-US" sz="1600" u="none">
                <a:solidFill>
                  <a:schemeClr val="dk1"/>
                </a:solidFill>
                <a:latin typeface="Calibri"/>
                <a:ea typeface="Calibri"/>
                <a:cs typeface="Calibri"/>
                <a:sym typeface="Calibri"/>
              </a:rPr>
              <a:t>&lt;html&gt;</a:t>
            </a:r>
            <a:endParaRPr/>
          </a:p>
        </p:txBody>
      </p:sp>
      <p:pic>
        <p:nvPicPr>
          <p:cNvPr id="332" name="Google Shape;332;p27"/>
          <p:cNvPicPr preferRelativeResize="0"/>
          <p:nvPr/>
        </p:nvPicPr>
        <p:blipFill rotWithShape="1">
          <a:blip r:embed="rId3">
            <a:alphaModFix/>
          </a:blip>
          <a:srcRect b="0" l="0" r="0" t="0"/>
          <a:stretch/>
        </p:blipFill>
        <p:spPr>
          <a:xfrm>
            <a:off x="5334000" y="5029200"/>
            <a:ext cx="2971800" cy="857250"/>
          </a:xfrm>
          <a:prstGeom prst="rect">
            <a:avLst/>
          </a:prstGeom>
          <a:noFill/>
          <a:ln>
            <a:noFill/>
          </a:ln>
        </p:spPr>
      </p:pic>
      <p:sp>
        <p:nvSpPr>
          <p:cNvPr id="333" name="Google Shape;333;p27"/>
          <p:cNvSpPr txBox="1"/>
          <p:nvPr/>
        </p:nvSpPr>
        <p:spPr>
          <a:xfrm>
            <a:off x="762000" y="5334000"/>
            <a:ext cx="35052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How it looks in a browser: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8"/>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39" name="Google Shape;339;p2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40" name="Google Shape;340;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The Form's Action Attribute and the Submit Button </a:t>
            </a:r>
            <a:endParaRPr/>
          </a:p>
        </p:txBody>
      </p:sp>
      <p:sp>
        <p:nvSpPr>
          <p:cNvPr id="341" name="Google Shape;341;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560"/>
              <a:buFont typeface="Arial"/>
              <a:buChar char="•"/>
            </a:pPr>
            <a:r>
              <a:rPr b="0" i="0" lang="en-US" sz="3200" u="none">
                <a:solidFill>
                  <a:schemeClr val="dk1"/>
                </a:solidFill>
                <a:latin typeface="Calibri"/>
                <a:ea typeface="Calibri"/>
                <a:cs typeface="Calibri"/>
                <a:sym typeface="Calibri"/>
              </a:rPr>
              <a:t>When the user clicks on the "Submit" button, the content of the form is sent to the server. The form's action attribute defines the name of the file to send the content to. The file defined in the action attribute usually does something with the received input.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9"/>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47" name="Google Shape;347;p2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48" name="Google Shape;348;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The Form's Action Attribute and the Submit Button…</a:t>
            </a:r>
            <a:endParaRPr/>
          </a:p>
        </p:txBody>
      </p:sp>
      <p:sp>
        <p:nvSpPr>
          <p:cNvPr id="349" name="Google Shape;349;p29"/>
          <p:cNvSpPr txBox="1"/>
          <p:nvPr>
            <p:ph idx="1" type="body"/>
          </p:nvPr>
        </p:nvSpPr>
        <p:spPr>
          <a:xfrm>
            <a:off x="381000" y="1600200"/>
            <a:ext cx="8534400" cy="49530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440"/>
              <a:buNone/>
            </a:pPr>
            <a:r>
              <a:rPr b="0" i="0" lang="en-US" sz="1800" u="none">
                <a:solidFill>
                  <a:schemeClr val="dk1"/>
                </a:solidFill>
                <a:latin typeface="Calibri"/>
                <a:ea typeface="Calibri"/>
                <a:cs typeface="Calibri"/>
                <a:sym typeface="Calibri"/>
              </a:rPr>
              <a:t>&lt;html&gt;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&lt;body&gt;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&lt;form name="input" action="/LoginServlet" method="post"&gt;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&lt;table&gt;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&lt;tr&gt;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&lt;td&gt;User name:&lt;/td&gt;&lt;td&gt;&lt;input type="text" name="user"/&gt;&lt;/td&gt;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&lt;/tr&gt;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&lt;tr&gt;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&lt;td&gt;Password:&lt;/td&gt;&lt;td&gt;&lt;input type="password" name="pass"/&gt;&lt;/td&gt;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&lt;/tr&gt;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&lt;tr&gt;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&lt;td&gt;&lt;/td&gt;&lt;td&gt;&lt;input type="submit" value="Login"/&gt;&lt;/td&gt;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&lt;/tr&gt;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&lt;/table&gt;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	&lt;/form&gt;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&lt;/body&gt;</a:t>
            </a:r>
            <a:endParaRPr/>
          </a:p>
          <a:p>
            <a:pPr indent="-342900" lvl="0" marL="342900" rtl="0" algn="l">
              <a:lnSpc>
                <a:spcPct val="80000"/>
              </a:lnSpc>
              <a:spcBef>
                <a:spcPts val="360"/>
              </a:spcBef>
              <a:spcAft>
                <a:spcPts val="0"/>
              </a:spcAft>
              <a:buSzPts val="1440"/>
              <a:buNone/>
            </a:pPr>
            <a:r>
              <a:rPr b="0" i="0" lang="en-US" sz="1800" u="none">
                <a:solidFill>
                  <a:schemeClr val="dk1"/>
                </a:solidFill>
                <a:latin typeface="Calibri"/>
                <a:ea typeface="Calibri"/>
                <a:cs typeface="Calibri"/>
                <a:sym typeface="Calibri"/>
              </a:rPr>
              <a:t>&lt;html&gt;</a:t>
            </a:r>
            <a:endParaRPr/>
          </a:p>
          <a:p>
            <a:pPr indent="-251459" lvl="0" marL="342900" rtl="0" algn="l">
              <a:spcBef>
                <a:spcPts val="360"/>
              </a:spcBef>
              <a:spcAft>
                <a:spcPts val="0"/>
              </a:spcAft>
              <a:buClr>
                <a:srgbClr val="538CD5"/>
              </a:buClr>
              <a:buSzPts val="1440"/>
              <a:buFont typeface="Noto Sans Symbols"/>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0"/>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55" name="Google Shape;355;p3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56" name="Google Shape;356;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The Form's Action Attribute and the Submit Button…</a:t>
            </a:r>
            <a:endParaRPr/>
          </a:p>
        </p:txBody>
      </p:sp>
      <p:pic>
        <p:nvPicPr>
          <p:cNvPr id="357" name="Google Shape;357;p30"/>
          <p:cNvPicPr preferRelativeResize="0"/>
          <p:nvPr/>
        </p:nvPicPr>
        <p:blipFill rotWithShape="1">
          <a:blip r:embed="rId3">
            <a:alphaModFix/>
          </a:blip>
          <a:srcRect b="0" l="0" r="0" t="0"/>
          <a:stretch/>
        </p:blipFill>
        <p:spPr>
          <a:xfrm>
            <a:off x="2362200" y="3048000"/>
            <a:ext cx="3810000" cy="1600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1"/>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63" name="Google Shape;363;p3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64" name="Google Shape;364;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Form Data</a:t>
            </a:r>
            <a:endParaRPr/>
          </a:p>
        </p:txBody>
      </p:sp>
      <p:sp>
        <p:nvSpPr>
          <p:cNvPr id="365" name="Google Shape;365;p31"/>
          <p:cNvSpPr txBox="1"/>
          <p:nvPr>
            <p:ph idx="1" type="body"/>
          </p:nvPr>
        </p:nvSpPr>
        <p:spPr>
          <a:xfrm>
            <a:off x="381000" y="1447800"/>
            <a:ext cx="8229600" cy="990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920"/>
              <a:buFont typeface="Arial"/>
              <a:buChar char="•"/>
            </a:pPr>
            <a:r>
              <a:rPr b="0" i="0" lang="en-US" sz="2400" u="none">
                <a:solidFill>
                  <a:schemeClr val="dk1"/>
                </a:solidFill>
                <a:latin typeface="Calibri"/>
                <a:ea typeface="Calibri"/>
                <a:cs typeface="Calibri"/>
                <a:sym typeface="Calibri"/>
              </a:rPr>
              <a:t>Call </a:t>
            </a:r>
            <a:r>
              <a:rPr b="0" i="1" lang="en-US" sz="2400" u="none">
                <a:solidFill>
                  <a:srgbClr val="0000FF"/>
                </a:solidFill>
                <a:latin typeface="Courier New"/>
                <a:ea typeface="Courier New"/>
                <a:cs typeface="Courier New"/>
                <a:sym typeface="Courier New"/>
              </a:rPr>
              <a:t>getParameter</a:t>
            </a:r>
            <a:r>
              <a:rPr b="0" i="0" lang="en-US" sz="2400" u="none">
                <a:solidFill>
                  <a:schemeClr val="dk1"/>
                </a:solidFill>
                <a:latin typeface="Calibri"/>
                <a:ea typeface="Calibri"/>
                <a:cs typeface="Calibri"/>
                <a:sym typeface="Calibri"/>
              </a:rPr>
              <a:t> method of the </a:t>
            </a:r>
            <a:r>
              <a:rPr b="0" i="1" lang="en-US" sz="2400" u="none">
                <a:solidFill>
                  <a:srgbClr val="0000FF"/>
                </a:solidFill>
                <a:latin typeface="Courier New"/>
                <a:ea typeface="Courier New"/>
                <a:cs typeface="Courier New"/>
                <a:sym typeface="Courier New"/>
              </a:rPr>
              <a:t>HttpServletRequest</a:t>
            </a:r>
            <a:r>
              <a:rPr b="0" i="0" lang="en-US" sz="2400" u="none">
                <a:solidFill>
                  <a:schemeClr val="dk1"/>
                </a:solidFill>
                <a:latin typeface="Calibri"/>
                <a:ea typeface="Calibri"/>
                <a:cs typeface="Calibri"/>
                <a:sym typeface="Calibri"/>
              </a:rPr>
              <a:t>, supplying the parameter name as an argument</a:t>
            </a:r>
            <a:endParaRPr/>
          </a:p>
        </p:txBody>
      </p:sp>
      <p:sp>
        <p:nvSpPr>
          <p:cNvPr id="366" name="Google Shape;366;p31"/>
          <p:cNvSpPr txBox="1"/>
          <p:nvPr/>
        </p:nvSpPr>
        <p:spPr>
          <a:xfrm>
            <a:off x="304800" y="2590800"/>
            <a:ext cx="8321675" cy="3605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public void doPost(HttpServletRequest request, HttpServletResponse response)</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throws ServletException, IOException</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//get form data	</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800" u="none">
                <a:solidFill>
                  <a:schemeClr val="hlink"/>
                </a:solidFill>
                <a:latin typeface="Arial"/>
                <a:ea typeface="Arial"/>
                <a:cs typeface="Arial"/>
                <a:sym typeface="Arial"/>
              </a:rPr>
              <a:t>String u =request.getParameter("user");</a:t>
            </a:r>
            <a:endParaRPr/>
          </a:p>
          <a:p>
            <a:pPr indent="0" lvl="0" marL="0" marR="0" rtl="0" algn="l">
              <a:lnSpc>
                <a:spcPct val="100000"/>
              </a:lnSpc>
              <a:spcBef>
                <a:spcPts val="0"/>
              </a:spcBef>
              <a:spcAft>
                <a:spcPts val="0"/>
              </a:spcAft>
              <a:buClr>
                <a:schemeClr val="hlink"/>
              </a:buClr>
              <a:buSzPts val="1800"/>
              <a:buFont typeface="Arial"/>
              <a:buNone/>
            </a:pPr>
            <a:r>
              <a:rPr b="1" i="0" lang="en-US" sz="1800" u="none">
                <a:solidFill>
                  <a:schemeClr val="hlink"/>
                </a:solidFill>
                <a:latin typeface="Arial"/>
                <a:ea typeface="Arial"/>
                <a:cs typeface="Arial"/>
                <a:sym typeface="Arial"/>
              </a:rPr>
              <a:t>  	  String p=request.getParameter("pass");</a:t>
            </a:r>
            <a:endParaRPr/>
          </a:p>
          <a:p>
            <a:pPr indent="0" lvl="0" marL="0" marR="0" rtl="0" algn="l">
              <a:lnSpc>
                <a:spcPct val="100000"/>
              </a:lnSpc>
              <a:spcBef>
                <a:spcPts val="0"/>
              </a:spcBef>
              <a:spcAft>
                <a:spcPts val="0"/>
              </a:spcAft>
              <a:buClr>
                <a:schemeClr val="dk1"/>
              </a:buClr>
              <a:buSzPts val="1800"/>
              <a:buFont typeface="Arial"/>
              <a:buNone/>
            </a:pPr>
            <a:r>
              <a:t/>
            </a:r>
            <a:endParaRPr b="1" i="0" sz="1800" u="none">
              <a:solidFill>
                <a:schemeClr val="hlink"/>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response.setContentType("text/html");</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PrintWriter out = response.getWriter();</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out.println("&lt;html&gt;&lt;body&gt;");</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out.println("&lt;h1&gt;You sent me:&lt;/h1&gt;");</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out.println(u+"&lt;br&gt;"+p);</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out.println("&lt;/body&gt;&lt;/html&gt;");</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2"/>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72" name="Google Shape;372;p3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73" name="Google Shape;373;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Web application</a:t>
            </a:r>
            <a:endParaRPr/>
          </a:p>
        </p:txBody>
      </p:sp>
      <p:sp>
        <p:nvSpPr>
          <p:cNvPr id="374" name="Google Shape;374;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2240"/>
              <a:buFont typeface="Arial"/>
              <a:buChar char="•"/>
            </a:pPr>
            <a:r>
              <a:rPr b="0" i="0" lang="en-US" sz="2800" u="none">
                <a:solidFill>
                  <a:schemeClr val="dk1"/>
                </a:solidFill>
                <a:latin typeface="Calibri"/>
                <a:ea typeface="Calibri"/>
                <a:cs typeface="Calibri"/>
                <a:sym typeface="Calibri"/>
              </a:rPr>
              <a:t>A </a:t>
            </a:r>
            <a:r>
              <a:rPr b="1" i="0" lang="en-US" sz="2800" u="none">
                <a:solidFill>
                  <a:schemeClr val="dk1"/>
                </a:solidFill>
                <a:latin typeface="Calibri"/>
                <a:ea typeface="Calibri"/>
                <a:cs typeface="Calibri"/>
                <a:sym typeface="Calibri"/>
              </a:rPr>
              <a:t>web application</a:t>
            </a:r>
            <a:r>
              <a:rPr b="0" i="0" lang="en-US" sz="2800" u="none">
                <a:solidFill>
                  <a:schemeClr val="dk1"/>
                </a:solidFill>
                <a:latin typeface="Calibri"/>
                <a:ea typeface="Calibri"/>
                <a:cs typeface="Calibri"/>
                <a:sym typeface="Calibri"/>
              </a:rPr>
              <a:t> or </a:t>
            </a:r>
            <a:r>
              <a:rPr b="1" i="0" lang="en-US" sz="2800" u="none">
                <a:solidFill>
                  <a:schemeClr val="dk1"/>
                </a:solidFill>
                <a:latin typeface="Calibri"/>
                <a:ea typeface="Calibri"/>
                <a:cs typeface="Calibri"/>
                <a:sym typeface="Calibri"/>
              </a:rPr>
              <a:t>webapp</a:t>
            </a:r>
            <a:r>
              <a:rPr b="0" i="0" lang="en-US" sz="2800" u="none">
                <a:solidFill>
                  <a:schemeClr val="dk1"/>
                </a:solidFill>
                <a:latin typeface="Calibri"/>
                <a:ea typeface="Calibri"/>
                <a:cs typeface="Calibri"/>
                <a:sym typeface="Calibri"/>
              </a:rPr>
              <a:t> is an application that is accessed via web browser over a network such as the Internet or an intranet. It is also a computer software application that is coded in a browser-supported language (such as </a:t>
            </a:r>
            <a:r>
              <a:rPr b="0" i="0" lang="en-US" sz="2800" u="sng">
                <a:solidFill>
                  <a:schemeClr val="dk1"/>
                </a:solidFill>
                <a:hlinkClick r:id="rId3">
                  <a:extLst>
                    <a:ext uri="{A12FA001-AC4F-418D-AE19-62706E023703}">
                      <ahyp:hlinkClr val="tx"/>
                    </a:ext>
                  </a:extLst>
                </a:hlinkClick>
              </a:rPr>
              <a:t>HTML</a:t>
            </a:r>
            <a:r>
              <a:rPr b="0" i="0" lang="en-US" sz="2800" u="none">
                <a:solidFill>
                  <a:schemeClr val="dk1"/>
                </a:solidFill>
                <a:latin typeface="Calibri"/>
                <a:ea typeface="Calibri"/>
                <a:cs typeface="Calibri"/>
                <a:sym typeface="Calibri"/>
              </a:rPr>
              <a:t>, JavaScript, Java, etc.) and reliant on a common web browser to render the application executable.</a:t>
            </a:r>
            <a:endParaRPr/>
          </a:p>
          <a:p>
            <a:pPr indent="-342900" lvl="0" marL="342900" rtl="0" algn="l">
              <a:lnSpc>
                <a:spcPct val="8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Web applications are popular due to the ubiquity of web browsers, and the convenience of using a web browser as a client, sometimes called a thin client.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3"/>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80" name="Google Shape;380;p3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81" name="Google Shape;381;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and Directory Structure</a:t>
            </a:r>
            <a:endParaRPr/>
          </a:p>
        </p:txBody>
      </p:sp>
      <p:sp>
        <p:nvSpPr>
          <p:cNvPr id="382" name="Google Shape;382;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2240"/>
              <a:buFont typeface="Arial"/>
              <a:buChar char="•"/>
            </a:pPr>
            <a:r>
              <a:rPr b="0" i="0" lang="en-US" sz="2800" u="none">
                <a:solidFill>
                  <a:schemeClr val="dk1"/>
                </a:solidFill>
                <a:latin typeface="Calibri"/>
                <a:ea typeface="Calibri"/>
                <a:cs typeface="Calibri"/>
                <a:sym typeface="Calibri"/>
              </a:rPr>
              <a:t>A Place for Everything and Everything in Its Place.</a:t>
            </a:r>
            <a:endParaRPr/>
          </a:p>
          <a:p>
            <a:pPr indent="-342900" lvl="0" marL="342900" rtl="0" algn="l">
              <a:lnSpc>
                <a:spcPct val="80000"/>
              </a:lnSpc>
              <a:spcBef>
                <a:spcPts val="560"/>
              </a:spcBef>
              <a:spcAft>
                <a:spcPts val="0"/>
              </a:spcAft>
              <a:buSzPts val="2240"/>
              <a:buFont typeface="Arial"/>
              <a:buChar char="•"/>
            </a:pPr>
            <a:r>
              <a:rPr b="0" i="1" lang="en-US" sz="2800" u="none">
                <a:solidFill>
                  <a:schemeClr val="dk1"/>
                </a:solidFill>
                <a:latin typeface="Calibri"/>
                <a:ea typeface="Calibri"/>
                <a:cs typeface="Calibri"/>
                <a:sym typeface="Calibri"/>
              </a:rPr>
              <a:t>Construct the file and directory structure of a Web Application that may contain:</a:t>
            </a:r>
            <a:endParaRPr/>
          </a:p>
          <a:p>
            <a:pPr indent="-285750" lvl="1" marL="742950" rtl="0" algn="l">
              <a:lnSpc>
                <a:spcPct val="8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static content, </a:t>
            </a:r>
            <a:endParaRPr/>
          </a:p>
          <a:p>
            <a:pPr indent="-285750" lvl="1" marL="742950" rtl="0" algn="l">
              <a:lnSpc>
                <a:spcPct val="8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JSP pages, </a:t>
            </a:r>
            <a:endParaRPr/>
          </a:p>
          <a:p>
            <a:pPr indent="-285750" lvl="1" marL="742950" rtl="0" algn="l">
              <a:lnSpc>
                <a:spcPct val="8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servlet classes, </a:t>
            </a:r>
            <a:endParaRPr/>
          </a:p>
          <a:p>
            <a:pPr indent="-285750" lvl="1" marL="742950" rtl="0" algn="l">
              <a:lnSpc>
                <a:spcPct val="8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the deployment descriptor, </a:t>
            </a:r>
            <a:endParaRPr/>
          </a:p>
          <a:p>
            <a:pPr indent="-285750" lvl="1" marL="742950" rtl="0" algn="l">
              <a:lnSpc>
                <a:spcPct val="8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tag libraries, </a:t>
            </a:r>
            <a:endParaRPr/>
          </a:p>
          <a:p>
            <a:pPr indent="-285750" lvl="1" marL="742950" rtl="0" algn="l">
              <a:lnSpc>
                <a:spcPct val="8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JAR files and Java class files; </a:t>
            </a:r>
            <a:endParaRPr/>
          </a:p>
          <a:p>
            <a:pPr indent="-285750" lvl="1" marL="742950" rtl="0" algn="l">
              <a:lnSpc>
                <a:spcPct val="8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and describe how to protect resource fi les from HTTP access.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4"/>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88" name="Google Shape;388;p3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89" name="Google Shape;389;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Special Directories Beneath the Context Root</a:t>
            </a:r>
            <a:endParaRPr/>
          </a:p>
        </p:txBody>
      </p:sp>
      <p:sp>
        <p:nvSpPr>
          <p:cNvPr id="390" name="Google Shape;390;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240"/>
              <a:buFont typeface="Arial"/>
              <a:buChar char="•"/>
            </a:pPr>
            <a:r>
              <a:rPr b="0" i="0" lang="en-US" sz="2800" u="none">
                <a:solidFill>
                  <a:srgbClr val="FF0000"/>
                </a:solidFill>
                <a:latin typeface="Calibri"/>
                <a:ea typeface="Calibri"/>
                <a:cs typeface="Calibri"/>
                <a:sym typeface="Calibri"/>
              </a:rPr>
              <a:t>/WEB-INF/classes</a:t>
            </a:r>
            <a:r>
              <a:rPr b="0" i="0" lang="en-US" sz="2800" u="none">
                <a:solidFill>
                  <a:schemeClr val="dk1"/>
                </a:solidFill>
                <a:latin typeface="Calibri"/>
                <a:ea typeface="Calibri"/>
                <a:cs typeface="Calibri"/>
                <a:sym typeface="Calibri"/>
              </a:rPr>
              <a:t>—for classes that exist as separate Java classes (</a:t>
            </a:r>
            <a:r>
              <a:rPr b="0" i="1" lang="en-US" sz="2800" u="none">
                <a:solidFill>
                  <a:schemeClr val="dk1"/>
                </a:solidFill>
                <a:latin typeface="Calibri"/>
                <a:ea typeface="Calibri"/>
                <a:cs typeface="Calibri"/>
                <a:sym typeface="Calibri"/>
              </a:rPr>
              <a:t>not </a:t>
            </a:r>
            <a:r>
              <a:rPr b="0" i="0" lang="en-US" sz="2800" u="none">
                <a:solidFill>
                  <a:schemeClr val="dk1"/>
                </a:solidFill>
                <a:latin typeface="Calibri"/>
                <a:ea typeface="Calibri"/>
                <a:cs typeface="Calibri"/>
                <a:sym typeface="Calibri"/>
              </a:rPr>
              <a:t>packaged within JAR files). These might be servlets or other support classes. </a:t>
            </a:r>
            <a:endParaRPr/>
          </a:p>
          <a:p>
            <a:pPr indent="-342900" lvl="0" marL="342900" rtl="0" algn="l">
              <a:lnSpc>
                <a:spcPct val="90000"/>
              </a:lnSpc>
              <a:spcBef>
                <a:spcPts val="560"/>
              </a:spcBef>
              <a:spcAft>
                <a:spcPts val="0"/>
              </a:spcAft>
              <a:buSzPts val="2240"/>
              <a:buFont typeface="Arial"/>
              <a:buChar char="•"/>
            </a:pPr>
            <a:r>
              <a:rPr b="0" i="0" lang="en-US" sz="2800" u="none">
                <a:solidFill>
                  <a:srgbClr val="FF0000"/>
                </a:solidFill>
                <a:latin typeface="Calibri"/>
                <a:ea typeface="Calibri"/>
                <a:cs typeface="Calibri"/>
                <a:sym typeface="Calibri"/>
              </a:rPr>
              <a:t>/WEB-INF/ lib</a:t>
            </a:r>
            <a:r>
              <a:rPr b="0" i="0" lang="en-US" sz="2800" u="none">
                <a:solidFill>
                  <a:schemeClr val="dk1"/>
                </a:solidFill>
                <a:latin typeface="Calibri"/>
                <a:ea typeface="Calibri"/>
                <a:cs typeface="Calibri"/>
                <a:sym typeface="Calibri"/>
              </a:rPr>
              <a:t>—for JAR fi les. These can contain anything at all—the main servlets for your application, supporting classes that connect to databases—whatever.</a:t>
            </a:r>
            <a:endParaRPr/>
          </a:p>
          <a:p>
            <a:pPr indent="-342900" lvl="0" marL="342900" rtl="0" algn="l">
              <a:lnSpc>
                <a:spcPct val="90000"/>
              </a:lnSpc>
              <a:spcBef>
                <a:spcPts val="560"/>
              </a:spcBef>
              <a:spcAft>
                <a:spcPts val="0"/>
              </a:spcAft>
              <a:buSzPts val="2240"/>
              <a:buFont typeface="Arial"/>
              <a:buChar char="•"/>
            </a:pPr>
            <a:r>
              <a:rPr b="0" i="0" lang="en-US" sz="2800" u="none">
                <a:solidFill>
                  <a:srgbClr val="FF0000"/>
                </a:solidFill>
                <a:latin typeface="Calibri"/>
                <a:ea typeface="Calibri"/>
                <a:cs typeface="Calibri"/>
                <a:sym typeface="Calibri"/>
              </a:rPr>
              <a:t>/ WEB-INF </a:t>
            </a:r>
            <a:r>
              <a:rPr b="0" i="0" lang="en-US" sz="2800" u="none">
                <a:solidFill>
                  <a:schemeClr val="dk1"/>
                </a:solidFill>
                <a:latin typeface="Calibri"/>
                <a:ea typeface="Calibri"/>
                <a:cs typeface="Calibri"/>
                <a:sym typeface="Calibri"/>
              </a:rPr>
              <a:t>itself is the home for an absolutely crucial file called </a:t>
            </a:r>
            <a:r>
              <a:rPr b="0" i="0" lang="en-US" sz="2800" u="none">
                <a:solidFill>
                  <a:srgbClr val="FF0000"/>
                </a:solidFill>
                <a:latin typeface="Calibri"/>
                <a:ea typeface="Calibri"/>
                <a:cs typeface="Calibri"/>
                <a:sym typeface="Calibri"/>
              </a:rPr>
              <a:t>web.xml</a:t>
            </a:r>
            <a:r>
              <a:rPr b="0" i="0" lang="en-US" sz="2800" u="none">
                <a:solidFill>
                  <a:schemeClr val="dk1"/>
                </a:solidFill>
                <a:latin typeface="Calibri"/>
                <a:ea typeface="Calibri"/>
                <a:cs typeface="Calibri"/>
                <a:sym typeface="Calibri"/>
              </a:rPr>
              <a:t>, the deployment descriptor file.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5"/>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396" name="Google Shape;396;p3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397" name="Google Shape;397;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Deployment Descriptor Elements</a:t>
            </a:r>
            <a:endParaRPr/>
          </a:p>
        </p:txBody>
      </p:sp>
      <p:sp>
        <p:nvSpPr>
          <p:cNvPr id="398" name="Google Shape;398;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560"/>
              <a:buFont typeface="Arial"/>
              <a:buChar char="•"/>
            </a:pPr>
            <a:r>
              <a:rPr b="0" i="0" lang="en-US" sz="3200" u="none">
                <a:solidFill>
                  <a:schemeClr val="dk1"/>
                </a:solidFill>
                <a:latin typeface="Calibri"/>
                <a:ea typeface="Calibri"/>
                <a:cs typeface="Calibri"/>
                <a:sym typeface="Calibri"/>
              </a:rPr>
              <a:t>The first thing to note about the deployment descriptor file is that it’s an XML file. Given that the name is web.xml.</a:t>
            </a:r>
            <a:endParaRPr/>
          </a:p>
          <a:p>
            <a:pPr indent="-180340" lvl="0" marL="342900" rtl="0" algn="l">
              <a:lnSpc>
                <a:spcPct val="100000"/>
              </a:lnSpc>
              <a:spcBef>
                <a:spcPts val="64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180340" lvl="0" marL="342900" rtl="0" algn="l">
              <a:lnSpc>
                <a:spcPct val="100000"/>
              </a:lnSpc>
              <a:spcBef>
                <a:spcPts val="640"/>
              </a:spcBef>
              <a:spcAft>
                <a:spcPts val="0"/>
              </a:spcAft>
              <a:buSzPts val="2560"/>
              <a:buFont typeface="Arial"/>
              <a:buNone/>
            </a:pPr>
            <a:r>
              <a:t/>
            </a:r>
            <a:endParaRPr b="1" i="0" sz="3200" u="none">
              <a:solidFill>
                <a:schemeClr val="dk1"/>
              </a:solidFill>
              <a:latin typeface="Calibri"/>
              <a:ea typeface="Calibri"/>
              <a:cs typeface="Calibri"/>
              <a:sym typeface="Calibri"/>
            </a:endParaRPr>
          </a:p>
          <a:p>
            <a:pPr indent="-180340" lvl="0" marL="342900" rtl="0" algn="l">
              <a:lnSpc>
                <a:spcPct val="100000"/>
              </a:lnSpc>
              <a:spcBef>
                <a:spcPts val="64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180340" lvl="0" marL="342900" rtl="0" algn="l">
              <a:spcBef>
                <a:spcPts val="640"/>
              </a:spcBef>
              <a:spcAft>
                <a:spcPts val="0"/>
              </a:spcAft>
              <a:buClr>
                <a:srgbClr val="538CD5"/>
              </a:buClr>
              <a:buSzPts val="2560"/>
              <a:buFont typeface="Noto Sans Symbols"/>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6"/>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05" name="Google Shape;405;p3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406" name="Google Shape;406;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Overall Structure of the Deployment Descriptor.</a:t>
            </a:r>
            <a:endParaRPr/>
          </a:p>
        </p:txBody>
      </p:sp>
      <p:pic>
        <p:nvPicPr>
          <p:cNvPr id="407" name="Google Shape;407;p36"/>
          <p:cNvPicPr preferRelativeResize="0"/>
          <p:nvPr/>
        </p:nvPicPr>
        <p:blipFill rotWithShape="1">
          <a:blip r:embed="rId3">
            <a:alphaModFix/>
          </a:blip>
          <a:srcRect b="0" l="0" r="0" t="0"/>
          <a:stretch/>
        </p:blipFill>
        <p:spPr>
          <a:xfrm>
            <a:off x="838200" y="1393825"/>
            <a:ext cx="5105400" cy="4930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Arial"/>
              <a:buNone/>
            </a:pPr>
            <a:r>
              <a:rPr b="1" i="0" lang="en-US" sz="4400" u="none">
                <a:solidFill>
                  <a:schemeClr val="dk1"/>
                </a:solidFill>
                <a:latin typeface="Arial"/>
                <a:ea typeface="Arial"/>
                <a:cs typeface="Arial"/>
                <a:sym typeface="Arial"/>
              </a:rPr>
              <a:t>&lt;servlet&gt; and Its Important Subelements</a:t>
            </a:r>
            <a:endParaRPr/>
          </a:p>
        </p:txBody>
      </p:sp>
      <p:sp>
        <p:nvSpPr>
          <p:cNvPr id="413" name="Google Shape;413;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414" name="Google Shape;414;p37"/>
          <p:cNvSpPr txBox="1"/>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t>
            </a:r>
            <a:endParaRPr/>
          </a:p>
        </p:txBody>
      </p:sp>
      <p:sp>
        <p:nvSpPr>
          <p:cNvPr id="415" name="Google Shape;415;p37"/>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16" name="Google Shape;416;p3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pic>
        <p:nvPicPr>
          <p:cNvPr id="417" name="Google Shape;417;p37"/>
          <p:cNvPicPr preferRelativeResize="0"/>
          <p:nvPr/>
        </p:nvPicPr>
        <p:blipFill rotWithShape="1">
          <a:blip r:embed="rId3">
            <a:alphaModFix/>
          </a:blip>
          <a:srcRect b="0" l="0" r="0" t="0"/>
          <a:stretch/>
        </p:blipFill>
        <p:spPr>
          <a:xfrm>
            <a:off x="457200" y="1447800"/>
            <a:ext cx="8256587" cy="4800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8"/>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23" name="Google Shape;423;p3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424" name="Google Shape;424;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Deployment Descriptor</a:t>
            </a:r>
            <a:br>
              <a:rPr b="1" i="0" lang="en-US" sz="4000" u="none">
                <a:solidFill>
                  <a:schemeClr val="dk1"/>
                </a:solidFill>
                <a:latin typeface="Calibri"/>
                <a:ea typeface="Calibri"/>
                <a:cs typeface="Calibri"/>
                <a:sym typeface="Calibri"/>
              </a:rPr>
            </a:br>
            <a:r>
              <a:rPr b="1" i="0" lang="en-US" sz="4000" u="none">
                <a:solidFill>
                  <a:schemeClr val="dk1"/>
                </a:solidFill>
                <a:latin typeface="Calibri"/>
                <a:ea typeface="Calibri"/>
                <a:cs typeface="Calibri"/>
                <a:sym typeface="Calibri"/>
              </a:rPr>
              <a:t>simple web.xml</a:t>
            </a:r>
            <a:endParaRPr/>
          </a:p>
        </p:txBody>
      </p:sp>
      <p:sp>
        <p:nvSpPr>
          <p:cNvPr id="425" name="Google Shape;425;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120"/>
              <a:buNone/>
            </a:pPr>
            <a:r>
              <a:rPr b="0" i="0" lang="en-US" sz="1400" u="none">
                <a:solidFill>
                  <a:schemeClr val="dk1"/>
                </a:solidFill>
                <a:latin typeface="Calibri"/>
                <a:ea typeface="Calibri"/>
                <a:cs typeface="Calibri"/>
                <a:sym typeface="Calibri"/>
              </a:rPr>
              <a:t>&lt;?xml version="1.0" encoding="ISO-8859-1"?&gt;</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&lt;web-app xmlns="http://java.sun.com/xml/ns/j2ee"</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xmlns:xsi="http://www.w3.org/2001/XMLSchema-instance"</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xsi:schemaLocation=http://java.sun.com/xml/ns/j2ee http://java.sun.com/xml/ns/j2ee/web-app_2_4.xsd   version="2.4"&gt;</a:t>
            </a:r>
            <a:endParaRPr/>
          </a:p>
          <a:p>
            <a:pPr indent="-342900" lvl="0" marL="342900" rtl="0" algn="l">
              <a:lnSpc>
                <a:spcPct val="80000"/>
              </a:lnSpc>
              <a:spcBef>
                <a:spcPts val="280"/>
              </a:spcBef>
              <a:spcAft>
                <a:spcPts val="0"/>
              </a:spcAft>
              <a:buSzPts val="1120"/>
              <a:buNone/>
            </a:pPr>
            <a:r>
              <a:t/>
            </a:r>
            <a:endParaRPr b="0" i="0" sz="1400" u="none">
              <a:solidFill>
                <a:schemeClr val="dk1"/>
              </a:solidFill>
              <a:latin typeface="Calibri"/>
              <a:ea typeface="Calibri"/>
              <a:cs typeface="Calibri"/>
              <a:sym typeface="Calibri"/>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&lt;display-name&gt;Servlet 2.4 Examples&lt;/display-name&gt;</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&lt;description&gt;</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Servlet 2.4 Examples.</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&lt;/description&gt;    </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 Define servlets that are included in the example application --&gt;    </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a:t>
            </a:r>
            <a:r>
              <a:rPr b="1" i="0" lang="en-US" sz="1400" u="none">
                <a:solidFill>
                  <a:schemeClr val="dk1"/>
                </a:solidFill>
                <a:latin typeface="Calibri"/>
                <a:ea typeface="Calibri"/>
                <a:cs typeface="Calibri"/>
                <a:sym typeface="Calibri"/>
              </a:rPr>
              <a:t>&lt;servlet&gt;</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&lt;servlet-name&gt;FirstServlet&lt;/servlet-name&gt;</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&lt;servlet-class&gt;FirstServlet&lt;/servlet-class&gt;</a:t>
            </a:r>
            <a:endParaRPr/>
          </a:p>
          <a:p>
            <a:pPr indent="-342900" lvl="0" marL="342900" rtl="0" algn="l">
              <a:lnSpc>
                <a:spcPct val="80000"/>
              </a:lnSpc>
              <a:spcBef>
                <a:spcPts val="280"/>
              </a:spcBef>
              <a:spcAft>
                <a:spcPts val="0"/>
              </a:spcAft>
              <a:buSzPts val="1120"/>
              <a:buNone/>
            </a:pPr>
            <a:r>
              <a:rPr b="1" i="0" lang="en-US" sz="1400" u="none">
                <a:solidFill>
                  <a:schemeClr val="dk1"/>
                </a:solidFill>
                <a:latin typeface="Calibri"/>
                <a:ea typeface="Calibri"/>
                <a:cs typeface="Calibri"/>
                <a:sym typeface="Calibri"/>
              </a:rPr>
              <a:t>    &lt;/servlet&gt; </a:t>
            </a:r>
            <a:r>
              <a:rPr b="0" i="0" lang="en-US" sz="1400" u="none">
                <a:solidFill>
                  <a:schemeClr val="dk1"/>
                </a:solidFill>
                <a:latin typeface="Calibri"/>
                <a:ea typeface="Calibri"/>
                <a:cs typeface="Calibri"/>
                <a:sym typeface="Calibri"/>
              </a:rPr>
              <a:t>  </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a:t>
            </a:r>
            <a:endParaRPr/>
          </a:p>
          <a:p>
            <a:pPr indent="-342900" lvl="0" marL="342900" rtl="0" algn="l">
              <a:lnSpc>
                <a:spcPct val="80000"/>
              </a:lnSpc>
              <a:spcBef>
                <a:spcPts val="280"/>
              </a:spcBef>
              <a:spcAft>
                <a:spcPts val="0"/>
              </a:spcAft>
              <a:buSzPts val="1120"/>
              <a:buNone/>
            </a:pPr>
            <a:r>
              <a:rPr b="1" i="0" lang="en-US" sz="1400" u="none">
                <a:solidFill>
                  <a:schemeClr val="dk1"/>
                </a:solidFill>
                <a:latin typeface="Calibri"/>
                <a:ea typeface="Calibri"/>
                <a:cs typeface="Calibri"/>
                <a:sym typeface="Calibri"/>
              </a:rPr>
              <a:t>    &lt;servlet-mapping&gt;</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&lt;servlet-name&gt;FirstServlet&lt;/servlet-name&gt;</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        &lt;url-pattern&gt;/FirstServlet&lt;/url-pattern&gt;</a:t>
            </a:r>
            <a:endParaRPr/>
          </a:p>
          <a:p>
            <a:pPr indent="-342900" lvl="0" marL="342900" rtl="0" algn="l">
              <a:lnSpc>
                <a:spcPct val="80000"/>
              </a:lnSpc>
              <a:spcBef>
                <a:spcPts val="280"/>
              </a:spcBef>
              <a:spcAft>
                <a:spcPts val="0"/>
              </a:spcAft>
              <a:buSzPts val="1120"/>
              <a:buNone/>
            </a:pPr>
            <a:r>
              <a:rPr b="1" i="0" lang="en-US" sz="1400" u="none">
                <a:solidFill>
                  <a:schemeClr val="dk1"/>
                </a:solidFill>
                <a:latin typeface="Calibri"/>
                <a:ea typeface="Calibri"/>
                <a:cs typeface="Calibri"/>
                <a:sym typeface="Calibri"/>
              </a:rPr>
              <a:t>    &lt;/servlet-mapping&gt;  </a:t>
            </a:r>
            <a:r>
              <a:rPr b="0" i="0" lang="en-US" sz="1400" u="none">
                <a:solidFill>
                  <a:schemeClr val="dk1"/>
                </a:solidFill>
                <a:latin typeface="Calibri"/>
                <a:ea typeface="Calibri"/>
                <a:cs typeface="Calibri"/>
                <a:sym typeface="Calibri"/>
              </a:rPr>
              <a:t>  </a:t>
            </a:r>
            <a:endParaRPr/>
          </a:p>
          <a:p>
            <a:pPr indent="-342900" lvl="0" marL="342900" rtl="0" algn="l">
              <a:lnSpc>
                <a:spcPct val="80000"/>
              </a:lnSpc>
              <a:spcBef>
                <a:spcPts val="280"/>
              </a:spcBef>
              <a:spcAft>
                <a:spcPts val="0"/>
              </a:spcAft>
              <a:buSzPts val="1120"/>
              <a:buNone/>
            </a:pPr>
            <a:r>
              <a:rPr b="0" i="0" lang="en-US" sz="1400" u="none">
                <a:solidFill>
                  <a:schemeClr val="dk1"/>
                </a:solidFill>
                <a:latin typeface="Calibri"/>
                <a:ea typeface="Calibri"/>
                <a:cs typeface="Calibri"/>
                <a:sym typeface="Calibri"/>
              </a:rPr>
              <a:t>&lt;/web-app&gt;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9"/>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31" name="Google Shape;431;p3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432" name="Google Shape;432;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Welcome Files</a:t>
            </a:r>
            <a:endParaRPr/>
          </a:p>
        </p:txBody>
      </p:sp>
      <p:sp>
        <p:nvSpPr>
          <p:cNvPr id="433" name="Google Shape;433;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20"/>
              <a:buNone/>
            </a:pPr>
            <a:r>
              <a:rPr b="0" i="0" lang="en-US" sz="2400" u="none">
                <a:solidFill>
                  <a:schemeClr val="dk1"/>
                </a:solidFill>
                <a:latin typeface="Calibri"/>
                <a:ea typeface="Calibri"/>
                <a:cs typeface="Calibri"/>
                <a:sym typeface="Calibri"/>
              </a:rPr>
              <a:t>&lt;welcome-file-list&gt;</a:t>
            </a:r>
            <a:endParaRPr/>
          </a:p>
          <a:p>
            <a:pPr indent="-285750" lvl="1" marL="742950" rtl="0" algn="l">
              <a:lnSpc>
                <a:spcPct val="100000"/>
              </a:lnSpc>
              <a:spcBef>
                <a:spcPts val="400"/>
              </a:spcBef>
              <a:spcAft>
                <a:spcPts val="0"/>
              </a:spcAft>
              <a:buClr>
                <a:schemeClr val="dk1"/>
              </a:buClr>
              <a:buSzPts val="2000"/>
              <a:buNone/>
            </a:pPr>
            <a:r>
              <a:rPr b="0" i="0" lang="en-US" sz="2000" u="none">
                <a:solidFill>
                  <a:schemeClr val="dk1"/>
                </a:solidFill>
                <a:latin typeface="Calibri"/>
                <a:ea typeface="Calibri"/>
                <a:cs typeface="Calibri"/>
                <a:sym typeface="Calibri"/>
              </a:rPr>
              <a:t>&lt;welcome-file&gt;index.html&lt;/welcome-file&gt;</a:t>
            </a:r>
            <a:endParaRPr/>
          </a:p>
          <a:p>
            <a:pPr indent="-285750" lvl="1" marL="742950" rtl="0" algn="l">
              <a:lnSpc>
                <a:spcPct val="100000"/>
              </a:lnSpc>
              <a:spcBef>
                <a:spcPts val="400"/>
              </a:spcBef>
              <a:spcAft>
                <a:spcPts val="0"/>
              </a:spcAft>
              <a:buClr>
                <a:schemeClr val="dk1"/>
              </a:buClr>
              <a:buSzPts val="2000"/>
              <a:buNone/>
            </a:pPr>
            <a:r>
              <a:rPr b="0" i="0" lang="en-US" sz="2000" u="none">
                <a:solidFill>
                  <a:schemeClr val="dk1"/>
                </a:solidFill>
                <a:latin typeface="Calibri"/>
                <a:ea typeface="Calibri"/>
                <a:cs typeface="Calibri"/>
                <a:sym typeface="Calibri"/>
              </a:rPr>
              <a:t>&lt;welcome-file&gt;index.jsp&lt;/welcome-file&gt;</a:t>
            </a:r>
            <a:endParaRPr/>
          </a:p>
          <a:p>
            <a:pPr indent="-285750" lvl="1" marL="742950" rtl="0" algn="l">
              <a:lnSpc>
                <a:spcPct val="100000"/>
              </a:lnSpc>
              <a:spcBef>
                <a:spcPts val="400"/>
              </a:spcBef>
              <a:spcAft>
                <a:spcPts val="0"/>
              </a:spcAft>
              <a:buClr>
                <a:schemeClr val="dk1"/>
              </a:buClr>
              <a:buSzPts val="2000"/>
              <a:buNone/>
            </a:pPr>
            <a:r>
              <a:rPr b="0" i="0" lang="en-US" sz="2000" u="none">
                <a:solidFill>
                  <a:schemeClr val="dk1"/>
                </a:solidFill>
                <a:latin typeface="Calibri"/>
                <a:ea typeface="Calibri"/>
                <a:cs typeface="Calibri"/>
                <a:sym typeface="Calibri"/>
              </a:rPr>
              <a:t>&lt;welcome-file&gt;mainlibrary/catalog.jsp&lt;/welcome-file&gt;</a:t>
            </a:r>
            <a:endParaRPr/>
          </a:p>
          <a:p>
            <a:pPr indent="-342900" lvl="0" marL="342900" rtl="0" algn="l">
              <a:lnSpc>
                <a:spcPct val="100000"/>
              </a:lnSpc>
              <a:spcBef>
                <a:spcPts val="480"/>
              </a:spcBef>
              <a:spcAft>
                <a:spcPts val="0"/>
              </a:spcAft>
              <a:buSzPts val="1920"/>
              <a:buNone/>
            </a:pPr>
            <a:r>
              <a:rPr b="0" i="0" lang="en-US" sz="2400" u="none">
                <a:solidFill>
                  <a:schemeClr val="dk1"/>
                </a:solidFill>
                <a:latin typeface="Calibri"/>
                <a:ea typeface="Calibri"/>
                <a:cs typeface="Calibri"/>
                <a:sym typeface="Calibri"/>
              </a:rPr>
              <a:t>&lt;/welcome-file-list&gt;</a:t>
            </a:r>
            <a:endParaRPr/>
          </a:p>
          <a:p>
            <a:pPr indent="-220980" lvl="0" marL="342900" rtl="0" algn="l">
              <a:spcBef>
                <a:spcPts val="480"/>
              </a:spcBef>
              <a:spcAft>
                <a:spcPts val="0"/>
              </a:spcAft>
              <a:buClr>
                <a:srgbClr val="538CD5"/>
              </a:buClr>
              <a:buSzPts val="1920"/>
              <a:buFont typeface="Noto Sans Symbols"/>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0"/>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39" name="Google Shape;439;p4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440" name="Google Shape;440;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Packaging Your Web Application</a:t>
            </a:r>
            <a:br>
              <a:rPr b="0" i="0" lang="en-US" sz="4000" u="none">
                <a:solidFill>
                  <a:schemeClr val="dk1"/>
                </a:solidFill>
                <a:latin typeface="Calibri"/>
                <a:ea typeface="Calibri"/>
                <a:cs typeface="Calibri"/>
                <a:sym typeface="Calibri"/>
              </a:rPr>
            </a:br>
            <a:endParaRPr/>
          </a:p>
        </p:txBody>
      </p:sp>
      <p:sp>
        <p:nvSpPr>
          <p:cNvPr id="441" name="Google Shape;441;p4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560"/>
              <a:buFont typeface="Arial"/>
              <a:buChar char="•"/>
            </a:pPr>
            <a:r>
              <a:rPr b="1" i="0" lang="en-US" sz="3200" u="none">
                <a:solidFill>
                  <a:schemeClr val="dk1"/>
                </a:solidFill>
                <a:latin typeface="Calibri"/>
                <a:ea typeface="Calibri"/>
                <a:cs typeface="Calibri"/>
                <a:sym typeface="Calibri"/>
              </a:rPr>
              <a:t>A WAR Is Not a JAR</a:t>
            </a:r>
            <a:endParaRPr b="0" i="0" sz="3200" u="none">
              <a:solidFill>
                <a:schemeClr val="dk1"/>
              </a:solidFill>
              <a:latin typeface="Calibri"/>
              <a:ea typeface="Calibri"/>
              <a:cs typeface="Calibri"/>
              <a:sym typeface="Calibri"/>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Although a WAR fi le can be produced in the same way as a JAR fi le, and has the same underlying fi le format, it is different. The most obvious difference is the file extension naming convention: .jar for Java ARchive, and .war for Web (Application) ARchive.</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WARs are packaged for a different purpose: to make it as easy as possible for a web container to deploy an application.</a:t>
            </a:r>
            <a:endParaRPr/>
          </a:p>
          <a:p>
            <a:pPr indent="-200660" lvl="0" marL="342900" rtl="0" algn="l">
              <a:spcBef>
                <a:spcPts val="560"/>
              </a:spcBef>
              <a:spcAft>
                <a:spcPts val="0"/>
              </a:spcAft>
              <a:buClr>
                <a:srgbClr val="538CD5"/>
              </a:buClr>
              <a:buSzPts val="2240"/>
              <a:buFont typeface="Noto Sans Symbols"/>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1"/>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47" name="Google Shape;447;p4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448" name="Google Shape;448;p4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WAR file</a:t>
            </a:r>
            <a:endParaRPr/>
          </a:p>
        </p:txBody>
      </p:sp>
      <p:sp>
        <p:nvSpPr>
          <p:cNvPr id="449" name="Google Shape;449;p4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Font typeface="Arial"/>
              <a:buChar char="•"/>
            </a:pPr>
            <a:r>
              <a:rPr b="0" i="0" lang="en-US" sz="2800" u="none">
                <a:solidFill>
                  <a:schemeClr val="dk1"/>
                </a:solidFill>
                <a:latin typeface="Calibri"/>
                <a:ea typeface="Calibri"/>
                <a:cs typeface="Calibri"/>
                <a:sym typeface="Calibri"/>
              </a:rPr>
              <a:t>Several web containers have automatic deployment mechanisms. </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The server recommended for this course</a:t>
            </a:r>
            <a:r>
              <a:rPr lang="en-US" sz="2800">
                <a:latin typeface="Calibri"/>
                <a:ea typeface="Calibri"/>
                <a:cs typeface="Calibri"/>
                <a:sym typeface="Calibri"/>
              </a:rPr>
              <a:t>: </a:t>
            </a:r>
            <a:r>
              <a:rPr lang="en-US" sz="2000"/>
              <a:t>Tomcat 10 or higher</a:t>
            </a:r>
            <a:endParaRPr/>
          </a:p>
          <a:p>
            <a:pPr indent="-322580" lvl="0" marL="342900" rtl="0" algn="l">
              <a:spcBef>
                <a:spcPts val="400"/>
              </a:spcBef>
              <a:spcAft>
                <a:spcPts val="0"/>
              </a:spcAft>
              <a:buSzPts val="2240"/>
              <a:buFont typeface="Arial"/>
              <a:buChar char="•"/>
            </a:pPr>
            <a:r>
              <a:rPr lang="en-US" sz="2000"/>
              <a:t>Intergrate Netbeans 13 or higher.</a:t>
            </a:r>
            <a:endParaRPr/>
          </a:p>
          <a:p>
            <a:pPr indent="-342900" lvl="0" marL="342900" rtl="0" algn="l">
              <a:lnSpc>
                <a:spcPct val="100000"/>
              </a:lnSpc>
              <a:spcBef>
                <a:spcPts val="560"/>
              </a:spcBef>
              <a:spcAft>
                <a:spcPts val="0"/>
              </a:spcAft>
              <a:buSzPts val="2240"/>
              <a:buFont typeface="Arial"/>
              <a:buChar char="•"/>
            </a:pPr>
            <a:r>
              <a:rPr b="0" i="0" lang="en-US" sz="2800" u="none">
                <a:solidFill>
                  <a:schemeClr val="dk1"/>
                </a:solidFill>
                <a:latin typeface="Calibri"/>
                <a:ea typeface="Calibri"/>
                <a:cs typeface="Calibri"/>
                <a:sym typeface="Calibri"/>
              </a:rPr>
              <a:t>—has a “</a:t>
            </a:r>
            <a:r>
              <a:rPr b="1" i="0" lang="en-US" sz="2800" u="none">
                <a:solidFill>
                  <a:schemeClr val="dk1"/>
                </a:solidFill>
                <a:latin typeface="Calibri"/>
                <a:ea typeface="Calibri"/>
                <a:cs typeface="Calibri"/>
                <a:sym typeface="Calibri"/>
              </a:rPr>
              <a:t>webapps</a:t>
            </a:r>
            <a:r>
              <a:rPr b="0" i="0" lang="en-US" sz="2800" u="none">
                <a:solidFill>
                  <a:schemeClr val="dk1"/>
                </a:solidFill>
                <a:latin typeface="Calibri"/>
                <a:ea typeface="Calibri"/>
                <a:cs typeface="Calibri"/>
                <a:sym typeface="Calibri"/>
              </a:rPr>
              <a:t>” directory.</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Place a WAR file in this directory, and Tomcat (by default) will un-jar the contents into the file system under the </a:t>
            </a:r>
            <a:r>
              <a:rPr b="1" i="0" lang="en-US" sz="2400" u="none">
                <a:solidFill>
                  <a:schemeClr val="dk1"/>
                </a:solidFill>
                <a:latin typeface="Calibri"/>
                <a:ea typeface="Calibri"/>
                <a:cs typeface="Calibri"/>
                <a:sym typeface="Calibri"/>
              </a:rPr>
              <a:t>webapps</a:t>
            </a:r>
            <a:r>
              <a:rPr b="0" i="0" lang="en-US" sz="2400" u="none">
                <a:solidFill>
                  <a:schemeClr val="dk1"/>
                </a:solidFill>
                <a:latin typeface="Calibri"/>
                <a:ea typeface="Calibri"/>
                <a:cs typeface="Calibri"/>
                <a:sym typeface="Calibri"/>
              </a:rPr>
              <a:t> directory. </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 </a:t>
            </a:r>
            <a:r>
              <a:rPr b="1" i="0" lang="en-US" sz="2400" u="none">
                <a:solidFill>
                  <a:schemeClr val="dk1"/>
                </a:solidFill>
                <a:latin typeface="Calibri"/>
                <a:ea typeface="Calibri"/>
                <a:cs typeface="Calibri"/>
                <a:sym typeface="Calibri"/>
              </a:rPr>
              <a:t>context root </a:t>
            </a:r>
            <a:r>
              <a:rPr b="0" i="0" lang="en-US" sz="2400" u="none">
                <a:solidFill>
                  <a:schemeClr val="dk1"/>
                </a:solidFill>
                <a:latin typeface="Calibri"/>
                <a:ea typeface="Calibri"/>
                <a:cs typeface="Calibri"/>
                <a:sym typeface="Calibri"/>
              </a:rPr>
              <a:t>directory is the same </a:t>
            </a:r>
            <a:r>
              <a:rPr b="1" i="0" lang="en-US" sz="2400" u="none">
                <a:solidFill>
                  <a:schemeClr val="dk1"/>
                </a:solidFill>
                <a:latin typeface="Calibri"/>
                <a:ea typeface="Calibri"/>
                <a:cs typeface="Calibri"/>
                <a:sym typeface="Calibri"/>
              </a:rPr>
              <a:t>name as the WAR file </a:t>
            </a:r>
            <a:r>
              <a:rPr b="0" i="0" lang="en-US" sz="2400" u="none">
                <a:solidFill>
                  <a:schemeClr val="dk1"/>
                </a:solidFill>
                <a:latin typeface="Calibri"/>
                <a:ea typeface="Calibri"/>
                <a:cs typeface="Calibri"/>
                <a:sym typeface="Calibri"/>
              </a:rPr>
              <a:t>(but without the .war extension)— then makes the application available for use.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2"/>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55" name="Google Shape;455;p4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456" name="Google Shape;456;p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War file demo</a:t>
            </a:r>
            <a:endParaRPr/>
          </a:p>
        </p:txBody>
      </p:sp>
      <p:sp>
        <p:nvSpPr>
          <p:cNvPr id="457" name="Google Shape;457;p4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80340" lvl="0" marL="342900" rtl="0" algn="l">
              <a:lnSpc>
                <a:spcPct val="100000"/>
              </a:lnSpc>
              <a:spcBef>
                <a:spcPts val="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180340" lvl="0" marL="342900" rtl="0" algn="l">
              <a:lnSpc>
                <a:spcPct val="100000"/>
              </a:lnSpc>
              <a:spcBef>
                <a:spcPts val="64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180340" lvl="0" marL="342900" rtl="0" algn="l">
              <a:lnSpc>
                <a:spcPct val="100000"/>
              </a:lnSpc>
              <a:spcBef>
                <a:spcPts val="640"/>
              </a:spcBef>
              <a:spcAft>
                <a:spcPts val="0"/>
              </a:spcAft>
              <a:buSzPts val="2560"/>
              <a:buFont typeface="Arial"/>
              <a:buNone/>
            </a:pPr>
            <a:r>
              <a:t/>
            </a:r>
            <a:endParaRPr b="0" i="0" sz="3200" u="none">
              <a:solidFill>
                <a:schemeClr val="dk1"/>
              </a:solidFill>
              <a:latin typeface="Calibri"/>
              <a:ea typeface="Calibri"/>
              <a:cs typeface="Calibri"/>
              <a:sym typeface="Calibri"/>
            </a:endParaRPr>
          </a:p>
          <a:p>
            <a:pPr indent="-342900" lvl="0" marL="342900" rtl="0" algn="ctr">
              <a:lnSpc>
                <a:spcPct val="100000"/>
              </a:lnSpc>
              <a:spcBef>
                <a:spcPts val="640"/>
              </a:spcBef>
              <a:spcAft>
                <a:spcPts val="0"/>
              </a:spcAft>
              <a:buSzPts val="2560"/>
              <a:buNone/>
            </a:pPr>
            <a:r>
              <a:rPr b="0" i="0" lang="en-US" sz="3200" u="none">
                <a:solidFill>
                  <a:schemeClr val="dk1"/>
                </a:solidFill>
                <a:latin typeface="Calibri"/>
                <a:ea typeface="Calibri"/>
                <a:cs typeface="Calibri"/>
                <a:sym typeface="Calibri"/>
              </a:rPr>
              <a:t>Demo\WarFile\FirstServlet.war</a:t>
            </a:r>
            <a:endParaRPr/>
          </a:p>
          <a:p>
            <a:pPr indent="-180340" lvl="0" marL="342900" rtl="0" algn="l">
              <a:spcBef>
                <a:spcPts val="640"/>
              </a:spcBef>
              <a:spcAft>
                <a:spcPts val="0"/>
              </a:spcAft>
              <a:buClr>
                <a:srgbClr val="538CD5"/>
              </a:buClr>
              <a:buSzPts val="2560"/>
              <a:buFont typeface="Noto Sans Symbols"/>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3"/>
          <p:cNvSpPr txBox="1"/>
          <p:nvPr/>
        </p:nvSpPr>
        <p:spPr>
          <a:xfrm>
            <a:off x="29718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AdvJ Session1,2 –Servlet, Web application</a:t>
            </a:r>
            <a:endParaRPr/>
          </a:p>
        </p:txBody>
      </p:sp>
      <p:sp>
        <p:nvSpPr>
          <p:cNvPr id="463" name="Google Shape;463;p4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r>
              <a:rPr b="0" i="0" lang="en-US" sz="1200" u="none">
                <a:solidFill>
                  <a:srgbClr val="898989"/>
                </a:solidFill>
                <a:latin typeface="Arial"/>
                <a:ea typeface="Arial"/>
                <a:cs typeface="Arial"/>
                <a:sym typeface="Arial"/>
              </a:rPr>
              <a:t>/41</a:t>
            </a:r>
            <a:endParaRPr/>
          </a:p>
        </p:txBody>
      </p:sp>
      <p:sp>
        <p:nvSpPr>
          <p:cNvPr id="464" name="Google Shape;464;p43"/>
          <p:cNvSpPr txBox="1"/>
          <p:nvPr>
            <p:ph type="title"/>
          </p:nvPr>
        </p:nvSpPr>
        <p:spPr>
          <a:xfrm>
            <a:off x="457200" y="274637"/>
            <a:ext cx="8229600" cy="6397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Summary</a:t>
            </a:r>
            <a:endParaRPr/>
          </a:p>
        </p:txBody>
      </p:sp>
      <p:sp>
        <p:nvSpPr>
          <p:cNvPr id="465" name="Google Shape;465;p43"/>
          <p:cNvSpPr txBox="1"/>
          <p:nvPr>
            <p:ph idx="1" type="body"/>
          </p:nvPr>
        </p:nvSpPr>
        <p:spPr>
          <a:xfrm>
            <a:off x="457200" y="914400"/>
            <a:ext cx="8229600" cy="53340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440"/>
              <a:buNone/>
            </a:pPr>
            <a:r>
              <a:rPr b="1" i="0" lang="en-US" sz="1800" u="none">
                <a:solidFill>
                  <a:schemeClr val="dk1"/>
                </a:solidFill>
                <a:latin typeface="Calibri"/>
                <a:ea typeface="Calibri"/>
                <a:cs typeface="Calibri"/>
                <a:sym typeface="Calibri"/>
              </a:rPr>
              <a:t>HTML Introduction </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What is HTML? </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HTML Tags </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HTML Documents = Web Pages</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Web browser </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Example</a:t>
            </a:r>
            <a:endParaRPr/>
          </a:p>
          <a:p>
            <a:pPr indent="-342900" lvl="0" marL="342900" rtl="0" algn="l">
              <a:lnSpc>
                <a:spcPct val="80000"/>
              </a:lnSpc>
              <a:spcBef>
                <a:spcPts val="360"/>
              </a:spcBef>
              <a:spcAft>
                <a:spcPts val="0"/>
              </a:spcAft>
              <a:buSzPts val="1440"/>
              <a:buNone/>
            </a:pPr>
            <a:r>
              <a:rPr b="1" i="0" lang="en-US" sz="1800" u="none">
                <a:solidFill>
                  <a:schemeClr val="dk1"/>
                </a:solidFill>
                <a:latin typeface="Arial"/>
                <a:ea typeface="Arial"/>
                <a:cs typeface="Arial"/>
                <a:sym typeface="Arial"/>
              </a:rPr>
              <a:t>Servlets</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 What a Servlet is and how you can use one. </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 How to define and write servlets.</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 Basic Servlet Structure.</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 Request / Response Headers. </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 Handling Form Data.</a:t>
            </a:r>
            <a:endParaRPr/>
          </a:p>
          <a:p>
            <a:pPr indent="-342900" lvl="0" marL="342900" marR="0" rtl="0" algn="l">
              <a:lnSpc>
                <a:spcPct val="80000"/>
              </a:lnSpc>
              <a:spcBef>
                <a:spcPts val="360"/>
              </a:spcBef>
              <a:spcAft>
                <a:spcPts val="0"/>
              </a:spcAft>
              <a:buSzPts val="1440"/>
              <a:buFont typeface="Arial"/>
              <a:buChar char="•"/>
            </a:pPr>
            <a:r>
              <a:rPr lang="en-US" sz="1800">
                <a:latin typeface="Calibri"/>
                <a:ea typeface="Calibri"/>
                <a:cs typeface="Calibri"/>
                <a:sym typeface="Calibri"/>
              </a:rPr>
              <a:t> </a:t>
            </a:r>
            <a:r>
              <a:rPr lang="en-US" sz="1800">
                <a:latin typeface="Calibri"/>
                <a:ea typeface="Calibri"/>
                <a:cs typeface="Calibri"/>
                <a:sym typeface="Calibri"/>
              </a:rPr>
              <a:t>Servlet container: Tomcat 10 or higher</a:t>
            </a:r>
            <a:endParaRPr sz="1800">
              <a:latin typeface="Calibri"/>
              <a:ea typeface="Calibri"/>
              <a:cs typeface="Calibri"/>
              <a:sym typeface="Calibri"/>
            </a:endParaRPr>
          </a:p>
          <a:p>
            <a:pPr indent="-342900" lvl="0" marL="342900" marR="0" rtl="0" algn="l">
              <a:lnSpc>
                <a:spcPct val="80000"/>
              </a:lnSpc>
              <a:spcBef>
                <a:spcPts val="360"/>
              </a:spcBef>
              <a:spcAft>
                <a:spcPts val="0"/>
              </a:spcAft>
              <a:buSzPts val="1440"/>
              <a:buFont typeface="Arial"/>
              <a:buChar char="•"/>
            </a:pPr>
            <a:r>
              <a:rPr lang="en-US" sz="1800">
                <a:latin typeface="Calibri"/>
                <a:ea typeface="Calibri"/>
                <a:cs typeface="Calibri"/>
                <a:sym typeface="Calibri"/>
              </a:rPr>
              <a:t>Intergrate Netbeans 13 or higher with the web container</a:t>
            </a:r>
            <a:r>
              <a:rPr lang="en-US" sz="2000"/>
              <a:t>.</a:t>
            </a:r>
            <a:endParaRPr sz="1800">
              <a:solidFill>
                <a:srgbClr val="2119C7"/>
              </a:solidFill>
            </a:endParaRPr>
          </a:p>
          <a:p>
            <a:pPr indent="-342900" lvl="0" marL="342900" rtl="0" algn="l">
              <a:lnSpc>
                <a:spcPct val="80000"/>
              </a:lnSpc>
              <a:spcBef>
                <a:spcPts val="360"/>
              </a:spcBef>
              <a:spcAft>
                <a:spcPts val="0"/>
              </a:spcAft>
              <a:buSzPts val="1440"/>
              <a:buNone/>
            </a:pPr>
            <a:r>
              <a:rPr b="1" i="0" lang="en-US" sz="1800" u="none">
                <a:solidFill>
                  <a:schemeClr val="dk1"/>
                </a:solidFill>
                <a:latin typeface="Calibri"/>
                <a:ea typeface="Calibri"/>
                <a:cs typeface="Calibri"/>
                <a:sym typeface="Calibri"/>
              </a:rPr>
              <a:t>Web application</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File and Directory Structure</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Deployment Descriptor Elements</a:t>
            </a:r>
            <a:endParaRPr/>
          </a:p>
          <a:p>
            <a:pPr indent="-342900" lvl="0" marL="342900" rtl="0" algn="l">
              <a:lnSpc>
                <a:spcPct val="8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WAR Files</a:t>
            </a:r>
            <a:endParaRPr/>
          </a:p>
          <a:p>
            <a:pPr indent="-251459" lvl="0" marL="342900" rtl="0" algn="l">
              <a:spcBef>
                <a:spcPts val="360"/>
              </a:spcBef>
              <a:spcAft>
                <a:spcPts val="0"/>
              </a:spcAft>
              <a:buClr>
                <a:srgbClr val="538CD5"/>
              </a:buClr>
              <a:buSzPts val="1440"/>
              <a:buFont typeface="Noto Sans Symbols"/>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2007-08-21T04:43:22Z</dcterms:created>
  <dc:creator>Phan Truong Lam</dc:creator>
</cp:coreProperties>
</file>

<file path=docProps/custom.xml><?xml version="1.0" encoding="utf-8"?>
<Properties xmlns="http://schemas.openxmlformats.org/officeDocument/2006/custom-properties" xmlns:vt="http://schemas.openxmlformats.org/officeDocument/2006/docPropsVTypes"/>
</file>